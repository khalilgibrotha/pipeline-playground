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89651d54344bd4" /><Relationship Type="http://schemas.openxmlformats.org/officeDocument/2006/relationships/extended-properties" Target="/docProps/app.xml" Id="Ra0113e7db3ce414c" /><Relationship Type="http://schemas.openxmlformats.org/officeDocument/2006/relationships/officeDocument" Target="/ppt/presentation.xml" Id="Reaf71e4972774a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95b5b06f534794"/>
  </p:sldMasterIdLst>
  <p:notesMasterIdLst>
    <p:notesMasterId xmlns:r="http://schemas.openxmlformats.org/officeDocument/2006/relationships" r:id="R8d5d1baeadc24af6"/>
  </p:notesMasterIdLst>
  <p:sldIdLst>
    <p:sldId xmlns:r="http://schemas.openxmlformats.org/officeDocument/2006/relationships" id="256" r:id="R778e7ef14d204319"/>
    <p:sldId xmlns:r="http://schemas.openxmlformats.org/officeDocument/2006/relationships" id="257" r:id="R461a6f874e954047"/>
    <p:sldId xmlns:r="http://schemas.openxmlformats.org/officeDocument/2006/relationships" id="258" r:id="Rd9889ebb040a4951"/>
    <p:sldId xmlns:r="http://schemas.openxmlformats.org/officeDocument/2006/relationships" id="259" r:id="Re99305a9997f4bf6"/>
    <p:sldId xmlns:r="http://schemas.openxmlformats.org/officeDocument/2006/relationships" id="260" r:id="R6c21d29acd8f44c0"/>
    <p:sldId xmlns:r="http://schemas.openxmlformats.org/officeDocument/2006/relationships" id="261" r:id="Rba28be33f76148fe"/>
    <p:sldId xmlns:r="http://schemas.openxmlformats.org/officeDocument/2006/relationships" id="262" r:id="R21a6404f70804edd"/>
    <p:sldId xmlns:r="http://schemas.openxmlformats.org/officeDocument/2006/relationships" id="263" r:id="R33f93fc61b514e6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9df27128f14134" /><Relationship Type="http://schemas.openxmlformats.org/officeDocument/2006/relationships/slideMaster" Target="/ppt/slideMasters/slideMaster1.xml" Id="R8195b5b06f534794" /><Relationship Type="http://schemas.openxmlformats.org/officeDocument/2006/relationships/notesMaster" Target="/ppt/notesMasters/notesMaster1.xml" Id="R8d5d1baeadc24af6" /><Relationship Type="http://schemas.openxmlformats.org/officeDocument/2006/relationships/presProps" Target="/ppt/presProps.xml" Id="Raa12508aa0b949d0" /><Relationship Type="http://schemas.openxmlformats.org/officeDocument/2006/relationships/tableStyles" Target="/ppt/tableStyles.xml" Id="R05bf02ed169940c0" /><Relationship Type="http://schemas.openxmlformats.org/officeDocument/2006/relationships/slide" Target="/ppt/slides/slide1.xml" Id="R778e7ef14d204319" /><Relationship Type="http://schemas.openxmlformats.org/officeDocument/2006/relationships/slide" Target="/ppt/slides/slide2.xml" Id="R461a6f874e954047" /><Relationship Type="http://schemas.openxmlformats.org/officeDocument/2006/relationships/slide" Target="/ppt/slides/slide3.xml" Id="Rd9889ebb040a4951" /><Relationship Type="http://schemas.openxmlformats.org/officeDocument/2006/relationships/slide" Target="/ppt/slides/slide4.xml" Id="Re99305a9997f4bf6" /><Relationship Type="http://schemas.openxmlformats.org/officeDocument/2006/relationships/slide" Target="/ppt/slides/slide5.xml" Id="R6c21d29acd8f44c0" /><Relationship Type="http://schemas.openxmlformats.org/officeDocument/2006/relationships/slide" Target="/ppt/slides/slide6.xml" Id="Rba28be33f76148fe" /><Relationship Type="http://schemas.openxmlformats.org/officeDocument/2006/relationships/slide" Target="/ppt/slides/slide7.xml" Id="R21a6404f70804edd" /><Relationship Type="http://schemas.openxmlformats.org/officeDocument/2006/relationships/slide" Target="/ppt/slides/slide8.xml" Id="R33f93fc61b514e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efe5a6ac2a46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152b43ad3d4b89" /><Relationship Type="http://schemas.openxmlformats.org/officeDocument/2006/relationships/notesMaster" Target="/ppt/notesMasters/notesMaster1.xml" Id="R117657d83dbf4e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e2b544fc6b4f9f" /><Relationship Type="http://schemas.openxmlformats.org/officeDocument/2006/relationships/notesMaster" Target="/ppt/notesMasters/notesMaster1.xml" Id="Rd1fd0e0dc35f41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1d5b8e0ac4484a" /><Relationship Type="http://schemas.openxmlformats.org/officeDocument/2006/relationships/notesMaster" Target="/ppt/notesMasters/notesMaster1.xml" Id="R073493e30a6042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630e84bdf64e4c" /><Relationship Type="http://schemas.openxmlformats.org/officeDocument/2006/relationships/notesMaster" Target="/ppt/notesMasters/notesMaster1.xml" Id="R44765dd18b644a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e215f46d7446ff" /><Relationship Type="http://schemas.openxmlformats.org/officeDocument/2006/relationships/notesMaster" Target="/ppt/notesMasters/notesMaster1.xml" Id="R29134476215445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5408ce8898459e" /><Relationship Type="http://schemas.openxmlformats.org/officeDocument/2006/relationships/notesMaster" Target="/ppt/notesMasters/notesMaster1.xml" Id="Rbc122c6a9e4b40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427395dfa84841" /><Relationship Type="http://schemas.openxmlformats.org/officeDocument/2006/relationships/notesMaster" Target="/ppt/notesMasters/notesMaster1.xml" Id="R0072b4fd9d9647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ebecbfe9e34f86" /><Relationship Type="http://schemas.openxmlformats.org/officeDocument/2006/relationships/notesMaster" Target="/ppt/notesMasters/notesMaster1.xml" Id="Ra4bc4a20551747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9aa868bb0d44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d9d17b93224a91" /><Relationship Type="http://schemas.openxmlformats.org/officeDocument/2006/relationships/slideLayout" Target="/ppt/slideLayouts/slideLayout1.xml" Id="Ra5d2148de7b640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d2148de7b640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d2ce629fa4be2" /><Relationship Type="http://schemas.openxmlformats.org/officeDocument/2006/relationships/notesSlide" Target="/ppt/notesSlides/notesSlide1.xml" Id="Re311d7ed07c940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14b9a80de4973" /><Relationship Type="http://schemas.openxmlformats.org/officeDocument/2006/relationships/notesSlide" Target="/ppt/notesSlides/notesSlide2.xml" Id="R1276fc36a2cb4e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a1b31c9304bec" /><Relationship Type="http://schemas.openxmlformats.org/officeDocument/2006/relationships/notesSlide" Target="/ppt/notesSlides/notesSlide3.xml" Id="R51c931dd9baa47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81c3cfcfc4207" /><Relationship Type="http://schemas.openxmlformats.org/officeDocument/2006/relationships/notesSlide" Target="/ppt/notesSlides/notesSlide4.xml" Id="R181d55aa45f24b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12b7c4e3c45a8" /><Relationship Type="http://schemas.openxmlformats.org/officeDocument/2006/relationships/notesSlide" Target="/ppt/notesSlides/notesSlide5.xml" Id="R21fcddce1f4243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ae2fc19e64647" /><Relationship Type="http://schemas.openxmlformats.org/officeDocument/2006/relationships/notesSlide" Target="/ppt/notesSlides/notesSlide6.xml" Id="Rbd60f821c84948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d72f5b96d47d4" /><Relationship Type="http://schemas.openxmlformats.org/officeDocument/2006/relationships/notesSlide" Target="/ppt/notesSlides/notesSlide7.xml" Id="R849dbd0c484445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742d9387443da" /><Relationship Type="http://schemas.openxmlformats.org/officeDocument/2006/relationships/notesSlide" Target="/ppt/notesSlides/notesSlide8.xml" Id="Rd0e4f8ad97c342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9C250C-F531-418C-B55A-CF586349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29BEC-7ED7-4170-9381-51AB3861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A8950-D958-4F3E-A4FA-F645C089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00"/>
                </a:solidFill>
              </a:defRPr>
            </a:pPr>
            <a:r>
              <a:rPr sz="1125" b="1">
                <a:solidFill>
                  <a:srgbClr val="FF7A00"/>
                </a:solidFill>
              </a:rPr>
              <a:t>SERVER BUILD AUTOMATION MODERNIZATION  •  ARCHITECTURE RECOMMENDATION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CAB2D-551C-409D-8435-648B94F2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F8FA"/>
                </a:solidFill>
              </a:defRPr>
            </a:pPr>
            <a:r>
              <a:rPr sz="4350" b="1">
                <a:solidFill>
                  <a:srgbClr val="F7F8FA"/>
                </a:solidFill>
              </a:rPr>
              <a:t>Modern automation,</a:t>
            </a:r>
          </a:p>
          <a:p xmlns:a="http://schemas.openxmlformats.org/drawingml/2006/main">
            <a:pPr algn="l">
              <a:defRPr sz="4350" b="1">
                <a:solidFill>
                  <a:srgbClr val="F7F8FA"/>
                </a:solidFill>
              </a:defRPr>
            </a:pPr>
            <a:r>
              <a:rPr sz="4350" b="1">
                <a:solidFill>
                  <a:srgbClr val="F7F8FA"/>
                </a:solidFill>
              </a:rPr>
              <a:t>made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47CAA-BBB0-484D-8185-FF6FE294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676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AB3C0"/>
                </a:solidFill>
              </a:defRPr>
            </a:pPr>
            <a:r>
              <a:rPr sz="1725" b="0">
                <a:solidFill>
                  <a:srgbClr val="AAB3C0"/>
                </a:solidFill>
              </a:rPr>
              <a:t>A practical path from approved request to traceable Windows and Linux server delivery.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3C200-659D-4DEF-A1D8-701F7A8E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66850"/>
            <a:ext cx="2857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DE4F0-1905-4767-B83D-F64C7917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66850"/>
            <a:ext cx="66675" cy="8763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6EBB56-4BED-4613-A74D-AA8201EA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192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Shared intent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BBDAF-B4D6-476F-9BB5-F6AD4161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431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One definition of what the build needs.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CA76D-E006-4137-A0F0-4BB1CBC8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09850"/>
            <a:ext cx="2857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D6F302-0CDC-4B17-B288-3CF4E448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09850"/>
            <a:ext cx="66675" cy="8763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9F115C-A74D-4690-95FC-D2C17986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622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Visible progress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B7E5F-7F24-4B44-9633-69A558BF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861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Blocked work has an owner and a resume point.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6BBE60-8917-4313-A515-DF289D66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52850"/>
            <a:ext cx="2857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6F3BA1-9582-45DF-B711-33E25945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52850"/>
            <a:ext cx="66675" cy="8763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B0956-9CAF-4BE7-9C84-29DBE4C5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052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Reusable delivery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B0E4C0-FE92-49DB-994C-918FD198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291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Common lifecycle; focused platform adapters.</a:t>
            </a:r>
          </a:p>
        </p:txBody>
      </p:sp>
      <p:cxnSp>
        <p:nvCxnSpPr>
          <p:cNvPr id="38" name=""/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715500" y="234315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313D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9715500" y="348615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313D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EB2E9E-4F6C-4A91-B767-F8C04A58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7586"/>
                </a:solidFill>
              </a:defRPr>
            </a:pPr>
            <a:r>
              <a:rPr sz="975" b="1">
                <a:solidFill>
                  <a:srgbClr val="697586"/>
                </a:solidFill>
              </a:rPr>
              <a:t>BRIEF FOR LEADERSHIP</a:t>
            </a:r>
          </a:p>
        </p:txBody>
      </p:sp>
    </p:spTree>
    <p:extLst>
      <p:ext uri="{BB962C8B-B14F-4D97-AF65-F5344CB8AC3E}">
        <p14:creationId xmlns:p14="http://schemas.microsoft.com/office/powerpoint/2010/main" val="5007071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8DB030-2FAB-497D-B7C3-BF61B7B4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862BE-6E11-4A44-99B0-3027A87B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DA676-31E9-4E7C-8CCC-F9D87AA9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6CC0D-B880-4B00-8A5A-4C80349A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D4243F-1A44-4D82-808F-70DF3C58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The delivery problem starts before automation runs.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27AC7-BF10-43D6-B982-81B06D17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8FA93-4B67-48AD-9241-367A0628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Approved requests often arrive with incomplete integration data and unclear ownership.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B05FB-22F5-4022-B5E7-F6EFED7D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6675" cy="10668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D5C8F-3CA5-4525-9A0D-790CA73C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8FA"/>
                </a:solidFill>
              </a:defRPr>
            </a:pPr>
            <a:r>
              <a:rPr sz="1725" b="1">
                <a:solidFill>
                  <a:srgbClr val="F7F8FA"/>
                </a:solidFill>
              </a:rPr>
              <a:t>Intent is fragmented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B2043-1A5C-40C3-B410-D476AD07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281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3C0"/>
                </a:solidFill>
              </a:defRPr>
            </a:pPr>
            <a:r>
              <a:rPr sz="1275" b="0">
                <a:solidFill>
                  <a:srgbClr val="AAB3C0"/>
                </a:solidFill>
              </a:rPr>
              <a:t>Tickets, CSV files, shares, inventories, and playbooks each hold part of the truth.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743C4-C2F3-4D59-B8F7-42D9D6F2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66675" cy="10668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A3342-2FDF-4D92-A477-D420EDDC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8FA"/>
                </a:solidFill>
              </a:defRPr>
            </a:pPr>
            <a:r>
              <a:rPr sz="1725" b="1">
                <a:solidFill>
                  <a:srgbClr val="F7F8FA"/>
                </a:solidFill>
              </a:rPr>
              <a:t>Waiting is invisible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7A720A-5074-47F3-8F36-CF8158CE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43300"/>
            <a:ext cx="281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3C0"/>
                </a:solidFill>
              </a:defRPr>
            </a:pPr>
            <a:r>
              <a:rPr sz="1275" b="0">
                <a:solidFill>
                  <a:srgbClr val="AAB3C0"/>
                </a:solidFill>
              </a:rPr>
              <a:t>A partial build can sit in staging without a durable blocker, owner, or resume point.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6D127-0793-4697-B099-1D25F9E0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81300"/>
            <a:ext cx="66675" cy="10668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75A527-8E6D-4657-A025-031CC54B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8FA"/>
                </a:solidFill>
              </a:defRPr>
            </a:pPr>
            <a:r>
              <a:rPr sz="1725" b="1">
                <a:solidFill>
                  <a:srgbClr val="F7F8FA"/>
                </a:solidFill>
              </a:rPr>
              <a:t>Teams improvise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04CC7-C01C-4BA7-8D97-CB725F4C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43300"/>
            <a:ext cx="2819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3C0"/>
                </a:solidFill>
              </a:defRPr>
            </a:pPr>
            <a:r>
              <a:rPr sz="1275" b="0">
                <a:solidFill>
                  <a:srgbClr val="AAB3C0"/>
                </a:solidFill>
              </a:rPr>
              <a:t>Developers choose inventory and variables when the authoritative source is unclear.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DCC3E-BCBA-444D-8275-841F4338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8FA"/>
                </a:solidFill>
              </a:defRPr>
            </a:pPr>
            <a:r>
              <a:rPr sz="1650" b="1">
                <a:solidFill>
                  <a:srgbClr val="F7F8FA"/>
                </a:solidFill>
              </a:rPr>
              <a:t>Automation inherits the ambiguity unless the handoff itself becomes explicit.</a:t>
            </a:r>
          </a:p>
        </p:txBody>
      </p:sp>
    </p:spTree>
    <p:extLst>
      <p:ext uri="{BB962C8B-B14F-4D97-AF65-F5344CB8AC3E}">
        <p14:creationId xmlns:p14="http://schemas.microsoft.com/office/powerpoint/2010/main" val="18401827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A960FF-29DF-481F-9231-D96B4D8E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B1298-A83A-4C43-A6D5-F772B003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NEW CONCEPT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D3368-CCC3-4E5E-ADE1-048AD344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578EC-F47C-4591-9132-D5AB872F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4BD0E-0E6D-4668-BCFA-27E07888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Data contracts as 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02F18-501F-46FB-B77E-7F25195B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7603C-C63C-4DC2-B442-B2212725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A versioned, reviewable agreement about the data automation may trust.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ADE632-4AB6-4391-BFCC-E2184CD0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A"/>
                </a:solidFill>
              </a:defRPr>
            </a:pPr>
            <a:r>
              <a:rPr sz="1800" b="1">
                <a:solidFill>
                  <a:srgbClr val="F7F8FA"/>
                </a:solidFill>
              </a:rPr>
              <a:t>The contract answers three questions: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BB336-9D49-4FE0-AB9E-9D5B444B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8763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8A67C-494C-4B05-AAC3-6AB9100E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24225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090D"/>
                </a:solidFill>
              </a:defRPr>
            </a:pPr>
            <a:r>
              <a:rPr sz="975" b="1">
                <a:solidFill>
                  <a:srgbClr val="07090D"/>
                </a:solidFill>
              </a:rPr>
              <a:t>WHAT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79118-A809-496A-8CA9-03DB2394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956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8FA"/>
                </a:solidFill>
              </a:defRPr>
            </a:pPr>
            <a:r>
              <a:rPr sz="1500" b="1">
                <a:solidFill>
                  <a:srgbClr val="F7F8FA"/>
                </a:solidFill>
              </a:rPr>
              <a:t>Which fields and values are valid?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C3901-2F18-44D2-8CF5-144DA295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8763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9DE8A-7087-4DD1-AC27-46C3560E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090D"/>
                </a:solidFill>
              </a:defRPr>
            </a:pPr>
            <a:r>
              <a:rPr sz="975" b="1">
                <a:solidFill>
                  <a:srgbClr val="07090D"/>
                </a:solidFill>
              </a:rPr>
              <a:t>WHO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4F79F5-86B1-4378-896E-077072CE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767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8FA"/>
                </a:solidFill>
              </a:defRPr>
            </a:pPr>
            <a:r>
              <a:rPr sz="1500" b="1">
                <a:solidFill>
                  <a:srgbClr val="F7F8FA"/>
                </a:solidFill>
              </a:rPr>
              <a:t>Who owns each value and its source?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E81C7C-22A8-4DCE-B488-97384953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763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C8149-8C0A-4FF9-B492-226BF4DB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86325"/>
            <a:ext cx="68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090D"/>
                </a:solidFill>
              </a:defRPr>
            </a:pPr>
            <a:r>
              <a:rPr sz="975" b="1">
                <a:solidFill>
                  <a:srgbClr val="07090D"/>
                </a:solidFill>
              </a:rPr>
              <a:t>WHEN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E2E28C-4FAE-462A-B270-3263D534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57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8FA"/>
                </a:solidFill>
              </a:defRPr>
            </a:pPr>
            <a:r>
              <a:rPr sz="1500" b="1">
                <a:solidFill>
                  <a:srgbClr val="F7F8FA"/>
                </a:solidFill>
              </a:rPr>
              <a:t>Which values are required at each phase?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52E9B4-3F37-473D-9E9F-CD7B285A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7625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7A46E1-8286-4DE4-8A2E-EB68880F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62275"/>
            <a:ext cx="57150" cy="1809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DECEC6-4264-4A3F-9509-1974365B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337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PROBLEM SOLVED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63A171-5BDF-4773-B944-49E010B2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3714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8FA"/>
                </a:solidFill>
              </a:defRPr>
            </a:pPr>
            <a:r>
              <a:rPr sz="2325" b="1">
                <a:solidFill>
                  <a:srgbClr val="F7F8FA"/>
                </a:solidFill>
              </a:rPr>
              <a:t>Fewer local interpretations.</a:t>
            </a:r>
          </a:p>
          <a:p xmlns:a="http://schemas.openxmlformats.org/drawingml/2006/main">
            <a:pPr algn="l">
              <a:defRPr sz="2325" b="1">
                <a:solidFill>
                  <a:srgbClr val="F7F8FA"/>
                </a:solidFill>
              </a:defRPr>
            </a:pPr>
            <a:r>
              <a:rPr sz="2325" b="1">
                <a:solidFill>
                  <a:srgbClr val="F7F8FA"/>
                </a:solidFill>
              </a:rPr>
              <a:t>Clearer handoffs.</a:t>
            </a:r>
          </a:p>
          <a:p xmlns:a="http://schemas.openxmlformats.org/drawingml/2006/main">
            <a:pPr algn="l">
              <a:defRPr sz="2325" b="1">
                <a:solidFill>
                  <a:srgbClr val="F7F8FA"/>
                </a:solidFill>
              </a:defRPr>
            </a:pPr>
            <a:r>
              <a:rPr sz="2325" b="1">
                <a:solidFill>
                  <a:srgbClr val="F7F8FA"/>
                </a:solidFill>
              </a:rPr>
              <a:t>Safer reuse.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549807-855C-4895-A2E4-F962822E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530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3C0"/>
                </a:solidFill>
              </a:defRPr>
            </a:pPr>
            <a:r>
              <a:rPr sz="1125" b="0">
                <a:solidFill>
                  <a:srgbClr val="AAB3C0"/>
                </a:solidFill>
              </a:rPr>
              <a:t>The contract is not the workflow. It defines the rules the workflow applies.</a:t>
            </a:r>
          </a:p>
        </p:txBody>
      </p:sp>
    </p:spTree>
    <p:extLst>
      <p:ext uri="{BB962C8B-B14F-4D97-AF65-F5344CB8AC3E}">
        <p14:creationId xmlns:p14="http://schemas.microsoft.com/office/powerpoint/2010/main" val="20824010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16EA42-0C03-4368-B85D-15DD6E3F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E1C3C-7818-493E-807A-8520C72C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NEW CONCEPT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E21EB-E9FF-4AC1-B41A-31612C5C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61F62-71A3-4779-9A35-5CF6E041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389CE-7854-452F-96AD-7214C5DC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The build manifest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D1FCB-3034-4738-A544-2167A9A2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E8320-B2DE-4FF4-BFCA-E8216DBD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Durable record of approved intent, current status, and evidence for one server build.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3EB58-A88C-43CD-841D-F1C3E763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28900"/>
            <a:ext cx="3524250" cy="2609850"/>
          </a:xfrm>
          <a:prstGeom xmlns:a="http://schemas.openxmlformats.org/drawingml/2006/main" prst="roundRect">
            <a:avLst>
              <a:gd name="adj" fmla="val 6569"/>
            </a:avLst>
          </a:prstGeom>
          <a:solidFill xmlns:a="http://schemas.openxmlformats.org/drawingml/2006/main">
            <a:srgbClr val="171E28"/>
          </a:solidFill>
          <a:ln xmlns:a="http://schemas.openxmlformats.org/drawingml/2006/main" w="19050">
            <a:solidFill>
              <a:srgbClr val="39A9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96A8B3-2375-44BF-A1CC-1F5DC992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14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9A9FF"/>
                </a:solidFill>
              </a:defRPr>
            </a:pPr>
            <a:r>
              <a:rPr sz="1125" b="1">
                <a:solidFill>
                  <a:srgbClr val="39A9FF"/>
                </a:solidFill>
              </a:rPr>
              <a:t>BUILD MANIFEST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F8218-2B41-4370-946A-04C2BF66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147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F0570D-70F5-49E9-894D-4E20BDA0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24250"/>
            <a:ext cx="266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8FA"/>
                </a:solidFill>
              </a:defRPr>
            </a:pPr>
            <a:r>
              <a:rPr sz="1500" b="0">
                <a:solidFill>
                  <a:srgbClr val="F7F8FA"/>
                </a:solidFill>
              </a:rPr>
              <a:t>request      REQ-0001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</a:defRPr>
            </a:pPr>
            <a:r>
              <a:rPr sz="1500" b="0">
                <a:solidFill>
                  <a:srgbClr val="F7F8FA"/>
                </a:solidFill>
              </a:rPr>
              <a:t>platform     windows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</a:defRPr>
            </a:pPr>
            <a:r>
              <a:rPr sz="1500" b="0">
                <a:solidFill>
                  <a:srgbClr val="F7F8FA"/>
                </a:solidFill>
              </a:rPr>
              <a:t>phase        network_ready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</a:defRPr>
            </a:pPr>
            <a:r>
              <a:rPr sz="1500" b="0">
                <a:solidFill>
                  <a:srgbClr val="F7F8FA"/>
                </a:solidFill>
              </a:rPr>
              <a:t>revision     4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</a:defRPr>
            </a:pPr>
            <a:r>
              <a:rPr sz="1500" b="0">
                <a:solidFill>
                  <a:srgbClr val="F7F8FA"/>
                </a:solidFill>
              </a:rPr>
              <a:t>next owner   network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2481C-28D2-4231-A104-A289A5C9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762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4F0EB0-357B-43C6-98FD-DD093FB8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6675" cy="8382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7B933C-DB81-4C9D-A9A1-AA5EED54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Approved intent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7C86E-0F90-452D-8317-F5ACF870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What was requested and who approved 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CA518-1480-4409-8AA5-0286079C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2762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BA69BD-3EDA-420F-BF91-8183DE26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66675" cy="8382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E2FBE8-7075-4819-9484-F6D6665A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Pause / resume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CC2AD0-D43E-4088-9B08-328528F2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Blockers, safe state, owner, next phase.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79FA8B-2FB6-49AF-990D-826C534A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0"/>
            <a:ext cx="2762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BB02E8-903C-46BA-A320-B21EBA7F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0"/>
            <a:ext cx="66675" cy="8382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E1DB36-69EF-451F-A367-620DBE41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099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Evidence trail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AE5134-81E9-486D-A7D9-889433FB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337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Provider results, checks, reconciliation.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116EBD-A590-4667-B63F-AF6F1A10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91000"/>
            <a:ext cx="2762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4A99D4-3EB6-4468-ADCC-E1A99A08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91000"/>
            <a:ext cx="66675" cy="8382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0EADCA-DB5C-4BF3-A25A-8DF326D4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434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Handoff record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F8B142-8DD8-4BEE-B5DA-4078A56C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672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Origin and completion remain readable.</a:t>
            </a:r>
          </a:p>
        </p:txBody>
      </p:sp>
      <p:cxnSp>
        <p:nvCxnSpPr>
          <p:cNvPr id="60" name=""/>
          <p:cNvCxnSpPr>
            <a:stCxn xmlns:a="http://schemas.openxmlformats.org/drawingml/2006/main" id="12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48050" y="3276600"/>
            <a:ext cx="895350" cy="657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1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448050" y="3933825"/>
            <a:ext cx="895350" cy="676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7867650" y="3276600"/>
            <a:ext cx="895350" cy="657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FD1A1"/>
            </a:solidFill>
            <a:prstDash val="solid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8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867650" y="3933825"/>
            <a:ext cx="895350" cy="676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02C9F2-FDDB-44BE-BA95-C06579C1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8FA"/>
                </a:solidFill>
              </a:defRPr>
            </a:pPr>
            <a:r>
              <a:rPr sz="1500" b="1">
                <a:solidFill>
                  <a:srgbClr val="F7F8FA"/>
                </a:solidFill>
              </a:rPr>
              <a:t>The manifest complements a discovery-only CMDB; it does not replace it.</a:t>
            </a:r>
          </a:p>
        </p:txBody>
      </p:sp>
    </p:spTree>
    <p:extLst>
      <p:ext uri="{BB962C8B-B14F-4D97-AF65-F5344CB8AC3E}">
        <p14:creationId xmlns:p14="http://schemas.microsoft.com/office/powerpoint/2010/main" val="12270601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AE06CC-51FF-4EA0-931E-47B40E92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71449-ACB0-48EB-B268-247B9146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OPERATING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E1E30-B96D-4201-A208-01461786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3FA0B-E04D-4AFF-B8C9-60C47E94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CF574-8E37-4863-A85D-826EA7F7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Four responsibilities stay separate.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02766-2F9B-48DE-B43B-914E9513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39941-DEEF-4258-A3E7-BA071629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Clarity comes from giving each component one job.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1D69D-9017-48C4-BD9F-6B54E990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381250" cy="27241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66756-EEEC-4004-8012-155B492B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3812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D398C-BD1D-4CE8-B15A-5705DDA0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00"/>
                </a:solidFill>
              </a:defRPr>
            </a:pPr>
            <a:r>
              <a:rPr sz="1050" b="1">
                <a:solidFill>
                  <a:srgbClr val="FF7A00"/>
                </a:solidFill>
              </a:rPr>
              <a:t>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CD4FE9-0DC2-4D21-9943-ECDB30CC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A"/>
                </a:solidFill>
              </a:defRPr>
            </a:pPr>
            <a:r>
              <a:rPr sz="1800" b="1">
                <a:solidFill>
                  <a:srgbClr val="F7F8FA"/>
                </a:solidFill>
              </a:rPr>
              <a:t>Defines meaning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F4ABF3-2A20-4F4C-84FE-B7B2FEA7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Fields</a:t>
            </a:r>
          </a:p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owners</a:t>
            </a:r>
          </a:p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phase rules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DB225-D483-4F93-BD19-7DC6E0F2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47950"/>
            <a:ext cx="2381250" cy="27241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8E6C04-F752-47A8-BD2B-9B485B5F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47950"/>
            <a:ext cx="23812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BDB5D6-05D2-44AB-A0D5-067C3808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9718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A9FF"/>
                </a:solidFill>
              </a:defRPr>
            </a:pPr>
            <a:r>
              <a:rPr sz="1050" b="1">
                <a:solidFill>
                  <a:srgbClr val="39A9FF"/>
                </a:solidFill>
              </a:rPr>
              <a:t>MANIFEST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E1A152-48B3-427B-A89B-9FC25FFF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4671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A"/>
                </a:solidFill>
              </a:defRPr>
            </a:pPr>
            <a:r>
              <a:rPr sz="1800" b="1">
                <a:solidFill>
                  <a:srgbClr val="F7F8FA"/>
                </a:solidFill>
              </a:rPr>
              <a:t>Preserves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BA761-CA96-438C-BBA9-6C0A28DB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267200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Intent</a:t>
            </a:r>
          </a:p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blockers</a:t>
            </a:r>
          </a:p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D8EB39-0271-4EEF-8874-60BF876D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2381250" cy="27241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9D2C62-8650-4368-A8D8-F475D7B2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23812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5DCDA9-00E4-4AAF-AA99-06439A4A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718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D1A1"/>
                </a:solidFill>
              </a:defRPr>
            </a:pPr>
            <a:r>
              <a:rPr sz="1050" b="1">
                <a:solidFill>
                  <a:srgbClr val="4FD1A1"/>
                </a:solidFill>
              </a:rPr>
              <a:t>AAP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4BD1BB-45F8-4B62-A4E4-181DC034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671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A"/>
                </a:solidFill>
              </a:defRPr>
            </a:pPr>
            <a:r>
              <a:rPr sz="1800" b="1">
                <a:solidFill>
                  <a:srgbClr val="F7F8FA"/>
                </a:solidFill>
              </a:rPr>
              <a:t>Coordinates work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930EBC-0196-4829-8B6A-B8BA954C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67200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Jobs</a:t>
            </a:r>
          </a:p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branches</a:t>
            </a:r>
          </a:p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retries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DA97DF-A58E-48E1-93AE-4CF119A8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647950"/>
            <a:ext cx="2381250" cy="27241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250CA0-BFA4-4A4B-A1AC-0112B9CE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647950"/>
            <a:ext cx="2381250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3A2A45-9A67-415F-9AE9-81F90268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9718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A00"/>
                </a:solidFill>
              </a:defRPr>
            </a:pPr>
            <a:r>
              <a:rPr sz="1050" b="1">
                <a:solidFill>
                  <a:srgbClr val="FF7A00"/>
                </a:solidFill>
              </a:rPr>
              <a:t>CMDB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97B304-2865-4B63-9501-83E12B69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467100"/>
            <a:ext cx="1924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8FA"/>
                </a:solidFill>
              </a:defRPr>
            </a:pPr>
            <a:r>
              <a:rPr sz="1800" b="1">
                <a:solidFill>
                  <a:srgbClr val="F7F8FA"/>
                </a:solidFill>
              </a:rPr>
              <a:t>Observes estate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BBE4EC-DC80-4FCA-96E8-0A349D67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267200"/>
            <a:ext cx="1924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Discovered</a:t>
            </a:r>
          </a:p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operational</a:t>
            </a:r>
          </a:p>
          <a:p xmlns:a="http://schemas.openxmlformats.org/drawingml/2006/main">
            <a:pPr algn="l">
              <a:defRPr sz="1350" b="0">
                <a:solidFill>
                  <a:srgbClr val="AAB3C0"/>
                </a:solidFill>
              </a:defRPr>
            </a:pPr>
            <a:r>
              <a:rPr sz="1350" b="0">
                <a:solidFill>
                  <a:srgbClr val="AAB3C0"/>
                </a:solidFill>
              </a:rPr>
              <a:t>state</a:t>
            </a:r>
          </a:p>
        </p:txBody>
      </p:sp>
    </p:spTree>
    <p:extLst>
      <p:ext uri="{BB962C8B-B14F-4D97-AF65-F5344CB8AC3E}">
        <p14:creationId xmlns:p14="http://schemas.microsoft.com/office/powerpoint/2010/main" val="8351603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EE90B4-439D-4BAA-80C1-A7BF3E38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89C4C-674C-48F6-B269-5546406E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AAP LOGICAL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75B7F-0615-460A-AC93-AA47FE34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76E38-8ED2-4833-93CF-4C2064B2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EE1E2-4EC3-46F3-BBB4-83F9B950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AAP runs short phases. The manifest carries the pause.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D8614-8549-484F-A9D7-B3E75739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2DB05-0B18-40B7-B20E-1D418ECE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A workflow launch can come from a request API, a webhook rule, or a schedule.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08704-D77C-469F-9E00-F9438FC9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095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E7434-ABDE-4AD5-8C6D-46B165FD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66675" cy="8572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0343E-31DB-4B0C-8A25-3C3A716A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1  Create / 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08C5D-AA25-429A-97E1-ABAD7506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Resolve request + revision.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9861D-4D1B-4E8C-AD59-410A4579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24150"/>
            <a:ext cx="2095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43BEA-747D-4F8B-9EE3-4511B3D9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24150"/>
            <a:ext cx="66675" cy="8572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6AAD7-F09D-47DD-B925-D2F27325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7655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2  Assess readiness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373F42-AD1E-4055-ABB6-7F792659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0040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Evaluate phase requirements.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33419B-E9C7-4FB4-ACDC-0E382D44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24150"/>
            <a:ext cx="2095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14BC7D-5988-4DE7-918F-AB825E3F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24150"/>
            <a:ext cx="66675" cy="8572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0A842D-1D84-4BCD-B684-222A3A65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7655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3  Execute phase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37AFF3-32AE-44A6-AC20-A2A8686C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0040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VMware, OS, network…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401E94-365B-4C24-A3A3-AE76A0BC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2095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F57531-4AD3-4ACC-A125-BF177FB1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66675" cy="8572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9FD74A-BBAC-45DD-B9C3-3CA697B8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7655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4  Persist result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AFFA44-E6EF-4F65-A25E-BCF9A659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0040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Revision + event + evidence.</a:t>
            </a:r>
          </a:p>
        </p:txBody>
      </p:sp>
      <p:cxnSp>
        <p:nvCxnSpPr>
          <p:cNvPr id="63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81300" y="31527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7A00"/>
            </a:solidFill>
            <a:prstDash val="solid"/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295900" y="31527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cxnSp>
        <p:nvCxnSpPr>
          <p:cNvPr id="65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810500" y="31527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FD1A1"/>
            </a:solidFill>
            <a:prstDash val="soli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846811-C366-4B00-9663-01A1C7C5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76750"/>
            <a:ext cx="20955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93401E-2C28-4F12-8754-BE8319C9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76750"/>
            <a:ext cx="66675" cy="7048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5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DEED43-BAAB-4CF5-80B0-C6E92F0A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2915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BLOCKED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675BEA-2337-4A7D-8D7C-EFAEEC8D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53000"/>
            <a:ext cx="1733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Owner + resume phase</a:t>
            </a:r>
          </a:p>
        </p:txBody>
      </p:sp>
      <p:cxnSp>
        <p:nvCxnSpPr>
          <p:cNvPr id="70" name=""/>
          <p:cNvCxnSpPr>
            <a:stCxn xmlns:a="http://schemas.openxmlformats.org/drawingml/2006/main" id="12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4248150" y="3581400"/>
            <a:ext cx="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5D66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422FC4-5B85-4C68-8ECE-A8C6BBEB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76750"/>
            <a:ext cx="20955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1CD76A-EB31-402C-A3DF-DCA5C346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76750"/>
            <a:ext cx="66675" cy="7048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27AD32-9F23-4D64-A304-33F87922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2915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8FA"/>
                </a:solidFill>
              </a:defRPr>
            </a:pPr>
            <a:r>
              <a:rPr sz="1350" b="1">
                <a:solidFill>
                  <a:srgbClr val="F7F8FA"/>
                </a:solidFill>
              </a:rPr>
              <a:t>NEXT EVENT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85A0FF-2390-4511-8980-C4C196FD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53000"/>
            <a:ext cx="1733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3C0"/>
                </a:solidFill>
              </a:defRPr>
            </a:pPr>
            <a:r>
              <a:rPr sz="975" b="0">
                <a:solidFill>
                  <a:srgbClr val="AAB3C0"/>
                </a:solidFill>
              </a:rPr>
              <a:t>Resume retained revision</a:t>
            </a:r>
          </a:p>
        </p:txBody>
      </p:sp>
      <p:cxnSp>
        <p:nvCxnSpPr>
          <p:cNvPr id="75" name=""/>
          <p:cNvCxnSpPr>
            <a:stCxn xmlns:a="http://schemas.openxmlformats.org/drawingml/2006/main" id="20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9277350" y="3581400"/>
            <a:ext cx="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A9FF"/>
            </a:solidFill>
            <a:prstDash val="solid"/>
            <a:tailEnd type="arrow" w="med" len="med"/>
          </a:ln>
        </p:spPr>
      </p:cxnSp>
      <p:cxnSp>
        <p:nvCxnSpPr>
          <p:cNvPr id="76" name=""/>
          <p:cNvCxnSpPr>
            <a:stCxn xmlns:a="http://schemas.openxmlformats.org/drawingml/2006/main" id="32" idx="1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 flipV="1">
            <a:off x="1733550" y="3581400"/>
            <a:ext cx="6496050" cy="1247775"/>
          </a:xfrm>
          <a:prstGeom xmlns:a="http://schemas.openxmlformats.org/drawingml/2006/main" prst="bentConnector4">
            <a:avLst>
              <a:gd name="adj1" fmla="val 3519"/>
              <a:gd name="adj2" fmla="val 81679"/>
            </a:avLst>
          </a:prstGeom>
          <a:ln xmlns:a="http://schemas.openxmlformats.org/drawingml/2006/main" w="19050">
            <a:solidFill>
              <a:srgbClr val="697586"/>
            </a:solidFill>
            <a:prstDash val="dash"/>
            <a:tailEnd type="arrow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139FC4-AC88-44EB-AF3B-736A6673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52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FD1A1"/>
                </a:solidFill>
              </a:defRPr>
            </a:pPr>
            <a:r>
              <a:rPr sz="825" b="1">
                <a:solidFill>
                  <a:srgbClr val="4FD1A1"/>
                </a:solidFill>
              </a:rPr>
              <a:t>READY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CF4C52-FED3-4C9F-A50E-2CF32E2E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19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5D66"/>
                </a:solidFill>
              </a:defRPr>
            </a:pPr>
            <a:r>
              <a:rPr sz="825" b="1">
                <a:solidFill>
                  <a:srgbClr val="FF5D66"/>
                </a:solidFill>
              </a:rPr>
              <a:t>NOT READY</a:t>
            </a:r>
          </a:p>
        </p:txBody>
      </p:sp>
    </p:spTree>
    <p:extLst>
      <p:ext uri="{BB962C8B-B14F-4D97-AF65-F5344CB8AC3E}">
        <p14:creationId xmlns:p14="http://schemas.microsoft.com/office/powerpoint/2010/main" val="6713775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F650D3-5B37-4A86-B72F-E88177C4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9806A-1E0F-4F9F-8F19-5192F89F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D1A1"/>
                </a:solidFill>
              </a:defRPr>
            </a:pPr>
            <a:r>
              <a:rPr sz="975" b="1">
                <a:solidFill>
                  <a:srgbClr val="4FD1A1"/>
                </a:solidFill>
              </a:rPr>
              <a:t>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1706C-88A6-4CB7-AFA8-2B34DD9C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96486-A8EC-4646-AF30-2DD4E8EA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FE3FD-595C-4915-A52F-DCCCCD8E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What the POC already proves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D63F2-911D-4BD8-818C-6F9270AE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E669F-BE0C-4589-87A8-B109DF33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The first milestone is traceable lifecycle behavior—not a finished enterprise platform.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E0125-35F9-4227-B91F-32E5DF0E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51435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21A4C-971E-4E07-A716-5F95735B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66675" cy="10668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6C9B3-1107-43EB-A600-736E8DF1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SHARED LIFECYCLE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1B140-6694-439E-8681-F29724F1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8FA"/>
                </a:solidFill>
              </a:defRPr>
            </a:pPr>
            <a:r>
              <a:rPr sz="1275" b="1">
                <a:solidFill>
                  <a:srgbClr val="F7F8FA"/>
                </a:solidFill>
              </a:rPr>
              <a:t>Windows and Linux use the same manifest, readiness, and transition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8B147-16E1-4B09-AAD4-34502A45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51435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87891-5BCF-4304-8E93-A3A56E43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66675" cy="10668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9A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0D6C4-37F1-455A-850C-C20A9323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384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A9FF"/>
                </a:solidFill>
              </a:defRPr>
            </a:pPr>
            <a:r>
              <a:rPr sz="975" b="1">
                <a:solidFill>
                  <a:srgbClr val="39A9FF"/>
                </a:solidFill>
              </a:rPr>
              <a:t>TESTED ROLES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CE6B79-2702-4301-8400-A90D65C2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6230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8FA"/>
                </a:solidFill>
              </a:defRPr>
            </a:pPr>
            <a:r>
              <a:rPr sz="1275" b="1">
                <a:solidFill>
                  <a:srgbClr val="F7F8FA"/>
                </a:solidFill>
              </a:rPr>
              <a:t>Every current role has a Molecule scenario for behavior, idempotence, and expected failures.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951FA9-33D5-4DC5-B3BC-56C3A6FF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51435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946B16-A218-4545-BFE4-3DDE0543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66675" cy="10668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4FD1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481EB-54B6-471D-B0EF-A3C0B58E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D1A1"/>
                </a:solidFill>
              </a:defRPr>
            </a:pPr>
            <a:r>
              <a:rPr sz="975" b="1">
                <a:solidFill>
                  <a:srgbClr val="4FD1A1"/>
                </a:solidFill>
              </a:rPr>
              <a:t>CONTROLLED PAUSE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DAF01C-0B88-4E2D-B198-906C2213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8FA"/>
                </a:solidFill>
              </a:defRPr>
            </a:pPr>
            <a:r>
              <a:rPr sz="1275" b="1">
                <a:solidFill>
                  <a:srgbClr val="F7F8FA"/>
                </a:solidFill>
              </a:rPr>
              <a:t>Blocked work records the missing data, accountable owner, and resume phase.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2BEF0F-0D7B-4388-8758-C547E19F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51435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1A2D2C-8E9F-4743-8B09-4BAD0C08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66675" cy="10668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BFACB8-7F1A-4936-930A-2C6902BF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910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PUBLIC-SAFE FIXTURES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9C9DB7-8AEA-4E84-8802-D718F861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8FA"/>
                </a:solidFill>
              </a:defRPr>
            </a:pPr>
            <a:r>
              <a:rPr sz="1275" b="1">
                <a:solidFill>
                  <a:srgbClr val="F7F8FA"/>
                </a:solidFill>
              </a:rPr>
              <a:t>Examples are synthetic and contain no production credentials, endpoints, or server records.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30805D-CEAA-4044-AA30-3166347B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7F8FA"/>
                </a:solidFill>
              </a:defRPr>
            </a:pPr>
            <a:r>
              <a:rPr sz="1425" b="1">
                <a:solidFill>
                  <a:srgbClr val="F7F8FA"/>
                </a:solidFill>
              </a:rPr>
              <a:t>Also demonstrated: duplicate-event handling, stale-revision rejection, idempotent replay, and retained approved intent.</a:t>
            </a:r>
          </a:p>
        </p:txBody>
      </p:sp>
    </p:spTree>
    <p:extLst>
      <p:ext uri="{BB962C8B-B14F-4D97-AF65-F5344CB8AC3E}">
        <p14:creationId xmlns:p14="http://schemas.microsoft.com/office/powerpoint/2010/main" val="18731309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CEA891-1CA7-4CF4-9F2A-CB6B40DB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C869D-7C88-4201-A1C5-DBC7F51B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7A00"/>
                </a:solidFill>
              </a:defRPr>
            </a:pPr>
            <a:r>
              <a:rPr sz="975" b="1">
                <a:solidFill>
                  <a:srgbClr val="FF7A00"/>
                </a:solidFill>
              </a:rPr>
              <a:t>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18D6DE-FB6C-40C8-8B5B-60021F7A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4E34E-9E7D-4BCA-B931-9E1ACDC7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586"/>
                </a:solidFill>
              </a:defRPr>
            </a:pPr>
            <a:r>
              <a:rPr sz="825" b="1">
                <a:solidFill>
                  <a:srgbClr val="697586"/>
                </a:solidFill>
              </a:rPr>
              <a:t>SERVER BUILD AUTOMATION MODERNIZATION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DB7D4-A4ED-4967-AEDE-BB0E5CE7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8FA"/>
                </a:solidFill>
              </a:defRPr>
            </a:pPr>
            <a:r>
              <a:rPr sz="3150" b="1">
                <a:solidFill>
                  <a:srgbClr val="F7F8FA"/>
                </a:solidFill>
              </a:rPr>
              <a:t>My recommendation: authorize a focused pilot.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F18C0-7F2E-4149-B36A-51DF0134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85725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52D7E-6B2C-481E-9874-793BE687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3C0"/>
                </a:solidFill>
              </a:defRPr>
            </a:pPr>
            <a:r>
              <a:rPr sz="1575" b="0">
                <a:solidFill>
                  <a:srgbClr val="AAB3C0"/>
                </a:solidFill>
              </a:rPr>
              <a:t>I will test one non-production integration and return with evidence before proposing broader adoption.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8A5BA-60F2-4FAF-A4A5-2DBCAA79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2385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C2A9A-FB52-4867-9789-BFBD05D1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7A00"/>
                </a:solidFill>
              </a:defRPr>
            </a:pPr>
            <a:r>
              <a:rPr sz="2250" b="1">
                <a:solidFill>
                  <a:srgbClr val="FF7A00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5497C-2E28-4341-979B-DC1579C4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8FA"/>
                </a:solidFill>
              </a:defRPr>
            </a:pPr>
            <a:r>
              <a:rPr sz="1725" b="1">
                <a:solidFill>
                  <a:srgbClr val="F7F8FA"/>
                </a:solidFill>
              </a:rPr>
              <a:t>Align the decision owners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B72DB-07BC-413F-BCFF-0F1E9370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3C0"/>
                </a:solidFill>
              </a:defRPr>
            </a:pPr>
            <a:r>
              <a:rPr sz="1275" b="0">
                <a:solidFill>
                  <a:srgbClr val="AAB3C0"/>
                </a:solidFill>
              </a:rPr>
              <a:t>I will confirm the approved-event payload, data ownership, safe blocked state, and success measures.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46747-C106-43EE-AC56-40F5B916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62250"/>
            <a:ext cx="32385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726B8-4ED5-4AE3-9AED-49FA32D0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9A9FF"/>
                </a:solidFill>
              </a:defRPr>
            </a:pPr>
            <a:r>
              <a:rPr sz="2250" b="1">
                <a:solidFill>
                  <a:srgbClr val="39A9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8A90D-B849-40EC-A427-21604077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385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8FA"/>
                </a:solidFill>
              </a:defRPr>
            </a:pPr>
            <a:r>
              <a:rPr sz="1725" b="1">
                <a:solidFill>
                  <a:srgbClr val="F7F8FA"/>
                </a:solidFill>
              </a:rPr>
              <a:t>Prove one integration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41C25-D88A-4AD3-B025-5B3C0EA2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6245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3C0"/>
                </a:solidFill>
              </a:defRPr>
            </a:pPr>
            <a:r>
              <a:rPr sz="1275" b="0">
                <a:solidFill>
                  <a:srgbClr val="AAB3C0"/>
                </a:solidFill>
              </a:rPr>
              <a:t>I recommend S3-compatible artifact storage first; non-production VMware is the alternate.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6B8E58-A064-4591-9FAC-CA9B8D54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62250"/>
            <a:ext cx="32385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1161E"/>
          </a:solidFill>
          <a:ln xmlns:a="http://schemas.openxmlformats.org/drawingml/2006/main" w="9525">
            <a:solidFill>
              <a:srgbClr val="2831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67DE24-60BC-4092-AB0A-7F139352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28950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7A00"/>
                </a:solidFill>
              </a:defRPr>
            </a:pPr>
            <a:r>
              <a:rPr sz="2250" b="1">
                <a:solidFill>
                  <a:srgbClr val="FF7A00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F3929-637C-4B34-BEA2-ED7C6A58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385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8FA"/>
                </a:solidFill>
              </a:defRPr>
            </a:pPr>
            <a:r>
              <a:rPr sz="1725" b="1">
                <a:solidFill>
                  <a:srgbClr val="F7F8FA"/>
                </a:solidFill>
              </a:rPr>
              <a:t>Return with a recommendation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F5E7F6-3B99-4F6C-9D9C-8C684AEE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6245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3C0"/>
                </a:solidFill>
              </a:defRPr>
            </a:pPr>
            <a:r>
              <a:rPr sz="1275" b="0">
                <a:solidFill>
                  <a:srgbClr val="AAB3C0"/>
                </a:solidFill>
              </a:rPr>
              <a:t>I will report the evidence, remaining risks, organizational gaps, and next justified increment.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9D2EC-9E87-4A13-BBD2-69014B7D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8FA"/>
                </a:solidFill>
              </a:defRPr>
            </a:pPr>
            <a:r>
              <a:rPr sz="1575" b="1">
                <a:solidFill>
                  <a:srgbClr val="F7F8FA"/>
                </a:solidFill>
              </a:rPr>
              <a:t>Leadership decision requested: sponsor the contained pilot and the required owner participation.</a:t>
            </a:r>
          </a:p>
        </p:txBody>
      </p:sp>
    </p:spTree>
    <p:extLst>
      <p:ext uri="{BB962C8B-B14F-4D97-AF65-F5344CB8AC3E}">
        <p14:creationId xmlns:p14="http://schemas.microsoft.com/office/powerpoint/2010/main" val="2099191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2026-07-18T03:14:55.0560000Z</dcterms:created>
  <dcterms:modified xsi:type="dcterms:W3CDTF">2026-07-18T03:14:55.0560000Z</dcterms:modified>
</coreProperties>
</file>