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3a7bd1a5904883" /><Relationship Type="http://schemas.openxmlformats.org/officeDocument/2006/relationships/extended-properties" Target="/docProps/app.xml" Id="R718d2a14331249e5" /><Relationship Type="http://schemas.openxmlformats.org/officeDocument/2006/relationships/officeDocument" Target="/ppt/presentation.xml" Id="Rf5d8b48d4ea045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7d6fa71ad74286"/>
  </p:sldMasterIdLst>
  <p:notesMasterIdLst>
    <p:notesMasterId xmlns:r="http://schemas.openxmlformats.org/officeDocument/2006/relationships" r:id="R4e999dab86ac4a7a"/>
  </p:notesMasterIdLst>
  <p:sldIdLst>
    <p:sldId xmlns:r="http://schemas.openxmlformats.org/officeDocument/2006/relationships" id="256" r:id="R1e1c0f91d9e74026"/>
    <p:sldId xmlns:r="http://schemas.openxmlformats.org/officeDocument/2006/relationships" id="257" r:id="R6b72c54d9da04492"/>
    <p:sldId xmlns:r="http://schemas.openxmlformats.org/officeDocument/2006/relationships" id="258" r:id="Rc9f8adc2e81c442b"/>
    <p:sldId xmlns:r="http://schemas.openxmlformats.org/officeDocument/2006/relationships" id="259" r:id="Rae262b43bcb2488d"/>
    <p:sldId xmlns:r="http://schemas.openxmlformats.org/officeDocument/2006/relationships" id="260" r:id="R10a177b94e7144e1"/>
    <p:sldId xmlns:r="http://schemas.openxmlformats.org/officeDocument/2006/relationships" id="261" r:id="Rce4383f6e73042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6755909566433d" /><Relationship Type="http://schemas.openxmlformats.org/officeDocument/2006/relationships/slideMaster" Target="/ppt/slideMasters/slideMaster1.xml" Id="R287d6fa71ad74286" /><Relationship Type="http://schemas.openxmlformats.org/officeDocument/2006/relationships/notesMaster" Target="/ppt/notesMasters/notesMaster1.xml" Id="R4e999dab86ac4a7a" /><Relationship Type="http://schemas.openxmlformats.org/officeDocument/2006/relationships/presProps" Target="/ppt/presProps.xml" Id="R969c4dc92bf94b69" /><Relationship Type="http://schemas.openxmlformats.org/officeDocument/2006/relationships/tableStyles" Target="/ppt/tableStyles.xml" Id="R92a36d102d9d4426" /><Relationship Type="http://schemas.openxmlformats.org/officeDocument/2006/relationships/slide" Target="/ppt/slides/slide1.xml" Id="R1e1c0f91d9e74026" /><Relationship Type="http://schemas.openxmlformats.org/officeDocument/2006/relationships/slide" Target="/ppt/slides/slide2.xml" Id="R6b72c54d9da04492" /><Relationship Type="http://schemas.openxmlformats.org/officeDocument/2006/relationships/slide" Target="/ppt/slides/slide3.xml" Id="Rc9f8adc2e81c442b" /><Relationship Type="http://schemas.openxmlformats.org/officeDocument/2006/relationships/slide" Target="/ppt/slides/slide4.xml" Id="Rae262b43bcb2488d" /><Relationship Type="http://schemas.openxmlformats.org/officeDocument/2006/relationships/slide" Target="/ppt/slides/slide5.xml" Id="R10a177b94e7144e1" /><Relationship Type="http://schemas.openxmlformats.org/officeDocument/2006/relationships/slide" Target="/ppt/slides/slide6.xml" Id="Rce4383f6e73042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7d0cb3fa5b4a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58859931ea4708" /><Relationship Type="http://schemas.openxmlformats.org/officeDocument/2006/relationships/notesMaster" Target="/ppt/notesMasters/notesMaster1.xml" Id="Re9dfb06fc1d34a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b0a6761e9141e3" /><Relationship Type="http://schemas.openxmlformats.org/officeDocument/2006/relationships/notesMaster" Target="/ppt/notesMasters/notesMaster1.xml" Id="Rf915793175d240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dd8aa833ca4e30" /><Relationship Type="http://schemas.openxmlformats.org/officeDocument/2006/relationships/notesMaster" Target="/ppt/notesMasters/notesMaster1.xml" Id="R7a1bffb4d62649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9bcc56c30049a1" /><Relationship Type="http://schemas.openxmlformats.org/officeDocument/2006/relationships/notesMaster" Target="/ppt/notesMasters/notesMaster1.xml" Id="R6c866487bc1b46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b8e705d1d44168" /><Relationship Type="http://schemas.openxmlformats.org/officeDocument/2006/relationships/notesMaster" Target="/ppt/notesMasters/notesMaster1.xml" Id="Rb1a9e059749c42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ae000e082b4b7e" /><Relationship Type="http://schemas.openxmlformats.org/officeDocument/2006/relationships/notesMaster" Target="/ppt/notesMasters/notesMaster1.xml" Id="R1fc6953bfa8840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71638654b49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f8dc5e084e4721" /><Relationship Type="http://schemas.openxmlformats.org/officeDocument/2006/relationships/slideLayout" Target="/ppt/slideLayouts/slideLayout1.xml" Id="Re9bb6be45ca343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bb6be45ca343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9432f3b8e455f" /><Relationship Type="http://schemas.openxmlformats.org/officeDocument/2006/relationships/notesSlide" Target="/ppt/notesSlides/notesSlide1.xml" Id="R5d13c7fd052249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2611a2876439a" /><Relationship Type="http://schemas.openxmlformats.org/officeDocument/2006/relationships/notesSlide" Target="/ppt/notesSlides/notesSlide2.xml" Id="Rab1287f98215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d259759e344a9" /><Relationship Type="http://schemas.openxmlformats.org/officeDocument/2006/relationships/notesSlide" Target="/ppt/notesSlides/notesSlide3.xml" Id="Red2ffe6fbd3b42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776cbd465486d" /><Relationship Type="http://schemas.openxmlformats.org/officeDocument/2006/relationships/notesSlide" Target="/ppt/notesSlides/notesSlide4.xml" Id="R8cd02ee73bd342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d240bbeaa4aee" /><Relationship Type="http://schemas.openxmlformats.org/officeDocument/2006/relationships/notesSlide" Target="/ppt/notesSlides/notesSlide5.xml" Id="R128f9e3a205c4c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686bc2cc34e30" /><Relationship Type="http://schemas.openxmlformats.org/officeDocument/2006/relationships/notesSlide" Target="/ppt/notesSlides/notesSlide6.xml" Id="R086852ba1c674a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1DEC6-C7D3-4715-B3D4-D246685E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D1742-2C8D-463C-8EAC-0329408B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A46EF-D415-49B6-A70C-5B063A02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</a:defRPr>
            </a:pPr>
            <a:r>
              <a:rPr sz="1125" b="1">
                <a:solidFill>
                  <a:srgbClr val="FF7A00"/>
                </a:solidFill>
              </a:rPr>
              <a:t>SERVER BUILD AUTOMATION MODERNIZATION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43A8B-9E56-4704-923F-57382D87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04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8FA"/>
                </a:solidFill>
              </a:defRPr>
            </a:pPr>
            <a:r>
              <a:rPr sz="4200" b="1">
                <a:solidFill>
                  <a:srgbClr val="F7F8FA"/>
                </a:solidFill>
              </a:rPr>
              <a:t>Make execution</a:t>
            </a:r>
          </a:p>
          <a:p xmlns:a="http://schemas.openxmlformats.org/drawingml/2006/main">
            <a:pPr algn="l">
              <a:defRPr sz="4200" b="1">
                <a:solidFill>
                  <a:srgbClr val="F7F8FA"/>
                </a:solidFill>
              </a:defRPr>
            </a:pPr>
            <a:r>
              <a:rPr sz="4200" b="1">
                <a:solidFill>
                  <a:srgbClr val="F7F8FA"/>
                </a:solidFill>
              </a:rPr>
              <a:t>ownership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BEFB9-904D-4B27-BDF1-4B1B17C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704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3C0"/>
                </a:solidFill>
              </a:defRPr>
            </a:pPr>
            <a:r>
              <a:rPr sz="1650" b="0">
                <a:solidFill>
                  <a:srgbClr val="AAB3C0"/>
                </a:solidFill>
              </a:rPr>
              <a:t>Architecture discussion: current anti-patterns, governed execution, and safer VMware provisioning.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ED857-3590-4ACD-8E08-7EAF8789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3048000" cy="306705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9368A-DD9D-4C9D-9814-AA439C52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1452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CB906-42B6-48A2-8A7F-CFC8C2F2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DISCUSSION LENSES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33F6C-46F6-4B12-9AED-0C4D0D34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00"/>
                </a:solidFill>
              </a:defRPr>
            </a:pPr>
            <a:r>
              <a:rPr sz="900" b="1">
                <a:solidFill>
                  <a:srgbClr val="FF7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1CAD7-8366-45FE-A8D0-CA0AB1F3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Execution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28857-A871-4F2C-A2DB-DC14B547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00391-BDDE-417D-9A41-49DCDCB9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Durable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1E51A-CA1F-454D-A9CA-53E47011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00"/>
                </a:solidFill>
              </a:defRPr>
            </a:pPr>
            <a:r>
              <a:rPr sz="900" b="1">
                <a:solidFill>
                  <a:srgbClr val="FF7A00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6F347-A008-4473-849B-89E5FB9B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95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Network reach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FA2D6-790A-4C6B-81DF-FEE33DD9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0CE70-680B-4B40-9C26-CD1E3744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71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Provisioning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1A9FD-824C-43B9-AABA-95306D23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ARCHITECTURE DISCUSSION</a:t>
            </a:r>
          </a:p>
        </p:txBody>
      </p:sp>
    </p:spTree>
    <p:extLst>
      <p:ext uri="{BB962C8B-B14F-4D97-AF65-F5344CB8AC3E}">
        <p14:creationId xmlns:p14="http://schemas.microsoft.com/office/powerpoint/2010/main" val="399972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43BE37-F277-4CC0-A01B-1C862ED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882F8-556B-47E3-B987-FF1C3E0B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D66"/>
                </a:solidFill>
              </a:defRPr>
            </a:pPr>
            <a:r>
              <a:rPr sz="975" b="1">
                <a:solidFill>
                  <a:srgbClr val="FF5D66"/>
                </a:solidFill>
              </a:rPr>
              <a:t>CURRENT EXECUTION ANTI-PATTERN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B06EF-B46C-42A7-A068-C35A6FE1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2F820-65B5-4656-AC4C-90F3BA99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3D2F4-7EAF-4A22-B325-0290CA5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AAP launches the work—but no longer owns the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A0EE0-E634-4543-A019-2AA6DB21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4C2E7-4F96-4A33-9E69-8544B5CE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 local job becomes a relay to a persistent shadow control node.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72126-FBBC-4A1A-B0AF-99E5CEDA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002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54933-21FF-4069-B223-BFE62645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" cy="895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5F644-F6E1-4200-B146-765EECAA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AAP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F827D-5D23-4BC7-B3FF-BD982A55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job template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AEC89-DB2D-47B4-BC66-F8D53EF6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20955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904D1-3A18-462A-B50C-4C529A43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66675" cy="895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30C61-0AA7-4DA6-9C0F-8242F55A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337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EE / LOCALHOST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C2336-5C4B-4775-9030-F5765866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575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ephemeral launcher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F8CC4-4AA0-414B-B778-7C1B20C9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81300"/>
            <a:ext cx="2190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20C5D-852C-486B-92F1-1972F360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81300"/>
            <a:ext cx="66675" cy="895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B96C9-E38A-4DD3-89DE-A172CEDD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337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SHADOW BASTION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35AF5-AAD0-4F91-9239-77167295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persistent scripts +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4B22C-B358-4973-8788-DE9D15CD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28575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2F65D-38EC-428F-ADFA-85A55A6B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66675" cy="895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ADBD1-C1E9-4891-862C-A69A334B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337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PROVIDERS + HOSTS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BFAAD9-46B0-46F8-BD36-81CF7F95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VMware • inventory • servers</a:t>
            </a:r>
          </a:p>
        </p:txBody>
      </p:sp>
      <p:cxnSp>
        <p:nvCxnSpPr>
          <p:cNvPr id="5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86050" y="32289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238750" y="32289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D66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886700" y="32289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D66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99D90-EA36-456B-BD68-3ABA0EBE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238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301539-D8F1-4C98-ADDA-C0232639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D66"/>
                </a:solidFill>
              </a:defRPr>
            </a:pPr>
            <a:r>
              <a:rPr sz="975" b="1">
                <a:solidFill>
                  <a:srgbClr val="FF5D66"/>
                </a:solidFill>
              </a:rPr>
              <a:t>HIDDEN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A450F-FD16-4695-9902-010CC06A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Dependencies, working files, and retry context live outside the managed job.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791E80-2CF9-4218-BE21-E241C9C9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3238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B25A28-BA69-4B39-8BD6-6302A408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67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D66"/>
                </a:solidFill>
              </a:defRPr>
            </a:pPr>
            <a:r>
              <a:rPr sz="975" b="1">
                <a:solidFill>
                  <a:srgbClr val="FF5D66"/>
                </a:solidFill>
              </a:rPr>
              <a:t>WEAK BOUNDARIES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2A6E8A-5CA1-433D-937D-2F2FA498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911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Inventory, credentials, targeting, and network reach become harder to govern centrally.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F69FEE-C92E-4BEB-AAE1-9F3123DC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238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769B71-9E88-4B66-9248-647EC292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D66"/>
                </a:solidFill>
              </a:defRPr>
            </a:pPr>
            <a:r>
              <a:rPr sz="975" b="1">
                <a:solidFill>
                  <a:srgbClr val="FF5D66"/>
                </a:solidFill>
              </a:rPr>
              <a:t>LARGE FAILURE DOMAIN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6B0810-CB79-41A5-BBA2-C4F483C0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911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A monolithic playbook obscures phase ownership and makes recovery brittle.</a:t>
            </a:r>
          </a:p>
        </p:txBody>
      </p:sp>
    </p:spTree>
    <p:extLst>
      <p:ext uri="{BB962C8B-B14F-4D97-AF65-F5344CB8AC3E}">
        <p14:creationId xmlns:p14="http://schemas.microsoft.com/office/powerpoint/2010/main" val="101876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7B561-9426-4772-9F7B-FD6E351E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C0575-F13F-49A5-9100-0F31B8D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ARCHITECTURE DISTINCTION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D96F5-2A2F-4C7F-A41C-3F8A7F0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FFD4E-3B90-4975-AA47-F85B184F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A3F1E-EAE8-466E-AB67-E5B6BB4A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Local execution is valid. Hidden ownership is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69FDD-F966-4515-A0F4-E95A50AD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AFB10-698D-4B6A-BCAC-1B9A52A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Judge the boundary by where dependencies, credentials, state, targeting, and evidence are managed.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27F50-7D86-4BD0-A690-F68B3107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0673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4FD1A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54435-E78E-402D-9733-3E36A1AF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4322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93CD2-8803-4C73-BA6D-83684B35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D1A1"/>
                </a:solidFill>
              </a:defRPr>
            </a:pPr>
            <a:r>
              <a:rPr sz="975" b="1">
                <a:solidFill>
                  <a:srgbClr val="4FD1A1"/>
                </a:solidFill>
              </a:rPr>
              <a:t>MANAGED LOCAL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FDF0E-8A9A-4467-B7B0-5FA0DD2E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A"/>
                </a:solidFill>
              </a:defRPr>
            </a:pPr>
            <a:r>
              <a:rPr sz="1875" b="1">
                <a:solidFill>
                  <a:srgbClr val="F7F8FA"/>
                </a:solidFill>
              </a:rPr>
              <a:t>A good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1E925-7C87-4696-B85F-F4DE608D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419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• API or cloud modules run inside the execution environment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• Dependencies are built into the EE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• Controller credentials and job settings are used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• Results return to the AAP job and durable artifact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E2907-2486-47B3-B143-57DC75FA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50673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FF5D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79DF2-49E2-40A3-BD17-E80309E9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4322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61788-52C7-42CD-9066-0F66CD4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D66"/>
                </a:solidFill>
              </a:defRPr>
            </a:pPr>
            <a:r>
              <a:rPr sz="975" b="1">
                <a:solidFill>
                  <a:srgbClr val="FF5D66"/>
                </a:solidFill>
              </a:rPr>
              <a:t>SHADOW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5C49E-0007-4160-B259-BF0BA5CE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71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8FA"/>
                </a:solidFill>
              </a:defRPr>
            </a:pPr>
            <a:r>
              <a:rPr sz="1875" b="1">
                <a:solidFill>
                  <a:srgbClr val="F7F8FA"/>
                </a:solidFill>
              </a:rPr>
              <a:t>The anti-pattern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86163-1260-4175-AFF0-51A08A79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67150"/>
            <a:ext cx="419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• The EE SSHes to a persistent launcher host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• The launcher owns libraries, scripts, and working state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• A monolith spans unrelated phases and targets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• AAP records only the outer job, not the true execution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946B0-4CF6-406E-A75A-BA3C6B3C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586"/>
                </a:solidFill>
              </a:defRPr>
            </a:pPr>
            <a:r>
              <a:rPr sz="975" b="0">
                <a:solidFill>
                  <a:srgbClr val="697586"/>
                </a:solidFill>
              </a:rPr>
              <a:t>Architecture basis: Red Hat AAP jobs, job templates, execution environments, credentials, and automation mesh.</a:t>
            </a:r>
          </a:p>
        </p:txBody>
      </p:sp>
    </p:spTree>
    <p:extLst>
      <p:ext uri="{BB962C8B-B14F-4D97-AF65-F5344CB8AC3E}">
        <p14:creationId xmlns:p14="http://schemas.microsoft.com/office/powerpoint/2010/main" val="631086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00BF9F-00E1-4278-A304-068A0087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6CC0B-5AC8-4F9B-90C6-6DA90D07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D1A1"/>
                </a:solidFill>
              </a:defRPr>
            </a:pPr>
            <a:r>
              <a:rPr sz="975" b="1">
                <a:solidFill>
                  <a:srgbClr val="4FD1A1"/>
                </a:solidFill>
              </a:rPr>
              <a:t>TARGET EXECUTION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4C8C2-5ED9-4922-A547-24EC67D3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F8334-B11B-44E2-A922-4972561F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64349-6133-4A96-9FFE-BA0EF6CD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Keep execution inside governed AAP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9ACA5-27E0-4520-9272-7805A46A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83BC9-826B-405B-9EFF-DB9E7CD0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Execution environments carry dependencies; automation mesh places work near segmented targets.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E8920-D4C1-44E7-A55F-F3894EF5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8097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031A7-8C37-4E05-9039-6027D1FC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5D2C9-AC38-4A90-B76F-3F52DADB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REQUEST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37F6B-39BC-46EA-8BE0-1E4791C2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request + revision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077F2-6BDB-4503-888A-9EB02DD4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20002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E0B39-09E0-483A-8F55-D9254CC8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989B4-1CC2-4A74-A76B-B41BEF64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765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AAP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76CD1-C6E6-4444-A74F-673B1822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004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short phase jobs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81ABF-9997-4697-91A3-A55BB3B1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2286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050B4-35F1-42DC-8C48-25A4C219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AB294-903C-4F8E-AD20-9ABC9424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193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EE LOCAL API JOB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7DCEE-9E07-4009-BE88-7045469F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VMware / IPAM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CEBAA-ACD4-4496-94FD-707A6B55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2286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A23D9-9F25-4311-BCAE-ECE418A3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A2551-2824-4B5A-8BE8-0608E78B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38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MESH EXECUTION NODE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45E24-02EF-4694-85B6-FCD11770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624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segmented network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F215B-9DAB-48C2-B7FA-FC1D4551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2381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9F292A-3AD8-4907-9BC2-962DFB4A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66675" cy="9525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55F981-F297-4C33-99E0-15640C56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289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MANAGED TARGETS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672224-F4D7-4DC2-80A5-6AD8C93C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528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providers + servers</a:t>
            </a:r>
          </a:p>
        </p:txBody>
      </p:sp>
      <p:cxnSp>
        <p:nvCxnSpPr>
          <p:cNvPr id="6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95550" y="31337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4953000" y="2676525"/>
            <a:ext cx="857250" cy="457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2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953000" y="3133725"/>
            <a:ext cx="85725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1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096250" y="2676525"/>
            <a:ext cx="91440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8096250" y="3352800"/>
            <a:ext cx="914400" cy="542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449F4E-8346-4E4A-88A3-313EE9AA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95850"/>
            <a:ext cx="5143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1A71FE-2DC9-4944-8F7B-ADC571F0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95850"/>
            <a:ext cx="66675" cy="7620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04ED13-D025-45E4-B74B-7A60E19D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48250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MANIFEST + EVIDENCE STORE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635E51-98BF-4662-976F-75CEC234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72100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approved intent • revision • blockers • provider results</a:t>
            </a:r>
          </a:p>
        </p:txBody>
      </p:sp>
      <p:cxnSp>
        <p:nvCxnSpPr>
          <p:cNvPr id="75" name=""/>
          <p:cNvCxnSpPr>
            <a:stCxn xmlns:a="http://schemas.openxmlformats.org/drawingml/2006/main" id="1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952875" y="3543300"/>
            <a:ext cx="1571625" cy="1352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611D0C-D620-42C1-BFD9-2CB95DFB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958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The platform sees the job, runtime, credentials, inventory, execution placement, outcome, and resume point.</a:t>
            </a:r>
          </a:p>
        </p:txBody>
      </p:sp>
    </p:spTree>
    <p:extLst>
      <p:ext uri="{BB962C8B-B14F-4D97-AF65-F5344CB8AC3E}">
        <p14:creationId xmlns:p14="http://schemas.microsoft.com/office/powerpoint/2010/main" val="253828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05FE46-3530-424F-8F62-DFA25D18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E93B0-EEA5-4E2D-A279-C407B42F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D66"/>
                </a:solidFill>
              </a:defRPr>
            </a:pPr>
            <a:r>
              <a:rPr sz="975" b="1">
                <a:solidFill>
                  <a:srgbClr val="FF5D66"/>
                </a:solidFill>
              </a:rPr>
              <a:t>CURRENT PROVISIONING ANTI-PATTERN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057B0-F4A3-43E9-A6EB-D513661E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41F6F-1E3C-4D19-9C84-A7598FBD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B8FFC-F996-4F79-89A5-53C78FFD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Temporary staging becomes a production dependency.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EFEC4-10C9-4D2F-91EB-DE376FAC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8593C-97D0-47D1-8A9B-7DFC5993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The build starts before final placement and network intent are ready.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0A300-2D84-4AF1-A5B1-D2A8D995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14650"/>
            <a:ext cx="15811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E6922-AFA0-4C15-8505-3B632362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14650"/>
            <a:ext cx="66675" cy="895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8C390-0666-4B46-8EBB-1D6ABD6D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4D083-FECC-4B01-87A0-A8BB1FFC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request accepted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AD110-04E6-474A-8821-3E359F39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14650"/>
            <a:ext cx="15811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8AF6B-C9D6-4F27-B6A4-C139E03B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14650"/>
            <a:ext cx="66675" cy="895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1F0D6-63FE-445D-969A-7234BFEE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670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TEMP 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2ED03-418C-4277-8ECE-D866FE7C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909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interim network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5C85E-D270-4C2F-A714-AD91FE3A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5811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7D7A3-5C01-4307-9676-9F0BB3AF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" cy="895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E47DE-7A39-489E-9D58-C5845D2D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STAGING VM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5C066-79E0-4624-B1D3-4B259B6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sandbox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3CB73-34C1-45C0-8977-CAB7465C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15811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31613-FA91-48DB-A177-83DCA6CC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66675" cy="895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B5A53-2CC2-4544-9495-4E0901AC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WAIT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6F350-20B8-4F90-A7DE-471A32D1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manual fulfillment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6EF50-9C43-4EB4-9D15-4DC7EF35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15811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0F53B1-8639-4564-9AFF-9F11A1D5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66675" cy="895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D9456-75BE-425D-990D-C688669F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READDRESS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E8DBBE-463F-4E4F-8745-D71B574D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IP + cluster move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9A2A92-E6E3-4EE5-9DA4-D97B6E60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14650"/>
            <a:ext cx="15811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C6CF7B-79EB-46D0-8CBB-283ED39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14650"/>
            <a:ext cx="66675" cy="895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D266B6-A9BD-42B7-9F2E-DA50BC3E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670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HANDOFF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10D8F5-2E3E-40F6-8790-35A2A095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909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target state</a:t>
            </a:r>
          </a:p>
        </p:txBody>
      </p:sp>
      <p:cxnSp>
        <p:nvCxnSpPr>
          <p:cNvPr id="7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019300" y="3362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962400" y="3362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D66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905500" y="3362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D66"/>
            </a:solidFill>
            <a:prstDash val="solid"/>
            <a:tailEnd type="arrow" w="med" len="med"/>
          </a:ln>
        </p:spPr>
      </p:cxnSp>
      <p:cxnSp>
        <p:nvCxnSpPr>
          <p:cNvPr id="73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848600" y="3362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74" name="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791700" y="3362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D66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956FE8-7292-4E40-BD7E-B17F27DF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94107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F521B0-267F-4B56-A5EE-E54C158A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14900"/>
            <a:ext cx="868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One patch, network change, or staging-cluster failure can stop every build because the temporary path is part of the production process.</a:t>
            </a:r>
          </a:p>
        </p:txBody>
      </p:sp>
    </p:spTree>
    <p:extLst>
      <p:ext uri="{BB962C8B-B14F-4D97-AF65-F5344CB8AC3E}">
        <p14:creationId xmlns:p14="http://schemas.microsoft.com/office/powerpoint/2010/main" val="1759414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593382-E45E-4188-BB67-A1948C57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1182F-7C2E-4DF2-B751-E9B08AF1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TARGET PROVISIONING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C9C21-070C-487B-A08E-1D9726CA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ABD37-9D62-4A32-B1DB-C9FD917D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A76BA-0E96-4F0B-9C6A-7CF90E42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Create the manifest early. Create the VM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D342B-A143-4E16-8BBF-FCD528E8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7574A-E678-473B-A87C-A6FFD874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 blocked request is durable data—not a half-built server by default.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E35C7-0331-4892-B78E-81FD7597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000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7C7DA-7F4C-4C76-B756-900BB767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58B8B-87CE-47D1-9CAB-9C42907F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54F93-11F2-4C48-8917-D4F4C78C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request + manifest revision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86EC2-45AC-4A52-B32A-E877B97C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000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682BC-7343-4BAB-B1D5-A6216485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9ABAF-2C76-491F-A9D5-A57B040E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956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READINESS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60F14-10F0-4DFE-8806-E2AA7A79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194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final network + placement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C39C1-569B-4977-9D2C-6111FE9F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286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1036D-4185-4504-AB9F-9F747FBD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EBDAB-F06E-4927-B0E1-13ADA84A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TARGET PROVISION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E17BE-AAED-4D9B-B049-32038DD3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cluster • network • 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5ED81-304E-4859-A5E6-3D8A397C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21336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24960-D8FF-4359-948B-4000292F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F417F-678D-4038-83D9-74A93EE3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193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HANDOFF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0AAEA-EE98-48C6-8744-FE8B114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432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OS + integrations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9B61A-AEB3-4E1F-AE07-42D1B92F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2286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220EF2-AC74-4FB5-BE45-34A923DC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335C6-099D-4B56-AEB4-D10035E0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624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BLOCKED ARTIFACT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D9BA9-3A69-4DE3-9D51-8437A04F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862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owner + safe state + resume</a:t>
            </a:r>
          </a:p>
        </p:txBody>
      </p:sp>
      <p:cxnSp>
        <p:nvCxnSpPr>
          <p:cNvPr id="6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86050" y="31623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5276850" y="2686050"/>
            <a:ext cx="129540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858250" y="26860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1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276850" y="3162300"/>
            <a:ext cx="1295400" cy="1066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5D66"/>
            </a:solidFill>
            <a:prstDash val="solid"/>
            <a:tailEnd type="arrow" w="med" len="med"/>
          </a:ln>
        </p:spPr>
      </p:cxnSp>
      <p:cxnSp>
        <p:nvCxnSpPr>
          <p:cNvPr id="73" name=""/>
          <p:cNvCxnSpPr>
            <a:stCxn xmlns:a="http://schemas.openxmlformats.org/drawingml/2006/main" id="24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4276725" y="3581400"/>
            <a:ext cx="2295525" cy="6477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697586"/>
            </a:solidFill>
            <a:prstDash val="dash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F5792C-F561-4CBF-BF0A-3C9A0B1C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00"/>
                </a:solidFill>
              </a:defRPr>
            </a:pPr>
            <a:r>
              <a:rPr sz="1200" b="1">
                <a:solidFill>
                  <a:srgbClr val="FF7A00"/>
                </a:solidFill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EC0B77-9B5B-4A0C-8F4A-85E5CBBD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Inventory the hidden dependencies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43CFE1-9EC4-4EF3-8A1A-E40910D5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149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A9FF"/>
                </a:solidFill>
              </a:defRPr>
            </a:pPr>
            <a:r>
              <a:rPr sz="1200" b="1">
                <a:solidFill>
                  <a:srgbClr val="39A9FF"/>
                </a:solidFill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23638E-5AF1-41F4-943E-9ADD663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768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Extract lifecycle phase boundaries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D59F64-B6C8-42A6-8328-27DB7F6A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00"/>
                </a:solidFill>
              </a:defRPr>
            </a:pPr>
            <a:r>
              <a:rPr sz="1200" b="1">
                <a:solidFill>
                  <a:srgbClr val="FF7A00"/>
                </a:solidFill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4243D2-3310-4CE6-8467-BDE6D3EE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768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Externalize state and 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6F78C1-896B-4EB8-B479-35DCF854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149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A9FF"/>
                </a:solidFill>
              </a:defRPr>
            </a:pPr>
            <a:r>
              <a:rPr sz="1200" b="1">
                <a:solidFill>
                  <a:srgbClr val="39A9F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7D859F-8C74-4AB0-B319-6710AC76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768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Pilot one governed workflow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412AF5-D7BE-4AA6-9852-98023C7B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3C0"/>
                </a:solidFill>
              </a:defRPr>
            </a:pPr>
            <a:r>
              <a:rPr sz="1200" b="0">
                <a:solidFill>
                  <a:srgbClr val="AAB3C0"/>
                </a:solidFill>
              </a:rPr>
              <a:t>If a holding VM is unavoidable, make it an explicit governed state with isolation, expiry, cleanup, ownership, and tested relocation behavior.</a:t>
            </a:r>
          </a:p>
        </p:txBody>
      </p:sp>
    </p:spTree>
    <p:extLst>
      <p:ext uri="{BB962C8B-B14F-4D97-AF65-F5344CB8AC3E}">
        <p14:creationId xmlns:p14="http://schemas.microsoft.com/office/powerpoint/2010/main" val="1936430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2026-07-18T03:14:56.6090000Z</dcterms:created>
  <dcterms:modified xsi:type="dcterms:W3CDTF">2026-07-18T03:14:56.6090000Z</dcterms:modified>
</coreProperties>
</file>