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a2b009291b4c59" /><Relationship Type="http://schemas.openxmlformats.org/officeDocument/2006/relationships/extended-properties" Target="/docProps/app.xml" Id="R879aa25cc9cb4790" /><Relationship Type="http://schemas.openxmlformats.org/officeDocument/2006/relationships/officeDocument" Target="/ppt/presentation.xml" Id="R8adb90ef17f742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9cc2a23432446d"/>
  </p:sldMasterIdLst>
  <p:notesMasterIdLst>
    <p:notesMasterId xmlns:r="http://schemas.openxmlformats.org/officeDocument/2006/relationships" r:id="R8c48ef29b0844bfc"/>
  </p:notesMasterIdLst>
  <p:sldIdLst>
    <p:sldId xmlns:r="http://schemas.openxmlformats.org/officeDocument/2006/relationships" id="256" r:id="R7b74221406ff407f"/>
    <p:sldId xmlns:r="http://schemas.openxmlformats.org/officeDocument/2006/relationships" id="257" r:id="Rb32352a9b35b468c"/>
    <p:sldId xmlns:r="http://schemas.openxmlformats.org/officeDocument/2006/relationships" id="258" r:id="R35b923ef184a4bbf"/>
    <p:sldId xmlns:r="http://schemas.openxmlformats.org/officeDocument/2006/relationships" id="259" r:id="Rf207c472d2814dea"/>
    <p:sldId xmlns:r="http://schemas.openxmlformats.org/officeDocument/2006/relationships" id="260" r:id="Rb109397277ef4b54"/>
    <p:sldId xmlns:r="http://schemas.openxmlformats.org/officeDocument/2006/relationships" id="261" r:id="R2e2ac6f2298b4d41"/>
    <p:sldId xmlns:r="http://schemas.openxmlformats.org/officeDocument/2006/relationships" id="262" r:id="R898be6a6623f4cb2"/>
    <p:sldId xmlns:r="http://schemas.openxmlformats.org/officeDocument/2006/relationships" id="263" r:id="R6d5873d160204ac3"/>
    <p:sldId xmlns:r="http://schemas.openxmlformats.org/officeDocument/2006/relationships" id="264" r:id="R95fb7354e02c4e1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e41876443e4492" /><Relationship Type="http://schemas.openxmlformats.org/officeDocument/2006/relationships/slideMaster" Target="/ppt/slideMasters/slideMaster1.xml" Id="R3d9cc2a23432446d" /><Relationship Type="http://schemas.openxmlformats.org/officeDocument/2006/relationships/notesMaster" Target="/ppt/notesMasters/notesMaster1.xml" Id="R8c48ef29b0844bfc" /><Relationship Type="http://schemas.openxmlformats.org/officeDocument/2006/relationships/presProps" Target="/ppt/presProps.xml" Id="R43f043e627064009" /><Relationship Type="http://schemas.openxmlformats.org/officeDocument/2006/relationships/tableStyles" Target="/ppt/tableStyles.xml" Id="Ra9b8a0b4f9ee4b43" /><Relationship Type="http://schemas.openxmlformats.org/officeDocument/2006/relationships/slide" Target="/ppt/slides/slide1.xml" Id="R7b74221406ff407f" /><Relationship Type="http://schemas.openxmlformats.org/officeDocument/2006/relationships/slide" Target="/ppt/slides/slide2.xml" Id="Rb32352a9b35b468c" /><Relationship Type="http://schemas.openxmlformats.org/officeDocument/2006/relationships/slide" Target="/ppt/slides/slide3.xml" Id="R35b923ef184a4bbf" /><Relationship Type="http://schemas.openxmlformats.org/officeDocument/2006/relationships/slide" Target="/ppt/slides/slide4.xml" Id="Rf207c472d2814dea" /><Relationship Type="http://schemas.openxmlformats.org/officeDocument/2006/relationships/slide" Target="/ppt/slides/slide5.xml" Id="Rb109397277ef4b54" /><Relationship Type="http://schemas.openxmlformats.org/officeDocument/2006/relationships/slide" Target="/ppt/slides/slide6.xml" Id="R2e2ac6f2298b4d41" /><Relationship Type="http://schemas.openxmlformats.org/officeDocument/2006/relationships/slide" Target="/ppt/slides/slide7.xml" Id="R898be6a6623f4cb2" /><Relationship Type="http://schemas.openxmlformats.org/officeDocument/2006/relationships/slide" Target="/ppt/slides/slide8.xml" Id="R6d5873d160204ac3" /><Relationship Type="http://schemas.openxmlformats.org/officeDocument/2006/relationships/slide" Target="/ppt/slides/slide9.xml" Id="R95fb7354e02c4e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513207189745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8ffa0ab52884a35" /><Relationship Type="http://schemas.openxmlformats.org/officeDocument/2006/relationships/notesMaster" Target="/ppt/notesMasters/notesMaster1.xml" Id="R0ba93a8361b14c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c387bb64a94623" /><Relationship Type="http://schemas.openxmlformats.org/officeDocument/2006/relationships/notesMaster" Target="/ppt/notesMasters/notesMaster1.xml" Id="R3307cef9d1854a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4b5191f6464be9" /><Relationship Type="http://schemas.openxmlformats.org/officeDocument/2006/relationships/notesMaster" Target="/ppt/notesMasters/notesMaster1.xml" Id="R976a24c218ce41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c80e8111f34bbe" /><Relationship Type="http://schemas.openxmlformats.org/officeDocument/2006/relationships/notesMaster" Target="/ppt/notesMasters/notesMaster1.xml" Id="Rcc534522c86b4f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89441c33684560" /><Relationship Type="http://schemas.openxmlformats.org/officeDocument/2006/relationships/notesMaster" Target="/ppt/notesMasters/notesMaster1.xml" Id="Raf8ede5f865d44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c9c4cfd1f04fcd" /><Relationship Type="http://schemas.openxmlformats.org/officeDocument/2006/relationships/notesMaster" Target="/ppt/notesMasters/notesMaster1.xml" Id="R61dd7ef221cd47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79bff4d5ba4f18" /><Relationship Type="http://schemas.openxmlformats.org/officeDocument/2006/relationships/notesMaster" Target="/ppt/notesMasters/notesMaster1.xml" Id="Rf3a62129a2ca47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8d37257c6542a2" /><Relationship Type="http://schemas.openxmlformats.org/officeDocument/2006/relationships/notesMaster" Target="/ppt/notesMasters/notesMaster1.xml" Id="Rcd35df999ae242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1518fac9a64865" /><Relationship Type="http://schemas.openxmlformats.org/officeDocument/2006/relationships/notesMaster" Target="/ppt/notesMasters/notesMaster1.xml" Id="R05b31e7392d54b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99bffd9ed4b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523e90d78640a0" /><Relationship Type="http://schemas.openxmlformats.org/officeDocument/2006/relationships/slideLayout" Target="/ppt/slideLayouts/slideLayout1.xml" Id="Reb95a8e0472347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95a8e0472347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4387a903f4b89" /><Relationship Type="http://schemas.openxmlformats.org/officeDocument/2006/relationships/notesSlide" Target="/ppt/notesSlides/notesSlide1.xml" Id="Rd71c6d855905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b2da0bd0c4ec0" /><Relationship Type="http://schemas.openxmlformats.org/officeDocument/2006/relationships/notesSlide" Target="/ppt/notesSlides/notesSlide2.xml" Id="Rf0870aca30a949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d243f8d854bbb" /><Relationship Type="http://schemas.openxmlformats.org/officeDocument/2006/relationships/notesSlide" Target="/ppt/notesSlides/notesSlide3.xml" Id="Rc3739ef81b9041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92653c15347a3" /><Relationship Type="http://schemas.openxmlformats.org/officeDocument/2006/relationships/notesSlide" Target="/ppt/notesSlides/notesSlide4.xml" Id="R6e8d8c09a62f41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23909f991143a6" /><Relationship Type="http://schemas.openxmlformats.org/officeDocument/2006/relationships/notesSlide" Target="/ppt/notesSlides/notesSlide5.xml" Id="Rb3a40bd336a941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16e0cc3b74dfd" /><Relationship Type="http://schemas.openxmlformats.org/officeDocument/2006/relationships/notesSlide" Target="/ppt/notesSlides/notesSlide6.xml" Id="R2fe53d681e634f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cc91a9e33413d" /><Relationship Type="http://schemas.openxmlformats.org/officeDocument/2006/relationships/notesSlide" Target="/ppt/notesSlides/notesSlide7.xml" Id="Rf55828f8f6a14b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de24f99924f3a" /><Relationship Type="http://schemas.openxmlformats.org/officeDocument/2006/relationships/notesSlide" Target="/ppt/notesSlides/notesSlide8.xml" Id="R263640d4719746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f3a3904394481" /><Relationship Type="http://schemas.openxmlformats.org/officeDocument/2006/relationships/notesSlide" Target="/ppt/notesSlides/notesSlide9.xml" Id="R1e4f15b6033e4d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3709E3-A3FE-4A31-AE47-BF253CF8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75140-62DE-4BE0-B99C-DF96D6EB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477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626D8-E1EA-41E2-9459-3200EE14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A9FF"/>
                </a:solidFill>
              </a:defRPr>
            </a:pPr>
            <a:r>
              <a:rPr sz="1125" b="1">
                <a:solidFill>
                  <a:srgbClr val="39A9FF"/>
                </a:solidFill>
              </a:rPr>
              <a:t>PIPELINE PLAYGROUND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4E387-166C-44A7-A86B-4BF1BD89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667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7F8FA"/>
                </a:solidFill>
              </a:defRPr>
            </a:pPr>
            <a:r>
              <a:rPr sz="4350" b="1">
                <a:solidFill>
                  <a:srgbClr val="F7F8FA"/>
                </a:solidFill>
              </a:rPr>
              <a:t>Engineering</a:t>
            </a:r>
          </a:p>
          <a:p xmlns:a="http://schemas.openxmlformats.org/drawingml/2006/main">
            <a:pPr algn="l">
              <a:defRPr sz="4350" b="1">
                <a:solidFill>
                  <a:srgbClr val="F7F8FA"/>
                </a:solidFill>
              </a:defRPr>
            </a:pPr>
            <a:r>
              <a:rPr sz="4350" b="1">
                <a:solidFill>
                  <a:srgbClr val="F7F8FA"/>
                </a:solidFill>
              </a:rPr>
              <a:t>walkthrough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41C386-2FF1-4323-8A30-58E78A20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AB3C0"/>
                </a:solidFill>
              </a:defRPr>
            </a:pPr>
            <a:r>
              <a:rPr sz="1725" b="0">
                <a:solidFill>
                  <a:srgbClr val="AAB3C0"/>
                </a:solidFill>
              </a:rPr>
              <a:t>Contracts, manifests, Ansible roles, AAP workflow boundaries, and local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2D4DA-92E2-411B-BC49-DBF6BACC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3143250" cy="3333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7525B-A8D3-4366-AFBE-8A15211F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19275"/>
            <a:ext cx="57150" cy="1809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C8799-824F-4FEC-B495-2F35E9DC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90700"/>
            <a:ext cx="2114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WALKTHROUGH PATH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1A633-8E0F-4D11-9B61-AA95066C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7A00"/>
                </a:solidFill>
              </a:defRPr>
            </a:pPr>
            <a:r>
              <a:rPr sz="900" b="1">
                <a:solidFill>
                  <a:srgbClr val="FF7A00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61DFFA-FE65-46AC-9F91-A27C3B31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28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approved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AF99D4-51A6-4E8E-9BF7-8F2FFECE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9A9FF"/>
                </a:solidFill>
              </a:defRPr>
            </a:pPr>
            <a:r>
              <a:rPr sz="900" b="1">
                <a:solidFill>
                  <a:srgbClr val="39A9FF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A68F85-B7E1-4BC9-BB3B-777A04E0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628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contract + mappings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96A4E6-7BFB-4339-89D0-2586DFDC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670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7A00"/>
                </a:solidFill>
              </a:defRPr>
            </a:pPr>
            <a:r>
              <a:rPr sz="900" b="1">
                <a:solidFill>
                  <a:srgbClr val="FF7A00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6A93D7-983D-475C-8250-D8CCAD98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28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manifest revisions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8F786-E5EA-4973-A611-3F872099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6710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9A9FF"/>
                </a:solidFill>
              </a:defRPr>
            </a:pPr>
            <a:r>
              <a:rPr sz="900" b="1">
                <a:solidFill>
                  <a:srgbClr val="39A9FF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95EC9-3899-44FD-B88A-1E696686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29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readiness gates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B0A13-AFD6-413D-9A12-2B2CB4DD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7A00"/>
                </a:solidFill>
              </a:defRPr>
            </a:pPr>
            <a:r>
              <a:rPr sz="900" b="1">
                <a:solidFill>
                  <a:srgbClr val="FF7A00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2CB6DE-594A-4971-8813-829FDD7D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29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Molecule + Podman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4BF64F-F631-4DCB-AAE2-6109C33A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6720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9A9FF"/>
                </a:solidFill>
              </a:defRPr>
            </a:pPr>
            <a:r>
              <a:rPr sz="900" b="1">
                <a:solidFill>
                  <a:srgbClr val="39A9FF"/>
                </a:solidFill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9E7445-FD4B-45DB-9B5A-2D193C0F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29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AAP promotion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E83A0-59A9-4C3A-8AFE-2AC81A4A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ENGINEERING DEMO</a:t>
            </a:r>
          </a:p>
        </p:txBody>
      </p:sp>
    </p:spTree>
    <p:extLst>
      <p:ext uri="{BB962C8B-B14F-4D97-AF65-F5344CB8AC3E}">
        <p14:creationId xmlns:p14="http://schemas.microsoft.com/office/powerpoint/2010/main" val="8552686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89E4A1-F885-4B64-A7F4-6E1C423B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C392C-59D2-423B-8B4B-01FFB44F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REPOSITORY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099AB-E2C1-4AA2-BC0C-DB8B3D91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CBA35-136A-4709-9E70-66F9B7CE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F2CCC9-4367-41AD-A55F-5D916522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E49BA-5893-49B3-8BB3-46148358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Four layers, explicit boundaries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0AD62-EEB1-4251-B08B-05C65C73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F591E0-C12A-4602-BBAB-33409A35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Most of the POC is provider-neutral; unavailable systems stay behind adapters.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24A95-8107-4B25-AC55-535812F7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9810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FF7A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CF73E-CA57-4382-9F6B-0BA4A5D1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43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00"/>
                </a:solidFill>
              </a:defRPr>
            </a:pPr>
            <a:r>
              <a:rPr sz="1125" b="1">
                <a:solidFill>
                  <a:srgbClr val="FF7A00"/>
                </a:solidFill>
              </a:rPr>
              <a:t>CONTRACT CATALOG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2A002-D2D4-42E2-B851-4B192B80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4320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schemas • ownership • mappings • examples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E44A9-4BCD-4303-BA2A-A79AACAC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52800"/>
            <a:ext cx="93535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39A9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B89692-6943-4A5F-B422-B0E2147C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A9FF"/>
                </a:solidFill>
              </a:defRPr>
            </a:pPr>
            <a:r>
              <a:rPr sz="1125" b="1">
                <a:solidFill>
                  <a:srgbClr val="39A9FF"/>
                </a:solidFill>
              </a:rPr>
              <a:t>LIFECYCLE ROLES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277773-88B2-4EA8-9B7F-1C9FB28C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create • assess • update • generate inputs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D7DA0-65D9-4B90-ABEF-B398CD11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88963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4FD1A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6AEDA4-3C57-4B93-85F2-02FEA8E1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29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FD1A1"/>
                </a:solidFill>
              </a:defRPr>
            </a:pPr>
            <a:r>
              <a:rPr sz="1125" b="1">
                <a:solidFill>
                  <a:srgbClr val="4FD1A1"/>
                </a:solidFill>
              </a:rPr>
              <a:t>PROVIDER ADAPTERS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4BC3C5-5FBA-4312-943A-E42F74FC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2910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VMware • Infoblox • S3 • CMDB discovery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CCB6C-5A32-4E3B-8F0E-21CB3F8D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38700"/>
            <a:ext cx="84391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FF7A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1494AE-BF84-42EB-923F-F6EB4593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720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00"/>
                </a:solidFill>
              </a:defRPr>
            </a:pPr>
            <a:r>
              <a:rPr sz="1125" b="1">
                <a:solidFill>
                  <a:srgbClr val="FF7A00"/>
                </a:solidFill>
              </a:rPr>
              <a:t>RUNTIME +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35277D-C31A-4F4A-B2D7-0899BD36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720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execution environment • Molecule • events • reports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3104B3-49FD-4C77-A2C1-45CB8199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Common lifecycle above; platform-specific implementation below.</a:t>
            </a:r>
          </a:p>
        </p:txBody>
      </p:sp>
    </p:spTree>
    <p:extLst>
      <p:ext uri="{BB962C8B-B14F-4D97-AF65-F5344CB8AC3E}">
        <p14:creationId xmlns:p14="http://schemas.microsoft.com/office/powerpoint/2010/main" val="6629775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54D3A3-4C3B-43A8-BCAD-8AEA30A4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C6D80-8D35-44B0-BC63-9DC12758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ARTIFACT CREATION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A3376-0E09-4D57-9B17-282D893F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C3E10-18A1-4B86-B934-C5502209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BC81DF-BF2A-4E62-A324-C671831B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E137E-C63A-483C-9877-B0375E76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Approved event → manifest revision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5BF36-D8AB-4E2F-BDBA-CAB90CD0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33AF2-7CC3-4076-AC4A-59B8B3E7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Creation requires only enough data to establish identity and provenance.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8EF8DE-47E9-4B09-A800-3FC1AA65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2571750" cy="1943100"/>
          </a:xfrm>
          <a:prstGeom xmlns:a="http://schemas.openxmlformats.org/drawingml/2006/main" prst="roundRect">
            <a:avLst>
              <a:gd name="adj" fmla="val 6863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EC493-A6DB-43E7-952C-F8EFA383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66675" cy="19431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51A1A-E794-4B8C-B5B9-DAE73237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APPROVED 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69DE50-1622-4762-8051-D4B490BD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81350"/>
            <a:ext cx="2209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request_id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approval reference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platform profile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supplied 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C6D80-8B02-4933-B7CF-60D0825A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05150"/>
            <a:ext cx="266700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DD2BAB-1038-4CE9-A31C-0171816E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05150"/>
            <a:ext cx="66675" cy="11430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B9B8FE-8E3A-456E-9650-7D7EF4C8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575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manifest_create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72694E-6DA8-472D-BDD4-A0E988B1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814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Validate • map • write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78791-777F-47F7-9F91-A1C1D8FC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05100"/>
            <a:ext cx="2571750" cy="1943100"/>
          </a:xfrm>
          <a:prstGeom xmlns:a="http://schemas.openxmlformats.org/drawingml/2006/main" prst="roundRect">
            <a:avLst>
              <a:gd name="adj" fmla="val 6863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D2D730-FCF2-4CC4-B6B8-BDDA5B87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05100"/>
            <a:ext cx="66675" cy="19431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A227DF-BF18-41BE-BE37-3D20F8DE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575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MANIFEST / REV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34699B-F0F9-4958-954A-3C0BAA22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81350"/>
            <a:ext cx="2209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approved intent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provenance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current phase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known blockers</a:t>
            </a:r>
          </a:p>
        </p:txBody>
      </p:sp>
      <p:cxnSp>
        <p:nvCxnSpPr>
          <p:cNvPr id="49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257550" y="3676650"/>
            <a:ext cx="150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50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7429500" y="3676650"/>
            <a:ext cx="150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5E1683-527B-4612-9C47-F4753123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2412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AB3C0"/>
                </a:solidFill>
              </a:defRPr>
            </a:pPr>
            <a:r>
              <a:rPr sz="1050" b="1">
                <a:solidFill>
                  <a:srgbClr val="AAB3C0"/>
                </a:solidFill>
              </a:rPr>
              <a:t>contract.yaml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6020A7-D9C1-4C03-8014-72653B4F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52412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AAB3C0"/>
                </a:solidFill>
              </a:defRPr>
            </a:pPr>
            <a:r>
              <a:rPr sz="1050" b="1">
                <a:solidFill>
                  <a:srgbClr val="AAB3C0"/>
                </a:solidFill>
              </a:rPr>
              <a:t>mappings.yaml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03A472-E08B-4927-AA8F-6DD3B58F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31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831D9-5DE6-4B60-B866-CB1B701D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81300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831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018DE2-25C6-4BB1-B5EF-E286F88A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7048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E5D61B-C1FE-4F59-B803-9D80385C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41020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7F8FA"/>
                </a:solidFill>
              </a:defRPr>
            </a:pPr>
            <a:r>
              <a:rPr sz="1500" b="1">
                <a:solidFill>
                  <a:srgbClr val="F7F8FA"/>
                </a:solidFill>
              </a:rPr>
              <a:t>Idempotency key: request ID + approval reference</a:t>
            </a:r>
          </a:p>
        </p:txBody>
      </p:sp>
    </p:spTree>
    <p:extLst>
      <p:ext uri="{BB962C8B-B14F-4D97-AF65-F5344CB8AC3E}">
        <p14:creationId xmlns:p14="http://schemas.microsoft.com/office/powerpoint/2010/main" val="9887852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4E7DB-6BD0-4C2B-913E-F27062DB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7B8D8-9651-4872-B239-61A96C36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B350A-6C36-439C-83D4-6EECE137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77AFE-AAA0-42C9-B17C-D04A0750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AB39A-21E2-4719-9588-4DA74191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30DD7-89F3-4D33-9D12-9D2BA8DE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One evaluator; phase-specific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FDF09-C907-4023-B389-0D126875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E8284-4321-4D69-A7B9-913A64E4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The same readiness role reports every missing value and its accountable owner.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9441A-028C-4363-BB75-88669FF3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49530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2B6F2-1B73-4581-9162-1498362E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81325"/>
            <a:ext cx="57150" cy="1809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65722D-73B0-41E7-9D04-7A93157D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52750"/>
            <a:ext cx="2019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WINDOWS EXAMPLE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6AED78-3988-4DF4-9408-E8F191FB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network_ready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68441-2B20-4074-8A1B-45E7E3D8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0525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AB3C0"/>
                </a:solidFill>
              </a:defRPr>
            </a:pPr>
            <a:r>
              <a:rPr sz="1500" b="0">
                <a:solidFill>
                  <a:srgbClr val="AAB3C0"/>
                </a:solidFill>
              </a:rPr>
              <a:t>missing gateway</a:t>
            </a:r>
          </a:p>
          <a:p xmlns:a="http://schemas.openxmlformats.org/drawingml/2006/main">
            <a:pPr algn="l">
              <a:defRPr sz="1500" b="0">
                <a:solidFill>
                  <a:srgbClr val="AAB3C0"/>
                </a:solidFill>
              </a:defRPr>
            </a:pPr>
            <a:r>
              <a:rPr sz="1500" b="0">
                <a:solidFill>
                  <a:srgbClr val="AAB3C0"/>
                </a:solidFill>
              </a:rPr>
              <a:t>missing DNS servers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5E759-DE98-4ADA-9091-4B3F9475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57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00"/>
                </a:solidFill>
              </a:defRPr>
            </a:pPr>
            <a:r>
              <a:rPr sz="1050" b="1">
                <a:solidFill>
                  <a:srgbClr val="FF7A00"/>
                </a:solidFill>
              </a:rPr>
              <a:t>owner  NETWORK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00EFC0-0E1B-439C-83D2-92AA2291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28900"/>
            <a:ext cx="49530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144A0-3596-4A77-BE3A-07935EED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81325"/>
            <a:ext cx="57150" cy="1809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AD97F-4493-416E-9CA9-68DB279E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52750"/>
            <a:ext cx="2019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LINUX EXAMPLE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AF6C3-8005-4EDF-9FF4-3398B849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33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operations_ready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FC994-D4E5-4B91-866A-0478BB5F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905250"/>
            <a:ext cx="3619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AB3C0"/>
                </a:solidFill>
              </a:defRPr>
            </a:pPr>
            <a:r>
              <a:rPr sz="1500" b="0">
                <a:solidFill>
                  <a:srgbClr val="AAB3C0"/>
                </a:solidFill>
              </a:rPr>
              <a:t>missing support group</a:t>
            </a:r>
          </a:p>
          <a:p xmlns:a="http://schemas.openxmlformats.org/drawingml/2006/main">
            <a:pPr algn="l">
              <a:defRPr sz="1500" b="0">
                <a:solidFill>
                  <a:srgbClr val="AAB3C0"/>
                </a:solidFill>
              </a:defRPr>
            </a:pPr>
            <a:r>
              <a:rPr sz="1500" b="0">
                <a:solidFill>
                  <a:srgbClr val="AAB3C0"/>
                </a:solidFill>
              </a:rPr>
              <a:t>missing monitoring profile</a:t>
            </a:r>
          </a:p>
          <a:p xmlns:a="http://schemas.openxmlformats.org/drawingml/2006/main">
            <a:pPr algn="l">
              <a:defRPr sz="1500" b="0">
                <a:solidFill>
                  <a:srgbClr val="AAB3C0"/>
                </a:solidFill>
              </a:defRPr>
            </a:pPr>
            <a:r>
              <a:rPr sz="1500" b="0">
                <a:solidFill>
                  <a:srgbClr val="AAB3C0"/>
                </a:solidFill>
              </a:rPr>
              <a:t>missing backup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918AC0-2DDA-470C-9E4F-1771C562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57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A9FF"/>
                </a:solidFill>
              </a:defRPr>
            </a:pPr>
            <a:r>
              <a:rPr sz="1050" b="1">
                <a:solidFill>
                  <a:srgbClr val="39A9FF"/>
                </a:solidFill>
              </a:rPr>
              <a:t>owner  OPERATIONS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04834-7C8F-4E19-8DC2-3BF62E55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715000"/>
            <a:ext cx="819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7F8FA"/>
                </a:solidFill>
              </a:defRPr>
            </a:pPr>
            <a:r>
              <a:rPr sz="1575" b="1">
                <a:solidFill>
                  <a:srgbClr val="F7F8FA"/>
                </a:solidFill>
              </a:rPr>
              <a:t>Blocked is an expected state—not a failed long-running AAP job.</a:t>
            </a:r>
          </a:p>
        </p:txBody>
      </p:sp>
    </p:spTree>
    <p:extLst>
      <p:ext uri="{BB962C8B-B14F-4D97-AF65-F5344CB8AC3E}">
        <p14:creationId xmlns:p14="http://schemas.microsoft.com/office/powerpoint/2010/main" val="6129493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8A4FFB-E98A-40C3-85C2-4A20D07C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7FB4F-312D-4617-A333-5378C488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LIFECYCLE SEMANTICS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0FE74-4CD7-4D68-A1E0-C53D879E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130C8-1041-41BE-806F-63DC0857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359CB-B942-45EA-ADD2-EEE9F448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6650C-0E2C-4C9A-AB5B-D5EB2CB1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Every transition leaves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C21DD-77BB-4AB1-B011-21A5057F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9FB01-D9B1-430E-ABAF-E4E13639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The updater protects the current revision and makes replay behavior explicit.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8ED7E-1E1A-4865-8ADC-E49BF4AD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D45A1-40D0-48CE-8BD8-8271C456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0DDC8A-1DCA-4931-97AC-E9E0771C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480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REVISION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49BD4-3F76-41E2-A7C0-080C9945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1733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phase: network_ready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1676D-34E4-4479-B2BC-7AFE2A7A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95600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80141-0A99-4FB4-A1D5-DB5C9CE1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9560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46695-72B9-4CB1-906D-80C9BEA6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4800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lifecycle_update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4DD7B-A85A-4437-B0E3-8F0A1CC2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71850"/>
            <a:ext cx="201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expected rev • event 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EFD2C7-A1A6-4B46-ADC0-24704B81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95600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EED4E8-E60E-4C2F-8ADF-DD3101E4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9560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877C5-E085-4ED9-9FC6-B4107D1A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480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REVISION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6E2490-EDFC-4A06-A7EB-9045FA69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71850"/>
            <a:ext cx="1733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phase: os_configured</a:t>
            </a:r>
          </a:p>
        </p:txBody>
      </p: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81300" y="3419475"/>
            <a:ext cx="971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5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134100" y="3419475"/>
            <a:ext cx="971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E824BF-F165-4A01-9F56-25AAC303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95600"/>
            <a:ext cx="1809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2BDF01-6BEE-402D-8A5D-B147F6AF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95600"/>
            <a:ext cx="66675" cy="10477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AB7CA7-133A-4AA7-9967-F195A26B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48000"/>
            <a:ext cx="1447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APPEND EVENT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F8CC2A-643C-4EAF-98A1-7037360C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71850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who • why • when</a:t>
            </a:r>
          </a:p>
        </p:txBody>
      </p:sp>
      <p:cxnSp>
        <p:nvCxnSpPr>
          <p:cNvPr id="63" name=""/>
          <p:cNvCxnSpPr>
            <a:stCxn xmlns:a="http://schemas.openxmlformats.org/drawingml/2006/main" id="17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201150" y="34194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D1A1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CAF8F5-FF90-422C-82C6-F14024CE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43450"/>
            <a:ext cx="2476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FF5D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5E666-353C-4AAD-8C5D-A56F55BD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8958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5D66"/>
                </a:solidFill>
              </a:defRPr>
            </a:pPr>
            <a:r>
              <a:rPr sz="900" b="1">
                <a:solidFill>
                  <a:srgbClr val="FF5D66"/>
                </a:solidFill>
              </a:rPr>
              <a:t>STALE REVISION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7AA4ED-C8EC-44ED-8A88-230E2707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435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reject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F7A51C-EAD9-4E7B-B291-4A0CB058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43450"/>
            <a:ext cx="2476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39A9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C01605-FE6B-4D23-9A8D-785FAC43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958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9A9FF"/>
                </a:solidFill>
              </a:defRPr>
            </a:pPr>
            <a:r>
              <a:rPr sz="900" b="1">
                <a:solidFill>
                  <a:srgbClr val="39A9FF"/>
                </a:solidFill>
              </a:rPr>
              <a:t>REPLAYED EVENT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20D4FC-9F9B-4E65-86F4-D6857185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1435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no change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5B14CE-A081-4938-B64A-B248E1C6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43450"/>
            <a:ext cx="2476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4FD1A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1F7FAC-1A20-4C00-9265-E3DE9E3E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958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FD1A1"/>
                </a:solidFill>
              </a:defRPr>
            </a:pPr>
            <a:r>
              <a:rPr sz="900" b="1">
                <a:solidFill>
                  <a:srgbClr val="4FD1A1"/>
                </a:solidFill>
              </a:rPr>
              <a:t>VALID UPDATE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42F075-0551-4178-9FE8-E627E1F7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435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new revision</a:t>
            </a:r>
          </a:p>
        </p:txBody>
      </p:sp>
    </p:spTree>
    <p:extLst>
      <p:ext uri="{BB962C8B-B14F-4D97-AF65-F5344CB8AC3E}">
        <p14:creationId xmlns:p14="http://schemas.microsoft.com/office/powerpoint/2010/main" val="8941819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2BF719-32DD-4794-A974-07C5EB42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96007-75AD-4A38-97A9-3FA5A308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AAP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9908D-18D5-41CF-8767-9F8116C2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005951-374F-4643-A27C-368B3539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18B97-3D83-4F7E-BE98-84DFF4A0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4234A-45F0-4966-B898-4F65FADA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Controller coordinates jobs; artifacts carry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25E12D-D827-465C-8875-0B2D4C68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2B066-5886-4A02-BDD9-2932DB79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Suggested workflow nodes for one build phase.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DD023-B8C9-44F3-AAC6-80A0335E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924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73BC24-C4AE-4DD1-A999-40A86EE4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66675" cy="819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F5C44-9DB5-4749-87EC-DFFAD551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JT  Load manifest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07530-1ABB-4DBF-A0E8-6256FE26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813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request ID + expected revision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0AF5B-5C9A-4B77-BB0A-6EF0B552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1924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D06B1-55D2-463A-B0E2-100DC284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05100"/>
            <a:ext cx="66675" cy="819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23BABD-CE4E-4E0D-9A4C-6EEEBE4D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5750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JT  Assess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92A17-2685-4B8E-8FA9-B9199813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813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set_stats: ready / blocked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4B7E09-A139-4787-AFE5-A2922BE0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05100"/>
            <a:ext cx="1924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370E0-F114-4EB7-8A16-1745745F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05100"/>
            <a:ext cx="66675" cy="819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3A9758-A622-446C-8851-073A36A9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5750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JT  Execute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4FC3BB-97D5-4CB8-B161-93C756E1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813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adapter for current phase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ECC6D7-8DBD-4C11-8C9D-F4C6D050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05100"/>
            <a:ext cx="1924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CE84C-C639-4F66-BF8E-066DC8F1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05100"/>
            <a:ext cx="66675" cy="8191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41DD5F-7B48-4184-BD76-8EAD9C6A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5750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JT  Persist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DA2B54-9CA9-47E9-A127-22367732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813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revision + event + evidence</a:t>
            </a:r>
          </a:p>
        </p:txBody>
      </p:sp>
      <p:cxnSp>
        <p:nvCxnSpPr>
          <p:cNvPr id="65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609850" y="31146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66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972050" y="31146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cxnSp>
        <p:nvCxnSpPr>
          <p:cNvPr id="67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334250" y="31146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D1A1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1E8E10-F198-4AE8-BD6D-80E0F5C3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24350"/>
            <a:ext cx="19240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206FA5-D1A4-497E-AAF5-49B8E607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24350"/>
            <a:ext cx="66675" cy="8001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5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250A58-D737-4DC4-877E-BC5B1E8A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767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JT  Record 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8C918C-1816-4228-A1CE-E01A4732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006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successful, controlled exit</a:t>
            </a:r>
          </a:p>
        </p:txBody>
      </p:sp>
      <p:cxnSp>
        <p:nvCxnSpPr>
          <p:cNvPr id="72" name=""/>
          <p:cNvCxnSpPr>
            <a:stCxn xmlns:a="http://schemas.openxmlformats.org/drawingml/2006/main" id="13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>
            <a:off x="4010025" y="3524250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D66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122126-B3CF-4B1C-AF40-8093DA7F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24350"/>
            <a:ext cx="19240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5F1380-0724-496D-8831-3F7D1621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24350"/>
            <a:ext cx="66675" cy="8001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525D9B-E09B-4AB7-A11B-9C93D071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76750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JT  Reconcile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D61E9D-E7F2-4A35-9A60-FA98DB0A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0060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observed state / timeout</a:t>
            </a:r>
          </a:p>
        </p:txBody>
      </p:sp>
      <p:cxnSp>
        <p:nvCxnSpPr>
          <p:cNvPr id="77" name=""/>
          <p:cNvCxnSpPr>
            <a:stCxn xmlns:a="http://schemas.openxmlformats.org/drawingml/2006/main" id="2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8734425" y="3524250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3078F-38CD-4A68-A6B7-8571C11F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860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97586"/>
                </a:solidFill>
              </a:defRPr>
            </a:pPr>
            <a:r>
              <a:rPr sz="900" b="1">
                <a:solidFill>
                  <a:srgbClr val="697586"/>
                </a:solidFill>
              </a:rPr>
              <a:t>TRIGGERS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A205AF-A908-404F-91BA-1261CC12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09900"/>
            <a:ext cx="114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7F8FA"/>
                </a:solidFill>
              </a:defRPr>
            </a:pPr>
            <a:r>
              <a:rPr sz="1200" b="1">
                <a:solidFill>
                  <a:srgbClr val="F7F8FA"/>
                </a:solidFill>
              </a:rPr>
              <a:t>API launch</a:t>
            </a:r>
          </a:p>
          <a:p xmlns:a="http://schemas.openxmlformats.org/drawingml/2006/main">
            <a:pPr algn="l">
              <a:defRPr sz="1200" b="1">
                <a:solidFill>
                  <a:srgbClr val="F7F8FA"/>
                </a:solidFill>
              </a:defRPr>
            </a:pPr>
            <a:r>
              <a:rPr sz="1200" b="1">
                <a:solidFill>
                  <a:srgbClr val="F7F8FA"/>
                </a:solidFill>
              </a:rPr>
              <a:t>EDA webhook</a:t>
            </a:r>
          </a:p>
          <a:p xmlns:a="http://schemas.openxmlformats.org/drawingml/2006/main">
            <a:pPr algn="l">
              <a:defRPr sz="1200" b="1">
                <a:solidFill>
                  <a:srgbClr val="F7F8FA"/>
                </a:solidFill>
              </a:defRPr>
            </a:pPr>
            <a:r>
              <a:rPr sz="1200" b="1">
                <a:solidFill>
                  <a:srgbClr val="F7F8FA"/>
                </a:solidFill>
              </a:rPr>
              <a:t>schedule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629109-ECFC-442A-B6F1-DE5B8D8D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7F8FA"/>
                </a:solidFill>
              </a:defRPr>
            </a:pPr>
            <a:r>
              <a:rPr sz="1425" b="1">
                <a:solidFill>
                  <a:srgbClr val="F7F8FA"/>
                </a:solidFill>
              </a:rPr>
              <a:t>Use workflow success/failure/always paths for orchestration—not as the system of record.</a:t>
            </a:r>
          </a:p>
        </p:txBody>
      </p:sp>
    </p:spTree>
    <p:extLst>
      <p:ext uri="{BB962C8B-B14F-4D97-AF65-F5344CB8AC3E}">
        <p14:creationId xmlns:p14="http://schemas.microsoft.com/office/powerpoint/2010/main" val="2044993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C63156-8787-443B-BEE6-6D25618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F3163-7E3F-47DD-96FB-4FC9F314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D1A1"/>
                </a:solidFill>
              </a:defRPr>
            </a:pPr>
            <a:r>
              <a:rPr sz="975" b="1">
                <a:solidFill>
                  <a:srgbClr val="4FD1A1"/>
                </a:solidFill>
              </a:rPr>
              <a:t>QUALITY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4D8CF-8A19-487A-931A-A0216F5D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A44A5-A306-49DA-8570-50A900BE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EAD25-5442-4BDB-9783-9F881B5A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A49B16-48C9-4633-BDB2-A09CEF83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Promote the same content through repeatable gates.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CA512C-7100-40B6-9CA5-E9949901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00617C-8BC0-47A6-B596-B56F7A35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Execution environments align local, CI, and AAP dependencies.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F5E96-3FB0-4A6D-B4E1-94B85311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7526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423EA-EB6A-4D70-B437-18205664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66675" cy="9906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72863-D47E-4E37-8F51-B37F651D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FAST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6ECF2-0FAE-4DEC-8A3B-1CCD9FD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YAML + fixture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C222B-6E5E-4B84-AD1C-E10D5315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48000"/>
            <a:ext cx="17526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84AADF-3857-47AF-BA2F-171910E8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48000"/>
            <a:ext cx="66675" cy="9906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9858C-C5AB-4698-BC8A-6613D7E9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0400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BCCB21-241F-4193-ABBB-713C12A2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242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Molecule converge + verify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7001C-1BB3-4B97-B81A-25A58CB5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17526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B5AEF-0825-4C70-8C83-8FA4AD3B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66675" cy="9906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8022F9-242C-489A-ABB7-C170FDAB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00400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8466CE-CE09-459E-85A8-683569D2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242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Podman execution environment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748659-884B-49A8-BDBE-C5644740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48000"/>
            <a:ext cx="17526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A99A13-9115-4A3F-97FD-D3A17B1F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48000"/>
            <a:ext cx="66675" cy="9906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961A09-0C60-430F-A3DD-91862209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00400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CI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161472-3AA8-4C07-89E0-C94041E0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242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same checks on every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D7FD10-FC90-4938-AB9B-F69939E4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48000"/>
            <a:ext cx="17526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7F2389-84AB-467C-9DBE-DECD1A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48000"/>
            <a:ext cx="66675" cy="9906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408DA3-B81B-491D-A222-9ADD0C60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AAP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E12E14-91B5-453F-8B33-ADD2D3E5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242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non-production workflow</a:t>
            </a:r>
          </a:p>
        </p:txBody>
      </p:sp>
      <p:cxnSp>
        <p:nvCxnSpPr>
          <p:cNvPr id="63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3543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64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572000" y="3543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cxnSp>
        <p:nvCxnSpPr>
          <p:cNvPr id="65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6705600" y="3543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D1A1"/>
            </a:solidFill>
            <a:prstDash val="solid"/>
            <a:tailEnd type="arrow" w="med" len="med"/>
          </a:ln>
        </p:spPr>
      </p:cxnSp>
      <p:cxnSp>
        <p:nvCxnSpPr>
          <p:cNvPr id="66" name=""/>
          <p:cNvCxnSpPr>
            <a:stCxn xmlns:a="http://schemas.openxmlformats.org/drawingml/2006/main" id="21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839200" y="3543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781D45-219A-43AB-ABC7-6FF48C44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87249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75521E-D8A3-4041-95CE-6AF059D0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53000"/>
            <a:ext cx="803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7F8FA"/>
                </a:solidFill>
              </a:defRPr>
            </a:pPr>
            <a:r>
              <a:rPr sz="1425" b="1">
                <a:solidFill>
                  <a:srgbClr val="F7F8FA"/>
                </a:solidFill>
              </a:rPr>
              <a:t>Disposable VMware, Windows, and Linux targets remain the next level of integration evidence.</a:t>
            </a:r>
          </a:p>
        </p:txBody>
      </p:sp>
    </p:spTree>
    <p:extLst>
      <p:ext uri="{BB962C8B-B14F-4D97-AF65-F5344CB8AC3E}">
        <p14:creationId xmlns:p14="http://schemas.microsoft.com/office/powerpoint/2010/main" val="17211866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CB4BD-FED8-43DA-80C4-668B8AA2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0C6289-31B9-48A5-B4CA-1D8EAD4F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DEMO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41B87-EBC9-45CF-AFBF-C567B0DF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F8AEB-C777-4E0D-9E13-AE703C2F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40FA63-145A-42E7-9583-A96CA969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B88211-5202-4468-B652-F501114E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Ten minutes, three pieces of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7DF58-6131-491B-B3E9-EB7583FD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27ABD-E9FA-4FC9-A688-C847A26D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Keep the walkthrough focused on behavior, not file-by-file narration.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4D5FD-35AF-467D-8AF7-E7B7D66A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DEB2E-B624-47CC-850A-FEE5688C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7090D"/>
                </a:solidFill>
              </a:defRPr>
            </a:pPr>
            <a:r>
              <a:rPr sz="1950" b="1">
                <a:solidFill>
                  <a:srgbClr val="07090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91F87-6FB6-4655-8B98-7E5D8944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86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Create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5649FD-EA5B-4218-B5F6-8223E5FD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860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Approved event becomes one manifest with provenance.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5367D4-F623-428D-937C-458CBC36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6B9F45-7B50-4575-B5E1-52D24452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7090D"/>
                </a:solidFill>
              </a:defRPr>
            </a:pPr>
            <a:r>
              <a:rPr sz="1950" b="1">
                <a:solidFill>
                  <a:srgbClr val="07090D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273A6-E15E-4905-BC82-B08E7C8F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676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Block + resume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B1BDAA-F70B-4472-B826-5D382BE8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766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Windows and Linux expose different blockers through one lifecycle.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62DF75-208C-42BF-8DDC-25871E5A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68580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754AC-2D12-4FAA-AF39-E88CA6E3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7090D"/>
                </a:solidFill>
              </a:defRPr>
            </a:pPr>
            <a:r>
              <a:rPr sz="1950" b="1">
                <a:solidFill>
                  <a:srgbClr val="07090D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7F0D8-C3E3-4940-8E7E-AD3554AE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67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78CB3E-0C27-4B0C-BB17-365A5F07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6725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Molecule proves convergence, idempotence, and expected failures.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46F803-D2F8-4021-903A-9C2CCBB9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53100"/>
            <a:ext cx="9201150" cy="361950"/>
          </a:xfrm>
          <a:prstGeom xmlns:a="http://schemas.openxmlformats.org/drawingml/2006/main" prst="roundRect">
            <a:avLst>
              <a:gd name="adj" fmla="val 26316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0640A-CAB4-4E7B-BED8-E394B64E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829300"/>
            <a:ext cx="866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AAB3C0"/>
                </a:solidFill>
              </a:defRPr>
            </a:pPr>
            <a:r>
              <a:rPr sz="1125" b="1">
                <a:solidFill>
                  <a:srgbClr val="AAB3C0"/>
                </a:solidFill>
              </a:rPr>
              <a:t>Fallback: checked-in synthetic fixtures + process views + latest CI evidence.</a:t>
            </a:r>
          </a:p>
        </p:txBody>
      </p:sp>
    </p:spTree>
    <p:extLst>
      <p:ext uri="{BB962C8B-B14F-4D97-AF65-F5344CB8AC3E}">
        <p14:creationId xmlns:p14="http://schemas.microsoft.com/office/powerpoint/2010/main" val="19326291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968BCC-81F9-498A-9C4D-3A11D71A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EC319-AF48-470C-87BD-A57BA2E7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NEXT INCREMENT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B0E0B-A1D4-464B-81AD-74B75696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6891E-E762-430D-8386-FFFAEE86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B99BF-9221-4F38-84DA-3C5310F4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E0EBD-9B4A-42C4-8DA4-DEBD681F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Prove durable artifacts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A2A26-A6FD-4937-8AB6-8683BBA0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1AF64-C64F-436C-8606-DFAA8DF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An S3-compatible adapter is the smallest valuable bridge from local semantics to shared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F4A17-E3E9-43FC-8ECF-48EC87BF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667000" cy="129540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0F79A8-FDD2-4003-A636-97EBCE18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66675" cy="1295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68D64D-58EF-47EA-8748-0B43C7B4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LOCAL FILE ADAPTER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0C105-4491-48C5-9B6F-FD81B7AF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2305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Proven lifecycle semantics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and deterministic key layout.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388223-D961-45A5-8F1F-7C3AE134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2667000" cy="129540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3A39A-6500-4588-A956-F5B1083A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66675" cy="1295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1F298-3FBE-4347-8AE9-F7EFAECE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670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S3-COMPATIBLE 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2B129A-0B53-4D81-B4FE-3D519254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90900"/>
            <a:ext cx="2305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Versioning • conditional write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retrieval • retention • latency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10885-614C-462A-B43B-2DCC2617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14650"/>
            <a:ext cx="2667000" cy="1295400"/>
          </a:xfrm>
          <a:prstGeom xmlns:a="http://schemas.openxmlformats.org/drawingml/2006/main" prst="roundRect">
            <a:avLst>
              <a:gd name="adj" fmla="val 10294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681935-2C1A-4C42-BF05-F9780010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14650"/>
            <a:ext cx="66675" cy="1295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ACD3B5-B1A6-44DB-8862-DD9A58D3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67050"/>
            <a:ext cx="2305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NON-PROD PROVIDER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905D6D-64B7-4222-AE98-655548CC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305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VMware or Infoblox</a:t>
            </a:r>
          </a:p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behind the same interface.</a:t>
            </a:r>
          </a:p>
        </p:txBody>
      </p:sp>
      <p:cxnSp>
        <p:nvCxnSpPr>
          <p:cNvPr id="51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352800" y="356235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52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7429500" y="356235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FB9CE4-ECD3-46FF-83B5-C3903E46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91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3B7ABD-1C59-41C4-AF06-2DA2BDA2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530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7F8FA"/>
                </a:solidFill>
              </a:defRPr>
            </a:pPr>
            <a:r>
              <a:rPr sz="1275" b="1">
                <a:solidFill>
                  <a:srgbClr val="F7F8FA"/>
                </a:solidFill>
              </a:rPr>
              <a:t>single-writer / concurrency strategy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8FC67A-CF4C-4CE2-94CE-39931AB1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911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4F5AA6-8FDB-4C69-A2A2-C8E1088C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9530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7F8FA"/>
                </a:solidFill>
              </a:defRPr>
            </a:pPr>
            <a:r>
              <a:rPr sz="1275" b="1">
                <a:solidFill>
                  <a:srgbClr val="F7F8FA"/>
                </a:solidFill>
              </a:rPr>
              <a:t>certificate and credential boundary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2A65A7-853D-4543-AD4E-5822CD6C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483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77CE6F-2D7F-4254-BCB8-8F4E3759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4102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7F8FA"/>
                </a:solidFill>
              </a:defRPr>
            </a:pPr>
            <a:r>
              <a:rPr sz="1275" b="1">
                <a:solidFill>
                  <a:srgbClr val="F7F8FA"/>
                </a:solidFill>
              </a:rPr>
              <a:t>metadata and sensitive-data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35C7BB-81EF-4FDC-8E36-0CDEF45E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483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622AD1-751A-4246-AAAE-2BE6C1B1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7F8FA"/>
                </a:solidFill>
              </a:defRPr>
            </a:pPr>
            <a:r>
              <a:rPr sz="1275" b="1">
                <a:solidFill>
                  <a:srgbClr val="F7F8FA"/>
                </a:solidFill>
              </a:rPr>
              <a:t>blocked-build query requirements</a:t>
            </a:r>
          </a:p>
        </p:txBody>
      </p:sp>
    </p:spTree>
    <p:extLst>
      <p:ext uri="{BB962C8B-B14F-4D97-AF65-F5344CB8AC3E}">
        <p14:creationId xmlns:p14="http://schemas.microsoft.com/office/powerpoint/2010/main" val="15485316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2026-07-17T12:14:25.7470000Z</dcterms:created>
  <dcterms:modified xsi:type="dcterms:W3CDTF">2026-07-17T12:14:25.7470000Z</dcterms:modified>
</coreProperties>
</file>