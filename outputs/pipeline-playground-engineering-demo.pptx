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09947269864405" /><Relationship Type="http://schemas.openxmlformats.org/officeDocument/2006/relationships/extended-properties" Target="/docProps/app.xml" Id="R72d923a39e74439b" /><Relationship Type="http://schemas.openxmlformats.org/officeDocument/2006/relationships/officeDocument" Target="/ppt/presentation.xml" Id="Rc6297823225d45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5dfc827c254dab"/>
  </p:sldMasterIdLst>
  <p:notesMasterIdLst>
    <p:notesMasterId xmlns:r="http://schemas.openxmlformats.org/officeDocument/2006/relationships" r:id="Rbfd948d62de44da7"/>
  </p:notesMasterIdLst>
  <p:sldIdLst>
    <p:sldId xmlns:r="http://schemas.openxmlformats.org/officeDocument/2006/relationships" id="256" r:id="Rfa1342ea8f0548d4"/>
    <p:sldId xmlns:r="http://schemas.openxmlformats.org/officeDocument/2006/relationships" id="257" r:id="R8c5d6cdd4eef4a95"/>
    <p:sldId xmlns:r="http://schemas.openxmlformats.org/officeDocument/2006/relationships" id="258" r:id="R332250d188b44bfe"/>
    <p:sldId xmlns:r="http://schemas.openxmlformats.org/officeDocument/2006/relationships" id="259" r:id="Rc0585e2628164ffe"/>
    <p:sldId xmlns:r="http://schemas.openxmlformats.org/officeDocument/2006/relationships" id="260" r:id="R9c24fc5d97964456"/>
    <p:sldId xmlns:r="http://schemas.openxmlformats.org/officeDocument/2006/relationships" id="261" r:id="Re0ee50135f2946a5"/>
    <p:sldId xmlns:r="http://schemas.openxmlformats.org/officeDocument/2006/relationships" id="262" r:id="R4349b48596f6499c"/>
    <p:sldId xmlns:r="http://schemas.openxmlformats.org/officeDocument/2006/relationships" id="263" r:id="R7b96e8f2ade24e49"/>
    <p:sldId xmlns:r="http://schemas.openxmlformats.org/officeDocument/2006/relationships" id="264" r:id="Red5acd56387c4b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db15d38cd048ba" /><Relationship Type="http://schemas.openxmlformats.org/officeDocument/2006/relationships/slideMaster" Target="/ppt/slideMasters/slideMaster1.xml" Id="R9e5dfc827c254dab" /><Relationship Type="http://schemas.openxmlformats.org/officeDocument/2006/relationships/notesMaster" Target="/ppt/notesMasters/notesMaster1.xml" Id="Rbfd948d62de44da7" /><Relationship Type="http://schemas.openxmlformats.org/officeDocument/2006/relationships/presProps" Target="/ppt/presProps.xml" Id="R84f1893874da4ae4" /><Relationship Type="http://schemas.openxmlformats.org/officeDocument/2006/relationships/tableStyles" Target="/ppt/tableStyles.xml" Id="R6ad7693573e442d4" /><Relationship Type="http://schemas.openxmlformats.org/officeDocument/2006/relationships/slide" Target="/ppt/slides/slide1.xml" Id="Rfa1342ea8f0548d4" /><Relationship Type="http://schemas.openxmlformats.org/officeDocument/2006/relationships/slide" Target="/ppt/slides/slide2.xml" Id="R8c5d6cdd4eef4a95" /><Relationship Type="http://schemas.openxmlformats.org/officeDocument/2006/relationships/slide" Target="/ppt/slides/slide3.xml" Id="R332250d188b44bfe" /><Relationship Type="http://schemas.openxmlformats.org/officeDocument/2006/relationships/slide" Target="/ppt/slides/slide4.xml" Id="Rc0585e2628164ffe" /><Relationship Type="http://schemas.openxmlformats.org/officeDocument/2006/relationships/slide" Target="/ppt/slides/slide5.xml" Id="R9c24fc5d97964456" /><Relationship Type="http://schemas.openxmlformats.org/officeDocument/2006/relationships/slide" Target="/ppt/slides/slide6.xml" Id="Re0ee50135f2946a5" /><Relationship Type="http://schemas.openxmlformats.org/officeDocument/2006/relationships/slide" Target="/ppt/slides/slide7.xml" Id="R4349b48596f6499c" /><Relationship Type="http://schemas.openxmlformats.org/officeDocument/2006/relationships/slide" Target="/ppt/slides/slide8.xml" Id="R7b96e8f2ade24e49" /><Relationship Type="http://schemas.openxmlformats.org/officeDocument/2006/relationships/slide" Target="/ppt/slides/slide9.xml" Id="Red5acd56387c4b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0076b4f7604a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ce7fea7f70475c" /><Relationship Type="http://schemas.openxmlformats.org/officeDocument/2006/relationships/notesMaster" Target="/ppt/notesMasters/notesMaster1.xml" Id="R47e97201490549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cbb1fb3f1c4337" /><Relationship Type="http://schemas.openxmlformats.org/officeDocument/2006/relationships/notesMaster" Target="/ppt/notesMasters/notesMaster1.xml" Id="Rd2df04d82d1d48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204afb440c488d" /><Relationship Type="http://schemas.openxmlformats.org/officeDocument/2006/relationships/notesMaster" Target="/ppt/notesMasters/notesMaster1.xml" Id="R81238ed1b0c84b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9e9c47fafe4d61" /><Relationship Type="http://schemas.openxmlformats.org/officeDocument/2006/relationships/notesMaster" Target="/ppt/notesMasters/notesMaster1.xml" Id="R924086b1691543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c251433faa4c4f" /><Relationship Type="http://schemas.openxmlformats.org/officeDocument/2006/relationships/notesMaster" Target="/ppt/notesMasters/notesMaster1.xml" Id="R8006169db33744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754860c8cc475f" /><Relationship Type="http://schemas.openxmlformats.org/officeDocument/2006/relationships/notesMaster" Target="/ppt/notesMasters/notesMaster1.xml" Id="Ra4a04b0d09794c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d7fe08959e48bb" /><Relationship Type="http://schemas.openxmlformats.org/officeDocument/2006/relationships/notesMaster" Target="/ppt/notesMasters/notesMaster1.xml" Id="Rd613d182248948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673b11f6d74ed3" /><Relationship Type="http://schemas.openxmlformats.org/officeDocument/2006/relationships/notesMaster" Target="/ppt/notesMasters/notesMaster1.xml" Id="Rc82e1906365b42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f247f59279401d" /><Relationship Type="http://schemas.openxmlformats.org/officeDocument/2006/relationships/notesMaster" Target="/ppt/notesMasters/notesMaster1.xml" Id="R920cd426d1b447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a514eeddd43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60f990040e4de5" /><Relationship Type="http://schemas.openxmlformats.org/officeDocument/2006/relationships/slideLayout" Target="/ppt/slideLayouts/slideLayout1.xml" Id="Rb9c2101e60fd4b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c2101e60fd4b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5172076a048a3" /><Relationship Type="http://schemas.openxmlformats.org/officeDocument/2006/relationships/notesSlide" Target="/ppt/notesSlides/notesSlide1.xml" Id="R585fd0bded204d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038af510444c7" /><Relationship Type="http://schemas.openxmlformats.org/officeDocument/2006/relationships/notesSlide" Target="/ppt/notesSlides/notesSlide2.xml" Id="R4e6b4046579244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28934b28440d3" /><Relationship Type="http://schemas.openxmlformats.org/officeDocument/2006/relationships/notesSlide" Target="/ppt/notesSlides/notesSlide3.xml" Id="R19efda985e7647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19ad5952546e6" /><Relationship Type="http://schemas.openxmlformats.org/officeDocument/2006/relationships/notesSlide" Target="/ppt/notesSlides/notesSlide4.xml" Id="Rb57cc85c8fa24d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51ab6d1b64783" /><Relationship Type="http://schemas.openxmlformats.org/officeDocument/2006/relationships/notesSlide" Target="/ppt/notesSlides/notesSlide5.xml" Id="R97495195f80742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807b9174a477b" /><Relationship Type="http://schemas.openxmlformats.org/officeDocument/2006/relationships/notesSlide" Target="/ppt/notesSlides/notesSlide6.xml" Id="Rf5ea6c57d55f4c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786424a88445c" /><Relationship Type="http://schemas.openxmlformats.org/officeDocument/2006/relationships/notesSlide" Target="/ppt/notesSlides/notesSlide7.xml" Id="R430118c51f2e42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f35871dac4cc8" /><Relationship Type="http://schemas.openxmlformats.org/officeDocument/2006/relationships/notesSlide" Target="/ppt/notesSlides/notesSlide8.xml" Id="R2959affb27cb42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dc3ffbc904761" /><Relationship Type="http://schemas.openxmlformats.org/officeDocument/2006/relationships/notesSlide" Target="/ppt/notesSlides/notesSlide9.xml" Id="R278fd9981d254d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D6AD7C-DDD1-46BC-84AE-DDF54564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88309-B4FF-4335-83DA-6C5BC68D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ADB06-7E6F-4D1E-ACB8-BE0653EA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A9FF"/>
                </a:solidFill>
              </a:defRPr>
            </a:pPr>
            <a:r>
              <a:rPr sz="1125" b="1">
                <a:solidFill>
                  <a:srgbClr val="39A9FF"/>
                </a:solidFill>
              </a:rPr>
              <a:t>PIPELINE PLAYGROUND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7D54F-FC78-46BE-84AC-A4AE40D7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8FA"/>
                </a:solidFill>
              </a:defRPr>
            </a:pPr>
            <a:r>
              <a:rPr sz="4350" b="1">
                <a:solidFill>
                  <a:srgbClr val="F7F8FA"/>
                </a:solidFill>
              </a:rPr>
              <a:t>Engineering</a:t>
            </a:r>
          </a:p>
          <a:p xmlns:a="http://schemas.openxmlformats.org/drawingml/2006/main">
            <a:pPr algn="l">
              <a:defRPr sz="4350" b="1">
                <a:solidFill>
                  <a:srgbClr val="F7F8FA"/>
                </a:solidFill>
              </a:defRPr>
            </a:pPr>
            <a:r>
              <a:rPr sz="4350" b="1">
                <a:solidFill>
                  <a:srgbClr val="F7F8FA"/>
                </a:solidFill>
              </a:rPr>
              <a:t>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A9222-0FDF-43AD-954D-378C9F43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AB3C0"/>
                </a:solidFill>
              </a:defRPr>
            </a:pPr>
            <a:r>
              <a:rPr sz="1725" b="0">
                <a:solidFill>
                  <a:srgbClr val="AAB3C0"/>
                </a:solidFill>
              </a:rPr>
              <a:t>Contracts, manifests, Ansible roles, AAP workflow boundaries, and local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097FF-ECDB-47C2-976D-A2EC1295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143250" cy="3333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9A84E-7FB6-4473-9335-EC3303DC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57150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414FB-AEE8-4101-B943-521BA67F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907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WALKTHROUGH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87888-EDD5-45F4-988C-FABD4E74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00"/>
                </a:solidFill>
              </a:defRPr>
            </a:pPr>
            <a:r>
              <a:rPr sz="900" b="1">
                <a:solidFill>
                  <a:srgbClr val="FF7A0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4A294-6AB8-4E88-BD0E-E6FB3A24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approved event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B8776-6601-4E81-8A86-73EDA833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A9FF"/>
                </a:solidFill>
              </a:defRPr>
            </a:pPr>
            <a:r>
              <a:rPr sz="900" b="1">
                <a:solidFill>
                  <a:srgbClr val="39A9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317A5-6C66-417F-897F-8EC3D16C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contract + mappings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526E1-BF5D-45D1-A536-9E10805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670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00"/>
                </a:solidFill>
              </a:defRPr>
            </a:pPr>
            <a:r>
              <a:rPr sz="900" b="1">
                <a:solidFill>
                  <a:srgbClr val="FF7A00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22045-F48B-4F86-B452-92AB5C41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28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manifest revisions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3DD8F-B01D-4BBC-8551-670895B8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67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A9FF"/>
                </a:solidFill>
              </a:defRPr>
            </a:pPr>
            <a:r>
              <a:rPr sz="900" b="1">
                <a:solidFill>
                  <a:srgbClr val="39A9F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A7DB2-1D77-4F3E-916D-DFC7EC9D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29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readiness gates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86E3C0-3BA6-4FE8-A7F3-F6DE0008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67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00"/>
                </a:solidFill>
              </a:defRPr>
            </a:pPr>
            <a:r>
              <a:rPr sz="900" b="1">
                <a:solidFill>
                  <a:srgbClr val="FF7A00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5E0E6-4700-469E-BA93-E901FF85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29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Molecule + Podman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7BB13C-0175-4A31-9E8C-A846ED02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A9FF"/>
                </a:solidFill>
              </a:defRPr>
            </a:pPr>
            <a:r>
              <a:rPr sz="900" b="1">
                <a:solidFill>
                  <a:srgbClr val="39A9FF"/>
                </a:solidFill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AD72C-1D68-419B-8E7C-1B312575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29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AAP promotion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279883-43C0-41F4-B827-B53A4C02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7586"/>
                </a:solidFill>
              </a:defRPr>
            </a:pPr>
            <a:r>
              <a:rPr sz="975" b="1">
                <a:solidFill>
                  <a:srgbClr val="697586"/>
                </a:solidFill>
              </a:rPr>
              <a:t>ENGINEERING DEMO</a:t>
            </a:r>
          </a:p>
        </p:txBody>
      </p:sp>
    </p:spTree>
    <p:extLst>
      <p:ext uri="{BB962C8B-B14F-4D97-AF65-F5344CB8AC3E}">
        <p14:creationId xmlns:p14="http://schemas.microsoft.com/office/powerpoint/2010/main" val="1414669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122218-6F5D-4B2E-A52D-AE82FD62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50D2D-A995-4073-89E8-ADCDC67A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REPOSITORY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72409-FE2F-468B-B4B6-03C1512B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857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586"/>
                </a:solidFill>
              </a:defRPr>
            </a:pPr>
            <a:r>
              <a:rPr sz="975" b="1">
                <a:solidFill>
                  <a:srgbClr val="697586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70CD9-3089-4DC9-B921-71764F82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2A1A3-64AF-4D2B-9AF9-87E28A14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PIPELINE PLAYGROUND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FD90F-7FFA-4EA0-B004-3DF1C54D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Four layers, explicit boundaries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DE8F0-C2E0-424B-A620-8C1505F0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C58E3-D0CF-4E14-B8B1-11D10DFD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Most of the POC is provider-neutral; unavailable systems stay behind adapters.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C1D9E-613B-426D-8BBD-25871EC7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09850"/>
            <a:ext cx="9810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FF7A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176E1-96B4-4B66-B6A0-73CA4C3D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43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</a:defRPr>
            </a:pPr>
            <a:r>
              <a:rPr sz="1125" b="1">
                <a:solidFill>
                  <a:srgbClr val="FF7A00"/>
                </a:solidFill>
              </a:rPr>
              <a:t>CONTRACT CATALOG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E963C-966B-4C17-A3C3-9B8D5F56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schemas • ownership • mappings • examples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F881B-6DD0-4371-849B-B0BE0827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52800"/>
            <a:ext cx="93535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39A9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5CD02-59B5-4B91-8CC1-F0318090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86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A9FF"/>
                </a:solidFill>
              </a:defRPr>
            </a:pPr>
            <a:r>
              <a:rPr sz="1125" b="1">
                <a:solidFill>
                  <a:srgbClr val="39A9FF"/>
                </a:solidFill>
              </a:rPr>
              <a:t>LIFECYCLE ROLES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88071-BCE0-4E4E-84D6-302BA4C8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861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create • assess • update • generate inputs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2F7C6-F54F-42E1-9B58-3D0D200F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95750"/>
            <a:ext cx="88963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4FD1A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AA056F-4D87-4B64-882A-15250C37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D1A1"/>
                </a:solidFill>
              </a:defRPr>
            </a:pPr>
            <a:r>
              <a:rPr sz="1125" b="1">
                <a:solidFill>
                  <a:srgbClr val="4FD1A1"/>
                </a:solidFill>
              </a:rPr>
              <a:t>PROVIDER ADAPTERS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E3B05-4DAB-448C-B38A-B96E22B4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2910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VMware • Infoblox • S3 • CMDB discovery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30FAC-619B-401C-8540-792D9EA8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38700"/>
            <a:ext cx="84391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FF7A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A6B12-367D-4583-AE10-B406C0A5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72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</a:defRPr>
            </a:pPr>
            <a:r>
              <a:rPr sz="1125" b="1">
                <a:solidFill>
                  <a:srgbClr val="FF7A00"/>
                </a:solidFill>
              </a:rPr>
              <a:t>RUNTIME +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F1CB65-EF3A-49D4-AC6A-FCBE9419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720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execution environment • Molecule • events • reports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DC7B1A-52AD-4E72-BD44-1E407842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102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Common lifecycle above; platform-specific implementation below.</a:t>
            </a:r>
          </a:p>
        </p:txBody>
      </p:sp>
    </p:spTree>
    <p:extLst>
      <p:ext uri="{BB962C8B-B14F-4D97-AF65-F5344CB8AC3E}">
        <p14:creationId xmlns:p14="http://schemas.microsoft.com/office/powerpoint/2010/main" val="14741509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6B1B45-3206-4C65-B8C7-66BAE443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8365F-5E9B-43AF-9741-6053CB5E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ARTIFACT CREATION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A7F65-A66A-491C-A357-CB2CF268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857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586"/>
                </a:solidFill>
              </a:defRPr>
            </a:pPr>
            <a:r>
              <a:rPr sz="975" b="1">
                <a:solidFill>
                  <a:srgbClr val="697586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00AD1-7400-47F0-849F-2BEC5F3B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CA078-4DF8-4445-A767-D2021F49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PIPELINE PLAYGROUND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AD817-ED77-496B-A52D-62798BEF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Approved event → manifest revision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3B7A6-1D67-473C-955D-E67DBB40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5374B-F67A-425B-AF07-40025BAC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Creation requires only enough data to establish identity and provenance.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A6973-34EB-4503-8D48-4624C42A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571750" cy="1943100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72B9A-598D-48C6-973D-747412B5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6675" cy="19431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DE53B-E4E7-44E0-9456-E3BC55DE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APPROVED EVENT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1E34B-BBCC-4AA9-AF5F-557D9169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22098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request_id</a:t>
            </a:r>
          </a:p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approval reference</a:t>
            </a:r>
          </a:p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platform profile</a:t>
            </a:r>
          </a:p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supplied 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0DAE6-15D6-45DA-A020-4E13872D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26670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62440-0553-4226-8AC9-D2C7E926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66675" cy="11430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080213-2ADA-495D-937F-F60D5DD8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575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manifest_create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BC5B5-2EC7-4E43-95E1-38B206C4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81400"/>
            <a:ext cx="230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Validate • map • write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C56E9-AAE8-4844-A7B1-DF20D982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05100"/>
            <a:ext cx="2571750" cy="1943100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F5E8D-26E0-4F52-9115-6B5266A8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05100"/>
            <a:ext cx="66675" cy="19431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D8D707-BF25-41B6-9060-FA69B349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MANIFEST / REV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DF854C-182D-4C22-BBBC-98904583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81350"/>
            <a:ext cx="22098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approved intent</a:t>
            </a:r>
          </a:p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provenance</a:t>
            </a:r>
          </a:p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current phase</a:t>
            </a:r>
          </a:p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known blockers</a:t>
            </a:r>
          </a:p>
        </p:txBody>
      </p:sp>
      <p:cxnSp>
        <p:nvCxnSpPr>
          <p:cNvPr id="49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257550" y="3676650"/>
            <a:ext cx="1504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429500" y="3676650"/>
            <a:ext cx="1504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30C9B0-F41A-4973-B393-43304CAC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241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AB3C0"/>
                </a:solidFill>
              </a:defRPr>
            </a:pPr>
            <a:r>
              <a:rPr sz="1050" b="1">
                <a:solidFill>
                  <a:srgbClr val="AAB3C0"/>
                </a:solidFill>
              </a:rPr>
              <a:t>contract.yaml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BD638D-1277-4077-A891-B39F0115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5241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AB3C0"/>
                </a:solidFill>
              </a:defRPr>
            </a:pPr>
            <a:r>
              <a:rPr sz="1050" b="1">
                <a:solidFill>
                  <a:srgbClr val="AAB3C0"/>
                </a:solidFill>
              </a:rPr>
              <a:t>mappings.yaml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C28D09-9265-4F5D-AB71-C3326222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31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6C9775-4FBC-47B7-B761-8EE17201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813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31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E39680-E11A-4F7F-B2D3-D8B8A470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57800"/>
            <a:ext cx="7048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472EC3-FFA1-4E7E-8AE6-999AD2AB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102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8FA"/>
                </a:solidFill>
              </a:defRPr>
            </a:pPr>
            <a:r>
              <a:rPr sz="1500" b="1">
                <a:solidFill>
                  <a:srgbClr val="F7F8FA"/>
                </a:solidFill>
              </a:rPr>
              <a:t>Idempotency key: request ID + approval reference</a:t>
            </a:r>
          </a:p>
        </p:txBody>
      </p:sp>
    </p:spTree>
    <p:extLst>
      <p:ext uri="{BB962C8B-B14F-4D97-AF65-F5344CB8AC3E}">
        <p14:creationId xmlns:p14="http://schemas.microsoft.com/office/powerpoint/2010/main" val="4748178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B1DF32-2A8E-417C-960A-9F986373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9BEDA-F8E8-4447-AAEF-35479646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D5270-E919-4EC6-8711-AF8E171C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857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586"/>
                </a:solidFill>
              </a:defRPr>
            </a:pPr>
            <a:r>
              <a:rPr sz="975" b="1">
                <a:solidFill>
                  <a:srgbClr val="697586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BEE3F-4136-46E4-9AD5-BCB00B0F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0C66D-C5CB-42CB-ACD3-C7226D48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PIPELINE PLAYGROUND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F6FC9-A9B1-40F5-8865-FDAF0282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One evaluator; phase-specific rules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8A7CA-5F69-4364-8158-970E0A80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432EC-AEA1-46DC-A4A2-F6C88706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The same readiness role reports every missing value and its accountable owner.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CBEE7-E935-481B-9165-38FCACEE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95300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52DFD-4AEA-4A22-8BCB-95D0AA98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81325"/>
            <a:ext cx="57150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AFCBE-D3AA-4110-B6A7-62EFE3E6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WINDOWS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43540-2775-4506-BC5F-19C4FA69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A"/>
                </a:solidFill>
              </a:defRPr>
            </a:pPr>
            <a:r>
              <a:rPr sz="1800" b="1">
                <a:solidFill>
                  <a:srgbClr val="F7F8FA"/>
                </a:solidFill>
              </a:rPr>
              <a:t>network_ready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DB5F5-1048-4D4A-86D8-055D9092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3C0"/>
                </a:solidFill>
              </a:defRPr>
            </a:pPr>
            <a:r>
              <a:rPr sz="1500" b="0">
                <a:solidFill>
                  <a:srgbClr val="AAB3C0"/>
                </a:solidFill>
              </a:rPr>
              <a:t>missing gateway</a:t>
            </a:r>
          </a:p>
          <a:p xmlns:a="http://schemas.openxmlformats.org/drawingml/2006/main">
            <a:pPr algn="l">
              <a:defRPr sz="1500" b="0">
                <a:solidFill>
                  <a:srgbClr val="AAB3C0"/>
                </a:solidFill>
              </a:defRPr>
            </a:pPr>
            <a:r>
              <a:rPr sz="1500" b="0">
                <a:solidFill>
                  <a:srgbClr val="AAB3C0"/>
                </a:solidFill>
              </a:rPr>
              <a:t>missing DNS servers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74264-304B-440C-939F-F8919546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00"/>
                </a:solidFill>
              </a:defRPr>
            </a:pPr>
            <a:r>
              <a:rPr sz="1050" b="1">
                <a:solidFill>
                  <a:srgbClr val="FF7A00"/>
                </a:solidFill>
              </a:rPr>
              <a:t>owner 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396DB-9E64-4941-AE3F-91DC5D79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28900"/>
            <a:ext cx="495300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0C592D-1796-477B-84BA-B9668C0A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81325"/>
            <a:ext cx="57150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D87A09-1C86-4A9D-A05D-25AC5F1D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527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LINUX EXAMPLE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0FC9AA-26DA-4260-B1A1-29F5F545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A"/>
                </a:solidFill>
              </a:defRPr>
            </a:pPr>
            <a:r>
              <a:rPr sz="1800" b="1">
                <a:solidFill>
                  <a:srgbClr val="F7F8FA"/>
                </a:solidFill>
              </a:rPr>
              <a:t>operations_ready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4D83EE-1771-4F72-B083-92E9DC62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3C0"/>
                </a:solidFill>
              </a:defRPr>
            </a:pPr>
            <a:r>
              <a:rPr sz="1500" b="0">
                <a:solidFill>
                  <a:srgbClr val="AAB3C0"/>
                </a:solidFill>
              </a:rPr>
              <a:t>missing support group</a:t>
            </a:r>
          </a:p>
          <a:p xmlns:a="http://schemas.openxmlformats.org/drawingml/2006/main">
            <a:pPr algn="l">
              <a:defRPr sz="1500" b="0">
                <a:solidFill>
                  <a:srgbClr val="AAB3C0"/>
                </a:solidFill>
              </a:defRPr>
            </a:pPr>
            <a:r>
              <a:rPr sz="1500" b="0">
                <a:solidFill>
                  <a:srgbClr val="AAB3C0"/>
                </a:solidFill>
              </a:rPr>
              <a:t>missing monitoring profile</a:t>
            </a:r>
          </a:p>
          <a:p xmlns:a="http://schemas.openxmlformats.org/drawingml/2006/main">
            <a:pPr algn="l">
              <a:defRPr sz="1500" b="0">
                <a:solidFill>
                  <a:srgbClr val="AAB3C0"/>
                </a:solidFill>
              </a:defRPr>
            </a:pPr>
            <a:r>
              <a:rPr sz="1500" b="0">
                <a:solidFill>
                  <a:srgbClr val="AAB3C0"/>
                </a:solidFill>
              </a:rPr>
              <a:t>missing backup 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FB15CB-0920-4EB5-8E3F-970A6878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57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A9FF"/>
                </a:solidFill>
              </a:defRPr>
            </a:pPr>
            <a:r>
              <a:rPr sz="1050" b="1">
                <a:solidFill>
                  <a:srgbClr val="39A9FF"/>
                </a:solidFill>
              </a:rPr>
              <a:t>owner  OPERATIONS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6E01F6-3378-4FB9-81F3-880E1525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150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8FA"/>
                </a:solidFill>
              </a:defRPr>
            </a:pPr>
            <a:r>
              <a:rPr sz="1575" b="1">
                <a:solidFill>
                  <a:srgbClr val="F7F8FA"/>
                </a:solidFill>
              </a:rPr>
              <a:t>Blocked is an expected state—not a failed long-running AAP job.</a:t>
            </a:r>
          </a:p>
        </p:txBody>
      </p:sp>
    </p:spTree>
    <p:extLst>
      <p:ext uri="{BB962C8B-B14F-4D97-AF65-F5344CB8AC3E}">
        <p14:creationId xmlns:p14="http://schemas.microsoft.com/office/powerpoint/2010/main" val="5850861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0A9282-5D32-4446-A6CE-D094648E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123A8-9545-4D20-BCB9-07FE6282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LIFECYCLE SEMANTICS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BF128-ABFD-4BE8-B9E8-1E721755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857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586"/>
                </a:solidFill>
              </a:defRPr>
            </a:pPr>
            <a:r>
              <a:rPr sz="975" b="1">
                <a:solidFill>
                  <a:srgbClr val="697586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5FE41-4CCD-4C5F-B810-D3922149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1209F-1752-49BB-86F7-6610074A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PIPELINE PLAYGROUND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AFDE4-530F-4790-94AC-11CF546B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Every transition leaves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4BEC3-92AD-4F55-AF31-BC1698C6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5A00F-8E73-4281-B24B-F23AD71C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The updater protects the current revision and makes replay behavior explicit.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BA2F5-A5B5-4790-81A5-151857A2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0955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AAF63-4B72-4D9F-86BB-1C6A3763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66675" cy="10477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4CA7E-4AC1-4F4C-84D8-9D9294FE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REVISION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AD261-1BAD-4262-9FB8-B13EF6A1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phase: network_ready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27B16-B01F-4A87-B244-42658D53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95600"/>
            <a:ext cx="23812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172E8-1518-4C38-973E-E66BE76A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95600"/>
            <a:ext cx="66675" cy="10477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CA66E-3CF3-4B02-A796-5D988151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4800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lifecycle_update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3EA57-BCBF-4824-AE0C-2F4BD4D7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71850"/>
            <a:ext cx="201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expected rev • event 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DB4EC-4AB0-491F-A8C8-51874A87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95600"/>
            <a:ext cx="20955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401EB1-7E65-4361-93ED-8CDC8E7A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95600"/>
            <a:ext cx="66675" cy="10477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68B40E-0C4C-40A3-BD6D-1F7D66D9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4800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REVISION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103DEE-E351-4738-BBA6-F6D7E420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718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phase: os_configured</a:t>
            </a:r>
          </a:p>
        </p:txBody>
      </p:sp>
      <p:cxnSp>
        <p:nvCxnSpPr>
          <p:cNvPr id="57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781300" y="3419475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134100" y="3419475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976DBB-35D7-4249-AC47-25BDDA3D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95600"/>
            <a:ext cx="18097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AE9D6B-07E1-4904-B7B8-D037363F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95600"/>
            <a:ext cx="66675" cy="10477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56FBE5-A774-4278-A248-A7E8A500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480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APPEND EVENT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C4B713-3EB0-4040-B25D-71DBB0BA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7185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who • why • when</a:t>
            </a:r>
          </a:p>
        </p:txBody>
      </p:sp>
      <p:cxnSp>
        <p:nvCxnSpPr>
          <p:cNvPr id="63" name=""/>
          <p:cNvCxnSpPr>
            <a:stCxn xmlns:a="http://schemas.openxmlformats.org/drawingml/2006/main" id="1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201150" y="34194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D1A1"/>
            </a:solidFill>
            <a:prstDash val="soli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DC6ED5-87D8-4F92-BD4E-AC69EB9E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43450"/>
            <a:ext cx="2476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FF5D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DB705B-6642-472F-B791-1B9203B7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95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D66"/>
                </a:solidFill>
              </a:defRPr>
            </a:pPr>
            <a:r>
              <a:rPr sz="900" b="1">
                <a:solidFill>
                  <a:srgbClr val="FF5D66"/>
                </a:solidFill>
              </a:rPr>
              <a:t>STALE REVISION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A647B0-14C7-4E32-97AC-5E3C72FD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43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reject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CE4AF9-5D3C-483D-84FC-DC63FD05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43450"/>
            <a:ext cx="2476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39A9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84C20B-EDD7-47C9-85C4-1C2FBB5A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95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A9FF"/>
                </a:solidFill>
              </a:defRPr>
            </a:pPr>
            <a:r>
              <a:rPr sz="900" b="1">
                <a:solidFill>
                  <a:srgbClr val="39A9FF"/>
                </a:solidFill>
              </a:rPr>
              <a:t>REPLAYED EVENT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AAA9AF-FCDE-4A97-8A02-AFC9A73B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143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no change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641777-B1AB-474E-A44D-021452A1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43450"/>
            <a:ext cx="2476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4FD1A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D9E34C-C8AE-4D0A-A6BB-196CE34B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95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D1A1"/>
                </a:solidFill>
              </a:defRPr>
            </a:pPr>
            <a:r>
              <a:rPr sz="900" b="1">
                <a:solidFill>
                  <a:srgbClr val="4FD1A1"/>
                </a:solidFill>
              </a:rPr>
              <a:t>VALID UPDATE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0D5AEB-234D-4365-ACFC-F366D38F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43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new revision</a:t>
            </a:r>
          </a:p>
        </p:txBody>
      </p:sp>
    </p:spTree>
    <p:extLst>
      <p:ext uri="{BB962C8B-B14F-4D97-AF65-F5344CB8AC3E}">
        <p14:creationId xmlns:p14="http://schemas.microsoft.com/office/powerpoint/2010/main" val="11511073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9A66ED-AE2C-4516-8223-26CB8ECA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85B68-2DFA-4654-8540-603728ED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AAP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9B50F-A5C9-4FE0-85FD-F8AF302D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857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586"/>
                </a:solidFill>
              </a:defRPr>
            </a:pPr>
            <a:r>
              <a:rPr sz="975" b="1">
                <a:solidFill>
                  <a:srgbClr val="697586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8DFB6-73E5-44D6-96F5-63CAE79B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5313A-D9C9-497A-B5FC-9125C8AD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PIPELINE PLAYGROUND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0883A-662B-484A-AB5B-690B5C7B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Controller coordinates jobs; artifacts carry state.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E1B13-7D45-4DF2-B96F-0AA79996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EFF00-1F96-4FD4-8619-32DF279B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Suggested workflow nodes for one build phase.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3E1EC-81C1-4B8F-832A-ADDD5D9D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9240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96C2C-B87E-4DD2-8FE6-B0799EBF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6675" cy="8191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B4F70-8AF9-428C-BA57-A29412FB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JT  Load manifest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48334-45F3-450B-A22F-96845118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request ID + expected revision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E690A0-E3D0-44F5-A6CD-449DF71F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19240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9F047-3B3E-47C5-A76E-33BDD6A2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66675" cy="8191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6BAA1-6F42-4604-BBBA-C4EA8533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575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JT  Assess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5F4FC-C895-40CB-BE9A-C7B0D0E0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813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set_stats: ready / blocked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135BD4-0070-48BC-890A-7189FAF8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05100"/>
            <a:ext cx="19240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FE57D0-98E2-493C-B454-ED4D8A6A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05100"/>
            <a:ext cx="66675" cy="8191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229886-6FC5-42FD-A914-151713A0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JT  Execute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0993DA-FE7B-413F-910B-569DFAF7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813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adapter for current phase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5734A9-DDA2-482F-88AE-A362964B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05100"/>
            <a:ext cx="19240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8FCDA3-5659-48A6-B625-5C810B4A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05100"/>
            <a:ext cx="66675" cy="8191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A790F7-2255-40EC-B370-747C4B34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JT  Persist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C84C41-E713-4DD8-B4E9-F34AACB9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813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revision + event + evidence</a:t>
            </a:r>
          </a:p>
        </p:txBody>
      </p:sp>
      <p:cxnSp>
        <p:nvCxnSpPr>
          <p:cNvPr id="65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609850" y="31146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972050" y="31146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34250" y="31146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D1A1"/>
            </a:solidFill>
            <a:prstDash val="soli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205FB8-D14C-4CBD-9BA3-C6EA2017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24350"/>
            <a:ext cx="19240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468604-E997-481B-8700-301224EC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24350"/>
            <a:ext cx="66675" cy="8001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E862D0-3AE8-4270-BF9B-3DAE496D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767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JT  Record blocked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89E18E-9DA4-4E2A-9F65-06C892B3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006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successful, controlled exit</a:t>
            </a:r>
          </a:p>
        </p:txBody>
      </p:sp>
      <p:cxnSp>
        <p:nvCxnSpPr>
          <p:cNvPr id="72" name=""/>
          <p:cNvCxnSpPr>
            <a:stCxn xmlns:a="http://schemas.openxmlformats.org/drawingml/2006/main" id="13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4010025" y="3524250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5D66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C891B0-B4D2-4736-8465-7FC3748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24350"/>
            <a:ext cx="19240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6CDE59-974B-401A-B002-E4376C51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24350"/>
            <a:ext cx="66675" cy="8001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C198CB-8980-4B8D-95FF-9668A26A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767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JT  Reconcile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87BF22-69DC-4A98-AE5A-74DF58A2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006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observed state / timeout</a:t>
            </a:r>
          </a:p>
        </p:txBody>
      </p:sp>
      <p:cxnSp>
        <p:nvCxnSpPr>
          <p:cNvPr id="77" name=""/>
          <p:cNvCxnSpPr>
            <a:stCxn xmlns:a="http://schemas.openxmlformats.org/drawingml/2006/main" id="21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8734425" y="3524250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73F8BB-4A37-4100-B1AF-211E5301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860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586"/>
                </a:solidFill>
              </a:defRPr>
            </a:pPr>
            <a:r>
              <a:rPr sz="900" b="1">
                <a:solidFill>
                  <a:srgbClr val="697586"/>
                </a:solidFill>
              </a:rPr>
              <a:t>TRIGGERS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552BA9-220E-4734-81ED-3FB2809F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09900"/>
            <a:ext cx="114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API launch</a:t>
            </a:r>
          </a:p>
          <a:p xmlns:a="http://schemas.openxmlformats.org/drawingml/2006/main">
            <a:pPr algn="l">
              <a:defRPr sz="120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EDA webhook</a:t>
            </a:r>
          </a:p>
          <a:p xmlns:a="http://schemas.openxmlformats.org/drawingml/2006/main">
            <a:pPr algn="l">
              <a:defRPr sz="120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schedule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8A6C21-00CF-427D-A8C9-CECEA181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8FA"/>
                </a:solidFill>
              </a:defRPr>
            </a:pPr>
            <a:r>
              <a:rPr sz="1425" b="1">
                <a:solidFill>
                  <a:srgbClr val="F7F8FA"/>
                </a:solidFill>
              </a:rPr>
              <a:t>Use workflow success/failure/always paths for orchestration—not as the system of record.</a:t>
            </a:r>
          </a:p>
        </p:txBody>
      </p:sp>
    </p:spTree>
    <p:extLst>
      <p:ext uri="{BB962C8B-B14F-4D97-AF65-F5344CB8AC3E}">
        <p14:creationId xmlns:p14="http://schemas.microsoft.com/office/powerpoint/2010/main" val="3325160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A91E86-2481-4CE0-886D-FBAE2B8E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D15B0-C4B8-418D-8C98-0374F2F5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D1A1"/>
                </a:solidFill>
              </a:defRPr>
            </a:pPr>
            <a:r>
              <a:rPr sz="975" b="1">
                <a:solidFill>
                  <a:srgbClr val="4FD1A1"/>
                </a:solidFill>
              </a:rPr>
              <a:t>QUALITY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79DDF-9C93-48E7-81AC-460752DD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857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586"/>
                </a:solidFill>
              </a:defRPr>
            </a:pPr>
            <a:r>
              <a:rPr sz="975" b="1">
                <a:solidFill>
                  <a:srgbClr val="697586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1FB10-26E8-47A8-B830-160584AA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51D38-321D-4502-9B0A-DEEBF86F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PIPELINE PLAYGROUND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BFAB8-AD3D-4A78-9431-226D97F1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Promote the same content through repeatable gates.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508DF-D5F0-497E-A420-0572BAF2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3CDF8-D21F-4B8B-B539-81F0108D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Execution environments align local, CI, and AAP dependencies.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4CEC7-89D6-4D71-9EF6-96BA9269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7526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E9280-5556-417A-BFFF-05EEC299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66675" cy="9906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F175B5-0C87-46A3-B5F5-9B1898B0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FAST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670FA-E8F9-481C-B2B5-F5F8CCF4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YAML + fixture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61719-41D8-4670-9855-8F19DCB6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48000"/>
            <a:ext cx="17526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B86D7-F94D-4823-9345-AE118D67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48000"/>
            <a:ext cx="66675" cy="9906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DCE36-0D17-4204-889D-ED501EB3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04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CE56E-E361-47C2-AC36-6548AE73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2425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Molecule converge + 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BF822-A664-464D-9A4A-1217CFE2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17526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2BE87-AC69-473A-846A-172101AE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66675" cy="9906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2BA47-DFF2-439F-92CE-5B8316F8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004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RUNTIME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EEEDBB-771A-4E08-8CD5-C1A1F7F1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2425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Podman execution environment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4CDDF-38FF-4236-B725-77AECD33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17526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B6FBBD-226C-477E-8A65-11176D51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66675" cy="9906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8FFCFF-7AA3-4FEC-AF3E-7D88D0FD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004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CI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9761F3-82B4-4092-AE9C-085F0F89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2425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same checks on every change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C62899-D78D-4183-A113-DF2DF2B2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48000"/>
            <a:ext cx="17526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7B9B2D-C8E4-4CD5-9369-82C4B843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48000"/>
            <a:ext cx="66675" cy="9906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4D04A2-F698-47CF-911D-06093AE5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04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AAP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123D20-300B-46CF-9990-832CE377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2425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non-production workflow</a:t>
            </a:r>
          </a:p>
        </p:txBody>
      </p:sp>
      <p:cxnSp>
        <p:nvCxnSpPr>
          <p:cNvPr id="63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438400" y="3543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572000" y="3543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705600" y="3543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D1A1"/>
            </a:solidFill>
            <a:prstDash val="solid"/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839200" y="3543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D63FA8-8946-447F-BF4B-A254143D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62500"/>
            <a:ext cx="87249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516487-074A-4C3A-930F-87B42849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53000"/>
            <a:ext cx="803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8FA"/>
                </a:solidFill>
              </a:defRPr>
            </a:pPr>
            <a:r>
              <a:rPr sz="1425" b="1">
                <a:solidFill>
                  <a:srgbClr val="F7F8FA"/>
                </a:solidFill>
              </a:rPr>
              <a:t>Disposable VMware, Windows, and Linux targets remain the next level of integration evidence.</a:t>
            </a:r>
          </a:p>
        </p:txBody>
      </p:sp>
    </p:spTree>
    <p:extLst>
      <p:ext uri="{BB962C8B-B14F-4D97-AF65-F5344CB8AC3E}">
        <p14:creationId xmlns:p14="http://schemas.microsoft.com/office/powerpoint/2010/main" val="15119698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B05D41-1F34-4BE9-8D17-75A559B8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0D332-EE12-43E9-BA7B-AC1BFC0F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TEST RESPONSIBILITIES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6569F-D6B1-4B3E-9389-9643B76F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857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586"/>
                </a:solidFill>
              </a:defRPr>
            </a:pPr>
            <a:r>
              <a:rPr sz="975" b="1">
                <a:solidFill>
                  <a:srgbClr val="697586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AE0ED-97F1-42D3-B388-38615297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2AA2D-20CF-4EAD-BF2D-9B7B3087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PIPELINE PLAYGROUND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71AA9-58D6-4D5F-A6AE-25643CAD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The POC proves behavior—not a finished platform.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194AD-759F-4482-A7A8-933AE5CB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826E6-D926-4A93-83BD-AC129042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Each layer has a different test responsibility.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6D8BC-4FAB-45A0-AD28-2A0262B1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002D9-C859-427F-883B-163F5D18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090D"/>
                </a:solidFill>
              </a:defRPr>
            </a:pPr>
            <a:r>
              <a:rPr sz="1950" b="1">
                <a:solidFill>
                  <a:srgbClr val="07090D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F1B1B-0244-40EA-843D-8B301657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86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Lifecycle regression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E424E-D109-47F3-9173-53849705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860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Playbooks prove manifest creation, blocked-to-ready transitions, stale-revision rejection, and replay safety.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66A7C-268F-44D8-AC6B-E938F07E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4E653-05AD-4858-ABEA-6B6B9F18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090D"/>
                </a:solidFill>
              </a:defRPr>
            </a:pPr>
            <a:r>
              <a:rPr sz="1950" b="1">
                <a:solidFill>
                  <a:srgbClr val="07090D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C8F6F-D8C6-4C2E-9B5E-D74BFB48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76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Molecule role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0F69CC-CB44-4155-B84E-EEA4049F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766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Each role runs in a controlled execution environment, converges, verifies its artifacts, repeats idempotently, and exercises expected failures.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2FE558-6E78-4D33-AAC1-AE71B258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00064-5934-47F1-A412-08F2554A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090D"/>
                </a:solidFill>
              </a:defRPr>
            </a:pPr>
            <a:r>
              <a:rPr sz="1950" b="1">
                <a:solidFill>
                  <a:srgbClr val="07090D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7A30F0-AA71-437D-AD1A-3A0C27A7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67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AAP workflow validation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570166-E2FD-4D39-BA32-3DF74FE4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Non-production AAP will prove job-template branching, credential boundaries, and phase orchestration.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AF33EA-F015-462E-80EC-9BF1A3F7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00700"/>
            <a:ext cx="96774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8C2B54-3EC9-4063-9F48-D2E8D8F3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734050"/>
            <a:ext cx="906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AB3C0"/>
                </a:solidFill>
              </a:defRPr>
            </a:pPr>
            <a:r>
              <a:rPr sz="1275" b="1">
                <a:solidFill>
                  <a:srgbClr val="AAB3C0"/>
                </a:solidFill>
              </a:rPr>
              <a:t>Molecule does not simulate AAP. It proves a role’s contract before that role is promoted into an AAP workflow.</a:t>
            </a:r>
          </a:p>
        </p:txBody>
      </p:sp>
    </p:spTree>
    <p:extLst>
      <p:ext uri="{BB962C8B-B14F-4D97-AF65-F5344CB8AC3E}">
        <p14:creationId xmlns:p14="http://schemas.microsoft.com/office/powerpoint/2010/main" val="6375427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CE7293-05A2-4344-A45B-C71D4542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D437A-480A-4AB6-B2AF-44ABF7C7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NEXT INCREMENT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DC50E-74A4-43D9-9BA0-5D477384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857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586"/>
                </a:solidFill>
              </a:defRPr>
            </a:pPr>
            <a:r>
              <a:rPr sz="975" b="1">
                <a:solidFill>
                  <a:srgbClr val="697586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62A9C-9B28-440F-B5F3-FF2D49E2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FA982-4CA5-4951-812D-8B68BEA4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PIPELINE PLAYGROUND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2458E-C153-4A61-AC10-2D325F52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Prove durable artifacts next.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3B108-1DB0-415B-8C04-6A39EF8D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073D6-FE46-48ED-911D-CB0EE20E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An S3-compatible adapter is the smallest valuable bridge from local semantics to shared operations.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EFFAD-EC80-4C9A-894D-A2B439BC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6670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F4591-8A53-4C8F-A7C0-0B933ACB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66675" cy="1295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93497-8D0E-4E66-A6B6-7C20DABE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LOCAL FILE ADAPTER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B7901E-679B-4088-9570-70D5F144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2305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Proven lifecycle semantics</a:t>
            </a:r>
          </a:p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and deterministic key layout.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BC4DD-12B7-4CDA-AD25-D8B87210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26670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1303BB-1BB7-4814-93FE-E2BFA5B8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66675" cy="1295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9F804-39CA-4608-B544-D6F1744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670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S3-COMPATIBLE 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07344-9182-4F94-AB9E-B8C6BDB2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90900"/>
            <a:ext cx="2305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Versioning • conditional write</a:t>
            </a:r>
          </a:p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retrieval • retention • latency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075B5-9303-4306-9EA7-F813721C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26670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46934-7DBC-4DAF-AD0D-70A028C1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66675" cy="1295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B34A91-CC0D-4BD0-92B7-9F05618E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NON-PROD PROVIDER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D0B84-50C2-4903-B451-C32DA4EC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90900"/>
            <a:ext cx="2305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VMware or Infoblox</a:t>
            </a:r>
          </a:p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behind the same interface.</a:t>
            </a:r>
          </a:p>
        </p:txBody>
      </p:sp>
      <p:cxnSp>
        <p:nvCxnSpPr>
          <p:cNvPr id="51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352800" y="356235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429500" y="356235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4B2040-9F65-46F9-B640-C94E645C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911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5FF4EA-3B46-4213-B1D1-71A30D17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53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single-writer / concurrency strategy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F4FA4B-1528-4E8A-86B6-8F05089A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911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0A3EFD-897B-4BB9-9210-F33D0733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certificate and credential boundary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70523B-32C1-4316-9062-9816CFFD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483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88E9A9-EFBC-4759-9AB9-B11777B8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10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metadata and sensitive-data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588C47-43BD-446E-BE59-72077887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483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C6DC70-F241-49E9-86B2-1FD5D85F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10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blocked-build query requirements</a:t>
            </a:r>
          </a:p>
        </p:txBody>
      </p:sp>
    </p:spTree>
    <p:extLst>
      <p:ext uri="{BB962C8B-B14F-4D97-AF65-F5344CB8AC3E}">
        <p14:creationId xmlns:p14="http://schemas.microsoft.com/office/powerpoint/2010/main" val="17825286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2026-07-17T14:33:19.8680000Z</dcterms:created>
  <dcterms:modified xsi:type="dcterms:W3CDTF">2026-07-17T14:33:19.8680000Z</dcterms:modified>
</coreProperties>
</file>