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9cf7d8637d44dc" /><Relationship Type="http://schemas.openxmlformats.org/officeDocument/2006/relationships/extended-properties" Target="/docProps/app.xml" Id="Rf42e5a8c7e934b8c" /><Relationship Type="http://schemas.openxmlformats.org/officeDocument/2006/relationships/officeDocument" Target="/ppt/presentation.xml" Id="R5b3d5a87cf9c4f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3a55ed17104b4f"/>
  </p:sldMasterIdLst>
  <p:notesMasterIdLst>
    <p:notesMasterId xmlns:r="http://schemas.openxmlformats.org/officeDocument/2006/relationships" r:id="Rea78480dcf5045ba"/>
  </p:notesMasterIdLst>
  <p:sldIdLst>
    <p:sldId xmlns:r="http://schemas.openxmlformats.org/officeDocument/2006/relationships" id="256" r:id="R5953c52881f841d9"/>
    <p:sldId xmlns:r="http://schemas.openxmlformats.org/officeDocument/2006/relationships" id="257" r:id="R220b5ba5a7214b48"/>
    <p:sldId xmlns:r="http://schemas.openxmlformats.org/officeDocument/2006/relationships" id="258" r:id="R7e7cefd081544e83"/>
    <p:sldId xmlns:r="http://schemas.openxmlformats.org/officeDocument/2006/relationships" id="259" r:id="Rcfdaf11b528e4e11"/>
    <p:sldId xmlns:r="http://schemas.openxmlformats.org/officeDocument/2006/relationships" id="260" r:id="R6cfd697ab98640fe"/>
    <p:sldId xmlns:r="http://schemas.openxmlformats.org/officeDocument/2006/relationships" id="261" r:id="R2e32e7705ecf45e0"/>
    <p:sldId xmlns:r="http://schemas.openxmlformats.org/officeDocument/2006/relationships" id="262" r:id="Rae4536e0c1194569"/>
    <p:sldId xmlns:r="http://schemas.openxmlformats.org/officeDocument/2006/relationships" id="263" r:id="Rd1cf5d49f33b4c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afb4447acd4953" /><Relationship Type="http://schemas.openxmlformats.org/officeDocument/2006/relationships/slideMaster" Target="/ppt/slideMasters/slideMaster1.xml" Id="Rbe3a55ed17104b4f" /><Relationship Type="http://schemas.openxmlformats.org/officeDocument/2006/relationships/notesMaster" Target="/ppt/notesMasters/notesMaster1.xml" Id="Rea78480dcf5045ba" /><Relationship Type="http://schemas.openxmlformats.org/officeDocument/2006/relationships/presProps" Target="/ppt/presProps.xml" Id="R7618d25bbec045ab" /><Relationship Type="http://schemas.openxmlformats.org/officeDocument/2006/relationships/tableStyles" Target="/ppt/tableStyles.xml" Id="R7b5831437fce44c4" /><Relationship Type="http://schemas.openxmlformats.org/officeDocument/2006/relationships/slide" Target="/ppt/slides/slide1.xml" Id="R5953c52881f841d9" /><Relationship Type="http://schemas.openxmlformats.org/officeDocument/2006/relationships/slide" Target="/ppt/slides/slide2.xml" Id="R220b5ba5a7214b48" /><Relationship Type="http://schemas.openxmlformats.org/officeDocument/2006/relationships/slide" Target="/ppt/slides/slide3.xml" Id="R7e7cefd081544e83" /><Relationship Type="http://schemas.openxmlformats.org/officeDocument/2006/relationships/slide" Target="/ppt/slides/slide4.xml" Id="Rcfdaf11b528e4e11" /><Relationship Type="http://schemas.openxmlformats.org/officeDocument/2006/relationships/slide" Target="/ppt/slides/slide5.xml" Id="R6cfd697ab98640fe" /><Relationship Type="http://schemas.openxmlformats.org/officeDocument/2006/relationships/slide" Target="/ppt/slides/slide6.xml" Id="R2e32e7705ecf45e0" /><Relationship Type="http://schemas.openxmlformats.org/officeDocument/2006/relationships/slide" Target="/ppt/slides/slide7.xml" Id="Rae4536e0c1194569" /><Relationship Type="http://schemas.openxmlformats.org/officeDocument/2006/relationships/slide" Target="/ppt/slides/slide8.xml" Id="Rd1cf5d49f33b4c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32765005af4c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68d26d1b334df8" /><Relationship Type="http://schemas.openxmlformats.org/officeDocument/2006/relationships/notesMaster" Target="/ppt/notesMasters/notesMaster1.xml" Id="R179eefe1162946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a62091e4d44317" /><Relationship Type="http://schemas.openxmlformats.org/officeDocument/2006/relationships/notesMaster" Target="/ppt/notesMasters/notesMaster1.xml" Id="R41a7e28847d642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5c4c5dfd354dd5" /><Relationship Type="http://schemas.openxmlformats.org/officeDocument/2006/relationships/notesMaster" Target="/ppt/notesMasters/notesMaster1.xml" Id="R6b6687246e0949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7586cd34b04aa7" /><Relationship Type="http://schemas.openxmlformats.org/officeDocument/2006/relationships/notesMaster" Target="/ppt/notesMasters/notesMaster1.xml" Id="R00da7364cc4b46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05b8637fe5461b" /><Relationship Type="http://schemas.openxmlformats.org/officeDocument/2006/relationships/notesMaster" Target="/ppt/notesMasters/notesMaster1.xml" Id="Rba2a2df21e224d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950d86601b4b9b" /><Relationship Type="http://schemas.openxmlformats.org/officeDocument/2006/relationships/notesMaster" Target="/ppt/notesMasters/notesMaster1.xml" Id="R7a874a83ec104c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44b2db26174997" /><Relationship Type="http://schemas.openxmlformats.org/officeDocument/2006/relationships/notesMaster" Target="/ppt/notesMasters/notesMaster1.xml" Id="R60a3b8e106b94c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961f28738b44ce" /><Relationship Type="http://schemas.openxmlformats.org/officeDocument/2006/relationships/notesMaster" Target="/ppt/notesMasters/notesMaster1.xml" Id="R99473ccbdca342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c00fdf1ea40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f8b6a0dafb4437" /><Relationship Type="http://schemas.openxmlformats.org/officeDocument/2006/relationships/slideLayout" Target="/ppt/slideLayouts/slideLayout1.xml" Id="Re7882f32730646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882f32730646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669468a474fd9" /><Relationship Type="http://schemas.openxmlformats.org/officeDocument/2006/relationships/notesSlide" Target="/ppt/notesSlides/notesSlide1.xml" Id="Rce5f95c0fdc940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e3b337f924912" /><Relationship Type="http://schemas.openxmlformats.org/officeDocument/2006/relationships/notesSlide" Target="/ppt/notesSlides/notesSlide2.xml" Id="R3677ea1d10624f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37c86a1a045c1" /><Relationship Type="http://schemas.openxmlformats.org/officeDocument/2006/relationships/notesSlide" Target="/ppt/notesSlides/notesSlide3.xml" Id="Rfd92d4cbc1a747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75162a61345c8" /><Relationship Type="http://schemas.openxmlformats.org/officeDocument/2006/relationships/notesSlide" Target="/ppt/notesSlides/notesSlide4.xml" Id="Rdc05aa5fb13c45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1ad4a896a444a" /><Relationship Type="http://schemas.openxmlformats.org/officeDocument/2006/relationships/notesSlide" Target="/ppt/notesSlides/notesSlide5.xml" Id="R451e3a586cec4d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339484e2a451c" /><Relationship Type="http://schemas.openxmlformats.org/officeDocument/2006/relationships/notesSlide" Target="/ppt/notesSlides/notesSlide6.xml" Id="R20307337f51541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3eceb46824603" /><Relationship Type="http://schemas.openxmlformats.org/officeDocument/2006/relationships/notesSlide" Target="/ppt/notesSlides/notesSlide7.xml" Id="R9e89aedc801c4f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3a8b5264741a7" /><Relationship Type="http://schemas.openxmlformats.org/officeDocument/2006/relationships/notesSlide" Target="/ppt/notesSlides/notesSlide8.xml" Id="Ra4d3eb65cd1f49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blue">
            <a:extLst xmlns:a="http://schemas.openxmlformats.org/drawingml/2006/main">
              <a:ext uri="{FF2B5EF4-FFF2-40B4-BE49-F238E27FC236}">
                <a16:creationId xmlns:a16="http://schemas.microsoft.com/office/drawing/2014/main" id="{5FD33B7D-27FE-49FC-8B45-8FFD8353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7B650FD4-9F28-48FC-AA67-2AEFAB3B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D1BF941D-AAAA-4340-8875-60A70E00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audience-box">
            <a:extLst xmlns:a="http://schemas.openxmlformats.org/drawingml/2006/main">
              <a:ext uri="{FF2B5EF4-FFF2-40B4-BE49-F238E27FC236}">
                <a16:creationId xmlns:a16="http://schemas.microsoft.com/office/drawing/2014/main" id="{0FDCCF9D-3B2C-42FD-80F8-DE456EE7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2512"/>
          </a:solidFill>
          <a:ln xmlns:a="http://schemas.openxmlformats.org/drawingml/2006/main" w="9525">
            <a:solidFill>
              <a:srgbClr val="4A2512"/>
            </a:solidFill>
            <a:prstDash val="solid"/>
          </a:ln>
        </p:spPr>
      </p:sp>
      <p:sp>
        <p:nvSpPr>
          <p:cNvPr id="5" name="audience-text">
            <a:extLst xmlns:a="http://schemas.openxmlformats.org/drawingml/2006/main">
              <a:ext uri="{FF2B5EF4-FFF2-40B4-BE49-F238E27FC236}">
                <a16:creationId xmlns:a16="http://schemas.microsoft.com/office/drawing/2014/main" id="{057C5277-2065-4C29-A32F-AD85C559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LEADERSHIP BRIEF</a:t>
            </a:r>
          </a:p>
        </p:txBody>
      </p:sp>
      <p:sp>
        <p:nvSpPr>
          <p:cNvPr id="6" name="deck-title">
            <a:extLst xmlns:a="http://schemas.openxmlformats.org/drawingml/2006/main">
              <a:ext uri="{FF2B5EF4-FFF2-40B4-BE49-F238E27FC236}">
                <a16:creationId xmlns:a16="http://schemas.microsoft.com/office/drawing/2014/main" id="{9E725EB4-5C82-4DF2-8ADD-5AE0DB32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250" b="1" i="0">
                <a:solidFill>
                  <a:srgbClr val="F7F9FC"/>
                </a:solidFill>
              </a:defRPr>
            </a:pPr>
            <a:r>
              <a:rPr sz="5250" b="1" i="0">
                <a:solidFill>
                  <a:srgbClr val="F7F9FC"/>
                </a:solidFill>
              </a:rPr>
              <a:t>Discovery-to-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250" b="1" i="0">
                <a:solidFill>
                  <a:srgbClr val="F7F9FC"/>
                </a:solidFill>
              </a:defRPr>
            </a:pPr>
            <a:r>
              <a:rPr sz="5250" b="1" i="0">
                <a:solidFill>
                  <a:srgbClr val="F7F9FC"/>
                </a:solidFill>
              </a:rPr>
              <a:t>Automation Awareness</a:t>
            </a:r>
          </a:p>
        </p:txBody>
      </p:sp>
      <p:sp>
        <p:nvSpPr>
          <p:cNvPr id="7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42A7823-5E38-4411-BAB1-974662D8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85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00" b="0" i="0">
                <a:solidFill>
                  <a:srgbClr val="A9B3C1"/>
                </a:solidFill>
              </a:defRPr>
            </a:pPr>
            <a:r>
              <a:rPr sz="2100" b="0" i="0">
                <a:solidFill>
                  <a:srgbClr val="A9B3C1"/>
                </a:solidFill>
              </a:rPr>
              <a:t>Reduce inventory latency now—without waiting for unrestricted CMDB access.</a:t>
            </a:r>
          </a:p>
        </p:txBody>
      </p:sp>
      <p:sp>
        <p:nvSpPr>
          <p:cNvPr id="8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DA322AF5-B050-40D6-BCB5-C7C5B883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29718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9" name="metric">
            <a:extLst xmlns:a="http://schemas.openxmlformats.org/drawingml/2006/main">
              <a:ext uri="{FF2B5EF4-FFF2-40B4-BE49-F238E27FC236}">
                <a16:creationId xmlns:a16="http://schemas.microsoft.com/office/drawing/2014/main" id="{D6870E54-2621-4670-BE83-2E9A791F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400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 i="0">
                <a:solidFill>
                  <a:srgbClr val="F07C28"/>
                </a:solidFill>
              </a:defRPr>
            </a:pPr>
            <a:r>
              <a:rPr sz="5850" b="1" i="0">
                <a:solidFill>
                  <a:srgbClr val="F07C28"/>
                </a:solidFill>
              </a:rPr>
              <a:t>+24h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37F0D53-09A1-4E37-B0E3-AC850C15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7657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reported current-state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awareness latency</a:t>
            </a:r>
          </a:p>
        </p:txBody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FE857190-F69F-483F-A946-2D4C014F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00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657184"/>
                </a:solidFill>
              </a:defRPr>
            </a:pPr>
            <a:r>
              <a:rPr sz="1050" b="0" i="0">
                <a:solidFill>
                  <a:srgbClr val="657184"/>
                </a:solidFill>
              </a:rPr>
              <a:t>Representative environment — not a product benchmark</a:t>
            </a:r>
          </a:p>
        </p:txBody>
      </p:sp>
      <p:sp>
        <p:nvSpPr>
          <p:cNvPr id="12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2D6561E-F846-4468-88CA-85EEF042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4394832-D749-4394-A112-55EA0819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E2B430-F835-4FD4-9EA3-DE29A6F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6392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blue">
            <a:extLst xmlns:a="http://schemas.openxmlformats.org/drawingml/2006/main">
              <a:ext uri="{FF2B5EF4-FFF2-40B4-BE49-F238E27FC236}">
                <a16:creationId xmlns:a16="http://schemas.microsoft.com/office/drawing/2014/main" id="{0E7D0AB2-3BA5-4B1E-B647-D4E7E196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2D0CCF1-DDA8-4A63-A30B-E878BD57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AD0B3B5B-1B35-49E7-B82E-1FA39C25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989E9B9-0B29-46D6-99CD-266CE921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THE PROBLEM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4F2B441-9801-49E3-BE78-7F3BA330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The issue is the inventory data supply chain.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0F5631E-84A5-409D-BC0F-BE21D0CF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Several valid platforms are connected by a slow, opaque operating path.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A6A980D-17AB-4E77-8B45-5BA15886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7981EE0-A10A-472E-A186-1B2C38C8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B909F6-D0F8-4179-8F09-A713E630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02</a:t>
            </a:r>
          </a:p>
        </p:txBody>
      </p:sp>
      <p:sp>
        <p:nvSpPr>
          <p:cNvPr id="10" name="chain-0-box">
            <a:extLst xmlns:a="http://schemas.openxmlformats.org/drawingml/2006/main">
              <a:ext uri="{FF2B5EF4-FFF2-40B4-BE49-F238E27FC236}">
                <a16:creationId xmlns:a16="http://schemas.microsoft.com/office/drawing/2014/main" id="{A273F812-1CB0-419F-9A57-1D43D2A4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1" name="chain-0-label">
            <a:extLst xmlns:a="http://schemas.openxmlformats.org/drawingml/2006/main">
              <a:ext uri="{FF2B5EF4-FFF2-40B4-BE49-F238E27FC236}">
                <a16:creationId xmlns:a16="http://schemas.microsoft.com/office/drawing/2014/main" id="{E8662EA2-FDB1-4C8D-ABC8-D34142AA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Discover</a:t>
            </a:r>
          </a:p>
        </p:txBody>
      </p:sp>
      <p:sp>
        <p:nvSpPr>
          <p:cNvPr id="12" name="chain-0-subtitle">
            <a:extLst xmlns:a="http://schemas.openxmlformats.org/drawingml/2006/main">
              <a:ext uri="{FF2B5EF4-FFF2-40B4-BE49-F238E27FC236}">
                <a16:creationId xmlns:a16="http://schemas.microsoft.com/office/drawing/2014/main" id="{F180FA07-0224-4216-BD5E-9D16D784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agents + scanners</a:t>
            </a:r>
          </a:p>
        </p:txBody>
      </p:sp>
      <p:sp>
        <p:nvSpPr>
          <p:cNvPr id="13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71FA972E-E095-4ED9-87B0-99715773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28950"/>
            <a:ext cx="247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57184"/>
            </a:solidFill>
            <a:prstDash val="solid"/>
          </a:ln>
        </p:spPr>
      </p:sp>
      <p:sp>
        <p:nvSpPr>
          <p:cNvPr id="14" name="chain-1-box">
            <a:extLst xmlns:a="http://schemas.openxmlformats.org/drawingml/2006/main">
              <a:ext uri="{FF2B5EF4-FFF2-40B4-BE49-F238E27FC236}">
                <a16:creationId xmlns:a16="http://schemas.microsoft.com/office/drawing/2014/main" id="{D5DF3EC6-D7DB-4D75-9D7E-03B7F5B3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5" name="chain-1-label">
            <a:extLst xmlns:a="http://schemas.openxmlformats.org/drawingml/2006/main">
              <a:ext uri="{FF2B5EF4-FFF2-40B4-BE49-F238E27FC236}">
                <a16:creationId xmlns:a16="http://schemas.microsoft.com/office/drawing/2014/main" id="{301EE46F-35A7-4177-A90C-977E9A42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1937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Reconcile</a:t>
            </a:r>
          </a:p>
        </p:txBody>
      </p:sp>
      <p:sp>
        <p:nvSpPr>
          <p:cNvPr id="16" name="chain-1-subtitle">
            <a:extLst xmlns:a="http://schemas.openxmlformats.org/drawingml/2006/main">
              <a:ext uri="{FF2B5EF4-FFF2-40B4-BE49-F238E27FC236}">
                <a16:creationId xmlns:a16="http://schemas.microsoft.com/office/drawing/2014/main" id="{8B3B7075-F239-44E8-827B-31377E40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575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UCMDB + CMDB</a:t>
            </a:r>
          </a:p>
        </p:txBody>
      </p:sp>
      <p:sp>
        <p:nvSpPr>
          <p:cNvPr id="17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BF2254ED-E058-4439-9BEE-673B9F00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47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57184"/>
            </a:solidFill>
            <a:prstDash val="solid"/>
          </a:ln>
        </p:spPr>
      </p:sp>
      <p:sp>
        <p:nvSpPr>
          <p:cNvPr id="18" name="chain-2-box">
            <a:extLst xmlns:a="http://schemas.openxmlformats.org/drawingml/2006/main">
              <a:ext uri="{FF2B5EF4-FFF2-40B4-BE49-F238E27FC236}">
                <a16:creationId xmlns:a16="http://schemas.microsoft.com/office/drawing/2014/main" id="{2CAE730D-9D99-4865-B8E1-3CCC194F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9" name="chain-2-label">
            <a:extLst xmlns:a="http://schemas.openxmlformats.org/drawingml/2006/main">
              <a:ext uri="{FF2B5EF4-FFF2-40B4-BE49-F238E27FC236}">
                <a16:creationId xmlns:a16="http://schemas.microsoft.com/office/drawing/2014/main" id="{8928CA23-176F-4EEF-B2B5-C1650BCF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Report</a:t>
            </a:r>
          </a:p>
        </p:txBody>
      </p:sp>
      <p:sp>
        <p:nvSpPr>
          <p:cNvPr id="20" name="chain-2-subtitle">
            <a:extLst xmlns:a="http://schemas.openxmlformats.org/drawingml/2006/main">
              <a:ext uri="{FF2B5EF4-FFF2-40B4-BE49-F238E27FC236}">
                <a16:creationId xmlns:a16="http://schemas.microsoft.com/office/drawing/2014/main" id="{86E5CCE6-5BCB-4410-9DE1-84F207AF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575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scheduled extract</a:t>
            </a:r>
          </a:p>
        </p:txBody>
      </p:sp>
      <p:sp>
        <p:nvSpPr>
          <p:cNvPr id="21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0CE69E9B-B06B-4D31-91C2-85034074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28950"/>
            <a:ext cx="247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57184"/>
            </a:solidFill>
            <a:prstDash val="solid"/>
          </a:ln>
        </p:spPr>
      </p:sp>
      <p:sp>
        <p:nvSpPr>
          <p:cNvPr id="22" name="chain-3-box">
            <a:extLst xmlns:a="http://schemas.openxmlformats.org/drawingml/2006/main">
              <a:ext uri="{FF2B5EF4-FFF2-40B4-BE49-F238E27FC236}">
                <a16:creationId xmlns:a16="http://schemas.microsoft.com/office/drawing/2014/main" id="{2B3A6F8B-3769-494E-81A2-AD6A980C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7650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23" name="chain-3-label">
            <a:extLst xmlns:a="http://schemas.openxmlformats.org/drawingml/2006/main">
              <a:ext uri="{FF2B5EF4-FFF2-40B4-BE49-F238E27FC236}">
                <a16:creationId xmlns:a16="http://schemas.microsoft.com/office/drawing/2014/main" id="{05079EB6-6CF5-47C6-A328-596F6974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1937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Process</a:t>
            </a:r>
          </a:p>
        </p:txBody>
      </p:sp>
      <p:sp>
        <p:nvSpPr>
          <p:cNvPr id="24" name="chain-3-subtitle">
            <a:extLst xmlns:a="http://schemas.openxmlformats.org/drawingml/2006/main">
              <a:ext uri="{FF2B5EF4-FFF2-40B4-BE49-F238E27FC236}">
                <a16:creationId xmlns:a16="http://schemas.microsoft.com/office/drawing/2014/main" id="{7BA6E6B0-3A31-4874-854B-FF174BB6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575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files + shadow host</a:t>
            </a:r>
          </a:p>
        </p:txBody>
      </p:sp>
      <p:sp>
        <p:nvSpPr>
          <p:cNvPr id="25" name="chain-arrow-3">
            <a:extLst xmlns:a="http://schemas.openxmlformats.org/drawingml/2006/main">
              <a:ext uri="{FF2B5EF4-FFF2-40B4-BE49-F238E27FC236}">
                <a16:creationId xmlns:a16="http://schemas.microsoft.com/office/drawing/2014/main" id="{9C1AD995-4E44-45F7-A852-19489C1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247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57184"/>
            </a:solidFill>
            <a:prstDash val="solid"/>
          </a:ln>
        </p:spPr>
      </p:sp>
      <p:sp>
        <p:nvSpPr>
          <p:cNvPr id="26" name="chain-4-box">
            <a:extLst xmlns:a="http://schemas.openxmlformats.org/drawingml/2006/main">
              <a:ext uri="{FF2B5EF4-FFF2-40B4-BE49-F238E27FC236}">
                <a16:creationId xmlns:a16="http://schemas.microsoft.com/office/drawing/2014/main" id="{0DD03AF5-DFFA-4ADA-A72A-323FA1B1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27" name="chain-4-label">
            <a:extLst xmlns:a="http://schemas.openxmlformats.org/drawingml/2006/main">
              <a:ext uri="{FF2B5EF4-FFF2-40B4-BE49-F238E27FC236}">
                <a16:creationId xmlns:a16="http://schemas.microsoft.com/office/drawing/2014/main" id="{6DA86ACC-1CAC-4DCE-B9AB-1A71796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1937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Target</a:t>
            </a:r>
          </a:p>
        </p:txBody>
      </p:sp>
      <p:sp>
        <p:nvSpPr>
          <p:cNvPr id="28" name="chain-4-subtitle">
            <a:extLst xmlns:a="http://schemas.openxmlformats.org/drawingml/2006/main">
              <a:ext uri="{FF2B5EF4-FFF2-40B4-BE49-F238E27FC236}">
                <a16:creationId xmlns:a16="http://schemas.microsoft.com/office/drawing/2014/main" id="{0B8BF107-2C82-48BD-8FEA-A2FC75FB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575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semi-static AAP</a:t>
            </a:r>
          </a:p>
        </p:txBody>
      </p:sp>
      <p:sp>
        <p:nvSpPr>
          <p:cNvPr id="29" name="callout-box">
            <a:extLst xmlns:a="http://schemas.openxmlformats.org/drawingml/2006/main">
              <a:ext uri="{FF2B5EF4-FFF2-40B4-BE49-F238E27FC236}">
                <a16:creationId xmlns:a16="http://schemas.microsoft.com/office/drawing/2014/main" id="{F026C3A5-79FC-496A-8565-4D68730A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71950"/>
            <a:ext cx="7353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30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13920259-8DB2-4D93-B1B0-9B6C0A48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719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1" name="callout-title">
            <a:extLst xmlns:a="http://schemas.openxmlformats.org/drawingml/2006/main">
              <a:ext uri="{FF2B5EF4-FFF2-40B4-BE49-F238E27FC236}">
                <a16:creationId xmlns:a16="http://schemas.microsoft.com/office/drawing/2014/main" id="{B3B09CAA-3012-47E5-88D8-8FC53E99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62450"/>
            <a:ext cx="693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7F9FC"/>
                </a:solidFill>
              </a:defRPr>
            </a:pPr>
            <a:r>
              <a:rPr sz="1875" b="1" i="0">
                <a:solidFill>
                  <a:srgbClr val="F7F9FC"/>
                </a:solidFill>
              </a:rPr>
              <a:t>AAP learns last.</a:t>
            </a:r>
          </a:p>
        </p:txBody>
      </p:sp>
      <p:sp>
        <p:nvSpPr>
          <p:cNvPr id="32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2C38403F-22DA-4021-BBA3-DA51EFFE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19650"/>
            <a:ext cx="693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The server may exist and be discovered, yet remain unavailable to automation until every scheduled and file-based handoff completes.</a:t>
            </a:r>
          </a:p>
        </p:txBody>
      </p:sp>
    </p:spTree>
    <p:extLst>
      <p:ext uri="{BB962C8B-B14F-4D97-AF65-F5344CB8AC3E}">
        <p14:creationId xmlns:p14="http://schemas.microsoft.com/office/powerpoint/2010/main" val="137467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blue">
            <a:extLst xmlns:a="http://schemas.openxmlformats.org/drawingml/2006/main">
              <a:ext uri="{FF2B5EF4-FFF2-40B4-BE49-F238E27FC236}">
                <a16:creationId xmlns:a16="http://schemas.microsoft.com/office/drawing/2014/main" id="{48A63CA2-BBD1-4DFB-838D-F9FD27CE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D0CEA0E-67EF-4344-9091-43DF1F9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21CC69AB-7B45-44C1-BC7A-5F66B3D0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1F90C60-9BAA-4A13-B37C-CD22BC46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WHY IT MATTERS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667D685-0F2B-4AC9-A1A9-6D11EA4C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Each handoff adds delay without adding authority.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EBB9015-DD75-47F2-89E6-71E51963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The chain copies and transforms data—but does not create a new source of truth.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CAF598A-FEF9-42D2-8850-91F30DDC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787E972-0AB9-41E5-8533-D8586FF2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95CC21-AB1D-4DD5-BE4A-11CF9FE6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03</a:t>
            </a:r>
          </a:p>
        </p:txBody>
      </p:sp>
      <p:sp>
        <p:nvSpPr>
          <p:cNvPr id="10" name="risk-0-box">
            <a:extLst xmlns:a="http://schemas.openxmlformats.org/drawingml/2006/main">
              <a:ext uri="{FF2B5EF4-FFF2-40B4-BE49-F238E27FC236}">
                <a16:creationId xmlns:a16="http://schemas.microsoft.com/office/drawing/2014/main" id="{BA8608B8-1418-45F5-8B88-86357E74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505075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1" name="risk-0-accent">
            <a:extLst xmlns:a="http://schemas.openxmlformats.org/drawingml/2006/main">
              <a:ext uri="{FF2B5EF4-FFF2-40B4-BE49-F238E27FC236}">
                <a16:creationId xmlns:a16="http://schemas.microsoft.com/office/drawing/2014/main" id="{E58C8AB5-1A96-4597-B85A-F7269F4D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6667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12" name="risk-0-title">
            <a:extLst xmlns:a="http://schemas.openxmlformats.org/drawingml/2006/main">
              <a:ext uri="{FF2B5EF4-FFF2-40B4-BE49-F238E27FC236}">
                <a16:creationId xmlns:a16="http://schemas.microsoft.com/office/drawing/2014/main" id="{E272F9E2-E534-4831-9B8E-A1008B10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7F9FC"/>
                </a:solidFill>
              </a:defRPr>
            </a:pPr>
            <a:r>
              <a:rPr sz="1800" b="1" i="0">
                <a:solidFill>
                  <a:srgbClr val="F7F9FC"/>
                </a:solidFill>
              </a:rPr>
              <a:t>Stale targeting</a:t>
            </a:r>
          </a:p>
        </p:txBody>
      </p:sp>
      <p:sp>
        <p:nvSpPr>
          <p:cNvPr id="13" name="risk-0-body">
            <a:extLst xmlns:a="http://schemas.openxmlformats.org/drawingml/2006/main">
              <a:ext uri="{FF2B5EF4-FFF2-40B4-BE49-F238E27FC236}">
                <a16:creationId xmlns:a16="http://schemas.microsoft.com/office/drawing/2014/main" id="{F152297B-0822-4211-81E9-3CFBDF7A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085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A9B3C1"/>
                </a:solidFill>
              </a:defRPr>
            </a:pPr>
            <a:r>
              <a:rPr sz="1575" b="0" i="0">
                <a:solidFill>
                  <a:srgbClr val="A9B3C1"/>
                </a:solidFill>
              </a:rPr>
              <a:t>New or changed servers remain absent from automation.</a:t>
            </a:r>
          </a:p>
        </p:txBody>
      </p:sp>
      <p:sp>
        <p:nvSpPr>
          <p:cNvPr id="14" name="risk-1-box">
            <a:extLst xmlns:a="http://schemas.openxmlformats.org/drawingml/2006/main">
              <a:ext uri="{FF2B5EF4-FFF2-40B4-BE49-F238E27FC236}">
                <a16:creationId xmlns:a16="http://schemas.microsoft.com/office/drawing/2014/main" id="{64BC1971-E0CC-49FA-B152-82A7C0F0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343150"/>
            <a:ext cx="2505075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5" name="risk-1-accent">
            <a:extLst xmlns:a="http://schemas.openxmlformats.org/drawingml/2006/main">
              <a:ext uri="{FF2B5EF4-FFF2-40B4-BE49-F238E27FC236}">
                <a16:creationId xmlns:a16="http://schemas.microsoft.com/office/drawing/2014/main" id="{EA1FE0A8-E31C-4EB5-BEC4-7B91BEDF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343150"/>
            <a:ext cx="6667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16" name="risk-1-title">
            <a:extLst xmlns:a="http://schemas.openxmlformats.org/drawingml/2006/main">
              <a:ext uri="{FF2B5EF4-FFF2-40B4-BE49-F238E27FC236}">
                <a16:creationId xmlns:a16="http://schemas.microsoft.com/office/drawing/2014/main" id="{D68F67BA-206A-40CF-A11D-32E75D2A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3365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7F9FC"/>
                </a:solidFill>
              </a:defRPr>
            </a:pPr>
            <a:r>
              <a:rPr sz="1800" b="1" i="0">
                <a:solidFill>
                  <a:srgbClr val="F7F9FC"/>
                </a:solidFill>
              </a:rPr>
              <a:t>Build stalls</a:t>
            </a:r>
          </a:p>
        </p:txBody>
      </p:sp>
      <p:sp>
        <p:nvSpPr>
          <p:cNvPr id="17" name="risk-1-body">
            <a:extLst xmlns:a="http://schemas.openxmlformats.org/drawingml/2006/main">
              <a:ext uri="{FF2B5EF4-FFF2-40B4-BE49-F238E27FC236}">
                <a16:creationId xmlns:a16="http://schemas.microsoft.com/office/drawing/2014/main" id="{9FFAEBB9-FE79-4869-8095-2F03CCA1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90850"/>
            <a:ext cx="2085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A9B3C1"/>
                </a:solidFill>
              </a:defRPr>
            </a:pPr>
            <a:r>
              <a:rPr sz="1575" b="0" i="0">
                <a:solidFill>
                  <a:srgbClr val="A9B3C1"/>
                </a:solidFill>
              </a:rPr>
              <a:t>Handoff waits on inventory awareness outside the build flow.</a:t>
            </a:r>
          </a:p>
        </p:txBody>
      </p:sp>
      <p:sp>
        <p:nvSpPr>
          <p:cNvPr id="18" name="risk-2-box">
            <a:extLst xmlns:a="http://schemas.openxmlformats.org/drawingml/2006/main">
              <a:ext uri="{FF2B5EF4-FFF2-40B4-BE49-F238E27FC236}">
                <a16:creationId xmlns:a16="http://schemas.microsoft.com/office/drawing/2014/main" id="{3D42C899-D27E-443C-AAD2-CC7163B1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2505075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9" name="risk-2-accent">
            <a:extLst xmlns:a="http://schemas.openxmlformats.org/drawingml/2006/main">
              <a:ext uri="{FF2B5EF4-FFF2-40B4-BE49-F238E27FC236}">
                <a16:creationId xmlns:a16="http://schemas.microsoft.com/office/drawing/2014/main" id="{E9E48269-599B-44A2-95AF-79EF9030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6667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0" name="risk-2-title">
            <a:extLst xmlns:a="http://schemas.openxmlformats.org/drawingml/2006/main">
              <a:ext uri="{FF2B5EF4-FFF2-40B4-BE49-F238E27FC236}">
                <a16:creationId xmlns:a16="http://schemas.microsoft.com/office/drawing/2014/main" id="{DA5570DC-A660-4A1E-8D3B-3AF338E9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3365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7F9FC"/>
                </a:solidFill>
              </a:defRPr>
            </a:pPr>
            <a:r>
              <a:rPr sz="1800" b="1" i="0">
                <a:solidFill>
                  <a:srgbClr val="F7F9FC"/>
                </a:solidFill>
              </a:rPr>
              <a:t>Hidden dependency</a:t>
            </a:r>
          </a:p>
        </p:txBody>
      </p:sp>
      <p:sp>
        <p:nvSpPr>
          <p:cNvPr id="21" name="risk-2-body">
            <a:extLst xmlns:a="http://schemas.openxmlformats.org/drawingml/2006/main">
              <a:ext uri="{FF2B5EF4-FFF2-40B4-BE49-F238E27FC236}">
                <a16:creationId xmlns:a16="http://schemas.microsoft.com/office/drawing/2014/main" id="{2B8333D7-EEF9-4567-97EB-37A6656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90850"/>
            <a:ext cx="2085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A9B3C1"/>
                </a:solidFill>
              </a:defRPr>
            </a:pPr>
            <a:r>
              <a:rPr sz="1575" b="0" i="0">
                <a:solidFill>
                  <a:srgbClr val="A9B3C1"/>
                </a:solidFill>
              </a:rPr>
              <a:t>A persistent utility host and file shares become critical infrastructure.</a:t>
            </a:r>
          </a:p>
        </p:txBody>
      </p:sp>
      <p:sp>
        <p:nvSpPr>
          <p:cNvPr id="22" name="risk-3-box">
            <a:extLst xmlns:a="http://schemas.openxmlformats.org/drawingml/2006/main">
              <a:ext uri="{FF2B5EF4-FFF2-40B4-BE49-F238E27FC236}">
                <a16:creationId xmlns:a16="http://schemas.microsoft.com/office/drawing/2014/main" id="{F2B231B4-D421-4400-BD90-0CE745F6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43150"/>
            <a:ext cx="2505075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23" name="risk-3-accent">
            <a:extLst xmlns:a="http://schemas.openxmlformats.org/drawingml/2006/main">
              <a:ext uri="{FF2B5EF4-FFF2-40B4-BE49-F238E27FC236}">
                <a16:creationId xmlns:a16="http://schemas.microsoft.com/office/drawing/2014/main" id="{9D83F15F-E647-43B9-9239-20C3B9DD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43150"/>
            <a:ext cx="6667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4" name="risk-3-title">
            <a:extLst xmlns:a="http://schemas.openxmlformats.org/drawingml/2006/main">
              <a:ext uri="{FF2B5EF4-FFF2-40B4-BE49-F238E27FC236}">
                <a16:creationId xmlns:a16="http://schemas.microsoft.com/office/drawing/2014/main" id="{6EAEB7CC-EBE7-4DA4-9743-F65C48BA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3365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7F9FC"/>
                </a:solidFill>
              </a:defRPr>
            </a:pPr>
            <a:r>
              <a:rPr sz="1800" b="1" i="0">
                <a:solidFill>
                  <a:srgbClr val="F7F9FC"/>
                </a:solidFill>
              </a:rPr>
              <a:t>Manual judgment</a:t>
            </a:r>
          </a:p>
        </p:txBody>
      </p:sp>
      <p:sp>
        <p:nvSpPr>
          <p:cNvPr id="25" name="risk-3-body">
            <a:extLst xmlns:a="http://schemas.openxmlformats.org/drawingml/2006/main">
              <a:ext uri="{FF2B5EF4-FFF2-40B4-BE49-F238E27FC236}">
                <a16:creationId xmlns:a16="http://schemas.microsoft.com/office/drawing/2014/main" id="{E8FE5BC5-8B53-41FB-9958-BAC7DFFB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90850"/>
            <a:ext cx="2085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A9B3C1"/>
                </a:solidFill>
              </a:defRPr>
            </a:pPr>
            <a:r>
              <a:rPr sz="1575" b="0" i="0">
                <a:solidFill>
                  <a:srgbClr val="A9B3C1"/>
                </a:solidFill>
              </a:rPr>
              <a:t>Engineers compensate with exceptions, local variables, and one-off inventory decisions.</a:t>
            </a:r>
          </a:p>
        </p:txBody>
      </p:sp>
      <p:sp>
        <p:nvSpPr>
          <p:cNvPr id="26" name="bottom-callout">
            <a:extLst xmlns:a="http://schemas.openxmlformats.org/drawingml/2006/main">
              <a:ext uri="{FF2B5EF4-FFF2-40B4-BE49-F238E27FC236}">
                <a16:creationId xmlns:a16="http://schemas.microsoft.com/office/drawing/2014/main" id="{E16365BC-61F1-45A3-BFA0-936A92CA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00650"/>
            <a:ext cx="910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7F9FC"/>
                </a:solidFill>
              </a:defRPr>
            </a:pPr>
            <a:r>
              <a:rPr sz="1875" b="1" i="0">
                <a:solidFill>
                  <a:srgbClr val="F7F9FC"/>
                </a:solidFill>
              </a:rPr>
              <a:t>The useful outcome measure is elapsed time from real change to safe AAP eligibility.</a:t>
            </a:r>
          </a:p>
        </p:txBody>
      </p:sp>
    </p:spTree>
    <p:extLst>
      <p:ext uri="{BB962C8B-B14F-4D97-AF65-F5344CB8AC3E}">
        <p14:creationId xmlns:p14="http://schemas.microsoft.com/office/powerpoint/2010/main" val="2138519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blue">
            <a:extLst xmlns:a="http://schemas.openxmlformats.org/drawingml/2006/main">
              <a:ext uri="{FF2B5EF4-FFF2-40B4-BE49-F238E27FC236}">
                <a16:creationId xmlns:a16="http://schemas.microsoft.com/office/drawing/2014/main" id="{3BC3C64A-91A2-4C40-B530-4D336A44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06370162-0FA7-421A-AB8E-F9E89DD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CF9ACC8F-1F39-4798-A5A1-AB4BC1BE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F415150-0B4E-4959-9731-DFEAD3E9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28A7E8"/>
                </a:solidFill>
              </a:defRPr>
            </a:pPr>
            <a:r>
              <a:rPr sz="1200" b="1" i="0">
                <a:solidFill>
                  <a:srgbClr val="28A7E8"/>
                </a:solidFill>
              </a:rPr>
              <a:t>ACHIEVABLE NOW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DD2BA19-C422-475E-857C-D31DD7C9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We can improve the constrained path.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CC592E6-2AFD-4E7F-BB11-650DA8CF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Keep the permitted report boundary; replace the processing path behind it.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9AFFE25-140A-4505-805A-9BACDCC8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B53A2BA-FF87-4151-8E3B-7157EB47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6A66470-4E97-4256-8F83-1682F224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04</a:t>
            </a:r>
          </a:p>
        </p:txBody>
      </p:sp>
      <p:sp>
        <p:nvSpPr>
          <p:cNvPr id="10" name="target-0-box">
            <a:extLst xmlns:a="http://schemas.openxmlformats.org/drawingml/2006/main">
              <a:ext uri="{FF2B5EF4-FFF2-40B4-BE49-F238E27FC236}">
                <a16:creationId xmlns:a16="http://schemas.microsoft.com/office/drawing/2014/main" id="{C779CC51-F488-4421-84DC-E3E185BF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2669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11" name="target-0-label">
            <a:extLst xmlns:a="http://schemas.openxmlformats.org/drawingml/2006/main">
              <a:ext uri="{FF2B5EF4-FFF2-40B4-BE49-F238E27FC236}">
                <a16:creationId xmlns:a16="http://schemas.microsoft.com/office/drawing/2014/main" id="{CA712202-28D8-43B6-923E-6D775097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Report export</a:t>
            </a:r>
          </a:p>
        </p:txBody>
      </p:sp>
      <p:sp>
        <p:nvSpPr>
          <p:cNvPr id="12" name="target-0-subtitle">
            <a:extLst xmlns:a="http://schemas.openxmlformats.org/drawingml/2006/main">
              <a:ext uri="{FF2B5EF4-FFF2-40B4-BE49-F238E27FC236}">
                <a16:creationId xmlns:a16="http://schemas.microsoft.com/office/drawing/2014/main" id="{0B401391-AB93-4B35-8D9A-02B3020F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existing source</a:t>
            </a:r>
          </a:p>
        </p:txBody>
      </p:sp>
      <p:sp>
        <p:nvSpPr>
          <p:cNvPr id="13" name="target-arrow-0">
            <a:extLst xmlns:a="http://schemas.openxmlformats.org/drawingml/2006/main">
              <a:ext uri="{FF2B5EF4-FFF2-40B4-BE49-F238E27FC236}">
                <a16:creationId xmlns:a16="http://schemas.microsoft.com/office/drawing/2014/main" id="{541337DD-A29F-42F2-BEF9-BD3058C6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19425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A7E8"/>
            </a:solidFill>
            <a:prstDash val="solid"/>
          </a:ln>
        </p:spPr>
      </p:sp>
      <p:sp>
        <p:nvSpPr>
          <p:cNvPr id="14" name="target-1-box">
            <a:extLst xmlns:a="http://schemas.openxmlformats.org/drawingml/2006/main">
              <a:ext uri="{FF2B5EF4-FFF2-40B4-BE49-F238E27FC236}">
                <a16:creationId xmlns:a16="http://schemas.microsoft.com/office/drawing/2014/main" id="{ECD52423-A351-424A-874D-8DFAE2F3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00300"/>
            <a:ext cx="22669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5" name="target-1-label">
            <a:extLst xmlns:a="http://schemas.openxmlformats.org/drawingml/2006/main">
              <a:ext uri="{FF2B5EF4-FFF2-40B4-BE49-F238E27FC236}">
                <a16:creationId xmlns:a16="http://schemas.microsoft.com/office/drawing/2014/main" id="{B52FF313-BA82-4BD1-BFFC-AE2FF90B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5431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Managed landing</a:t>
            </a:r>
          </a:p>
        </p:txBody>
      </p:sp>
      <p:sp>
        <p:nvSpPr>
          <p:cNvPr id="16" name="target-1-subtitle">
            <a:extLst xmlns:a="http://schemas.openxmlformats.org/drawingml/2006/main">
              <a:ext uri="{FF2B5EF4-FFF2-40B4-BE49-F238E27FC236}">
                <a16:creationId xmlns:a16="http://schemas.microsoft.com/office/drawing/2014/main" id="{DE738DEC-CD03-4A3B-9229-97371460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813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one completed file</a:t>
            </a:r>
          </a:p>
        </p:txBody>
      </p:sp>
      <p:sp>
        <p:nvSpPr>
          <p:cNvPr id="17" name="target-arrow-1">
            <a:extLst xmlns:a="http://schemas.openxmlformats.org/drawingml/2006/main">
              <a:ext uri="{FF2B5EF4-FFF2-40B4-BE49-F238E27FC236}">
                <a16:creationId xmlns:a16="http://schemas.microsoft.com/office/drawing/2014/main" id="{601A639E-49CF-4E99-9134-1AAC7D26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019425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A7E8"/>
            </a:solidFill>
            <a:prstDash val="solid"/>
          </a:ln>
        </p:spPr>
      </p:sp>
      <p:sp>
        <p:nvSpPr>
          <p:cNvPr id="18" name="target-2-box">
            <a:extLst xmlns:a="http://schemas.openxmlformats.org/drawingml/2006/main">
              <a:ext uri="{FF2B5EF4-FFF2-40B4-BE49-F238E27FC236}">
                <a16:creationId xmlns:a16="http://schemas.microsoft.com/office/drawing/2014/main" id="{FCAFC0BB-D418-4934-ADA0-98BD0D80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2669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9" name="target-2-label">
            <a:extLst xmlns:a="http://schemas.openxmlformats.org/drawingml/2006/main">
              <a:ext uri="{FF2B5EF4-FFF2-40B4-BE49-F238E27FC236}">
                <a16:creationId xmlns:a16="http://schemas.microsoft.com/office/drawing/2014/main" id="{71862DAA-160A-4943-BFE2-E4496489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431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Validate + version</a:t>
            </a:r>
          </a:p>
        </p:txBody>
      </p:sp>
      <p:sp>
        <p:nvSpPr>
          <p:cNvPr id="20" name="target-2-subtitle">
            <a:extLst xmlns:a="http://schemas.openxmlformats.org/drawingml/2006/main">
              <a:ext uri="{FF2B5EF4-FFF2-40B4-BE49-F238E27FC236}">
                <a16:creationId xmlns:a16="http://schemas.microsoft.com/office/drawing/2014/main" id="{565798F3-C328-418D-8859-EA9DFA79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813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raw + current snapshot</a:t>
            </a:r>
          </a:p>
        </p:txBody>
      </p:sp>
      <p:sp>
        <p:nvSpPr>
          <p:cNvPr id="21" name="target-arrow-2">
            <a:extLst xmlns:a="http://schemas.openxmlformats.org/drawingml/2006/main">
              <a:ext uri="{FF2B5EF4-FFF2-40B4-BE49-F238E27FC236}">
                <a16:creationId xmlns:a16="http://schemas.microsoft.com/office/drawing/2014/main" id="{1772FDCB-92A9-4C38-B40E-335312A3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19425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A7E8"/>
            </a:solidFill>
            <a:prstDash val="solid"/>
          </a:ln>
        </p:spPr>
      </p:sp>
      <p:sp>
        <p:nvSpPr>
          <p:cNvPr id="22" name="target-3-box">
            <a:extLst xmlns:a="http://schemas.openxmlformats.org/drawingml/2006/main">
              <a:ext uri="{FF2B5EF4-FFF2-40B4-BE49-F238E27FC236}">
                <a16:creationId xmlns:a16="http://schemas.microsoft.com/office/drawing/2014/main" id="{4615CA4B-1D3B-4585-B94E-57AFF4C6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00300"/>
            <a:ext cx="22669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23" name="target-3-label">
            <a:extLst xmlns:a="http://schemas.openxmlformats.org/drawingml/2006/main">
              <a:ext uri="{FF2B5EF4-FFF2-40B4-BE49-F238E27FC236}">
                <a16:creationId xmlns:a16="http://schemas.microsoft.com/office/drawing/2014/main" id="{6E429A8C-7CC6-4854-8841-7ED4AEE2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431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AAP inventory sync</a:t>
            </a:r>
          </a:p>
        </p:txBody>
      </p:sp>
      <p:sp>
        <p:nvSpPr>
          <p:cNvPr id="24" name="target-3-subtitle">
            <a:extLst xmlns:a="http://schemas.openxmlformats.org/drawingml/2006/main">
              <a:ext uri="{FF2B5EF4-FFF2-40B4-BE49-F238E27FC236}">
                <a16:creationId xmlns:a16="http://schemas.microsoft.com/office/drawing/2014/main" id="{989DB555-C2FC-47B5-A65E-1ECEF502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813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freshness-gated</a:t>
            </a:r>
          </a:p>
        </p:txBody>
      </p:sp>
      <p:sp>
        <p:nvSpPr>
          <p:cNvPr id="25" name="constraint-box">
            <a:extLst xmlns:a="http://schemas.openxmlformats.org/drawingml/2006/main">
              <a:ext uri="{FF2B5EF4-FFF2-40B4-BE49-F238E27FC236}">
                <a16:creationId xmlns:a16="http://schemas.microsoft.com/office/drawing/2014/main" id="{DB304C4D-DFF7-4EC7-83B5-E41149FB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57650"/>
            <a:ext cx="3924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2A"/>
          </a:solidFill>
          <a:ln xmlns:a="http://schemas.openxmlformats.org/drawingml/2006/main" w="9525">
            <a:solidFill>
              <a:srgbClr val="173B2A"/>
            </a:solidFill>
            <a:prstDash val="solid"/>
          </a:ln>
        </p:spPr>
      </p:sp>
      <p:sp>
        <p:nvSpPr>
          <p:cNvPr id="26" name="constraint-text">
            <a:extLst xmlns:a="http://schemas.openxmlformats.org/drawingml/2006/main">
              <a:ext uri="{FF2B5EF4-FFF2-40B4-BE49-F238E27FC236}">
                <a16:creationId xmlns:a16="http://schemas.microsoft.com/office/drawing/2014/main" id="{6BC9D1C8-65B7-44E2-8684-237C54F3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052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5CC58A"/>
                </a:solidFill>
              </a:defRPr>
            </a:pPr>
            <a:r>
              <a:rPr sz="1200" b="1" i="0">
                <a:solidFill>
                  <a:srgbClr val="5CC58A"/>
                </a:solidFill>
              </a:rPr>
              <a:t>ACCESS RESTRICTION PRESERVED</a:t>
            </a:r>
          </a:p>
        </p:txBody>
      </p:sp>
      <p:sp>
        <p:nvSpPr>
          <p:cNvPr id="27" name="target-outcome">
            <a:extLst xmlns:a="http://schemas.openxmlformats.org/drawingml/2006/main">
              <a:ext uri="{FF2B5EF4-FFF2-40B4-BE49-F238E27FC236}">
                <a16:creationId xmlns:a16="http://schemas.microsoft.com/office/drawing/2014/main" id="{F458F997-54F2-4296-8713-8511E01D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05350"/>
            <a:ext cx="735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7F9FC"/>
                </a:solidFill>
              </a:defRPr>
            </a:pPr>
            <a:r>
              <a:rPr sz="1950" b="1" i="0">
                <a:solidFill>
                  <a:srgbClr val="F7F9FC"/>
                </a:solidFill>
              </a:rPr>
              <a:t>Server jobs consume a published inventory projection.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7F9FC"/>
                </a:solidFill>
              </a:defRPr>
            </a:pPr>
            <a:r>
              <a:rPr sz="1950" b="1" i="0">
                <a:solidFill>
                  <a:srgbClr val="F7F9FC"/>
                </a:solidFill>
              </a:rPr>
              <a:t>They do not crawl shares or parse reports.</a:t>
            </a:r>
          </a:p>
        </p:txBody>
      </p:sp>
      <p:sp>
        <p:nvSpPr>
          <p:cNvPr id="28" name="source">
            <a:extLst xmlns:a="http://schemas.openxmlformats.org/drawingml/2006/main">
              <a:ext uri="{FF2B5EF4-FFF2-40B4-BE49-F238E27FC236}">
                <a16:creationId xmlns:a16="http://schemas.microsoft.com/office/drawing/2014/main" id="{316CD220-3748-422C-A8DB-B816CF9F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57184"/>
                </a:solidFill>
              </a:defRPr>
            </a:pPr>
            <a:r>
              <a:rPr sz="1050" b="0" i="0">
                <a:solidFill>
                  <a:srgbClr val="657184"/>
                </a:solidFill>
              </a:rPr>
              <a:t>Source basis: TIBCO WebFOCUS ReportCaster delivery options; Red Hat AAP inventory sources.</a:t>
            </a:r>
          </a:p>
        </p:txBody>
      </p:sp>
    </p:spTree>
    <p:extLst>
      <p:ext uri="{BB962C8B-B14F-4D97-AF65-F5344CB8AC3E}">
        <p14:creationId xmlns:p14="http://schemas.microsoft.com/office/powerpoint/2010/main" val="1693739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blue">
            <a:extLst xmlns:a="http://schemas.openxmlformats.org/drawingml/2006/main">
              <a:ext uri="{FF2B5EF4-FFF2-40B4-BE49-F238E27FC236}">
                <a16:creationId xmlns:a16="http://schemas.microsoft.com/office/drawing/2014/main" id="{F6263BD0-B8DC-4C98-9325-18ACBBFB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6163A0D-766A-4228-BE06-97C9A796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554028F1-40BD-4BE5-A949-2B043FCD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A406C78-D7E9-4F10-B3F8-2638B754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5CC58A"/>
                </a:solidFill>
              </a:defRPr>
            </a:pPr>
            <a:r>
              <a:rPr sz="1200" b="1" i="0">
                <a:solidFill>
                  <a:srgbClr val="5CC58A"/>
                </a:solidFill>
              </a:rPr>
              <a:t>NEAR-TERM VALUE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F156F08-600D-420C-B2D6-0F9C3959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Remove avoidable post-report delay.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7165CA7-B031-4918-88F1-43BDD8E0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Expose the remaining upstream delay instead of hiding it in one processing job.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3D50E4F-5658-48F1-B901-3E8E3D8D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3512BBC-1456-41C4-B99C-235AB3F4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B6556DC-B7B7-423B-B93A-0440A773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05</a:t>
            </a:r>
          </a:p>
        </p:txBody>
      </p:sp>
      <p:sp>
        <p:nvSpPr>
          <p:cNvPr id="10" name="value-1-box">
            <a:extLst xmlns:a="http://schemas.openxmlformats.org/drawingml/2006/main">
              <a:ext uri="{FF2B5EF4-FFF2-40B4-BE49-F238E27FC236}">
                <a16:creationId xmlns:a16="http://schemas.microsoft.com/office/drawing/2014/main" id="{6CE04F57-B52E-45A6-BC8E-2F2ED37C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1" name="value-1-accent">
            <a:extLst xmlns:a="http://schemas.openxmlformats.org/drawingml/2006/main">
              <a:ext uri="{FF2B5EF4-FFF2-40B4-BE49-F238E27FC236}">
                <a16:creationId xmlns:a16="http://schemas.microsoft.com/office/drawing/2014/main" id="{48293F41-0994-4171-A2AA-0A5D3438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12" name="value-1-title">
            <a:extLst xmlns:a="http://schemas.openxmlformats.org/drawingml/2006/main">
              <a:ext uri="{FF2B5EF4-FFF2-40B4-BE49-F238E27FC236}">
                <a16:creationId xmlns:a16="http://schemas.microsoft.com/office/drawing/2014/main" id="{21789E42-2130-429C-AF97-0A6B58CB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7F9FC"/>
                </a:solidFill>
              </a:defRPr>
            </a:pPr>
            <a:r>
              <a:rPr sz="1875" b="1" i="0">
                <a:solidFill>
                  <a:srgbClr val="F7F9FC"/>
                </a:solidFill>
              </a:rPr>
              <a:t>Faster after arrival</a:t>
            </a:r>
          </a:p>
        </p:txBody>
      </p:sp>
      <p:sp>
        <p:nvSpPr>
          <p:cNvPr id="13" name="value-1-body">
            <a:extLst xmlns:a="http://schemas.openxmlformats.org/drawingml/2006/main">
              <a:ext uri="{FF2B5EF4-FFF2-40B4-BE49-F238E27FC236}">
                <a16:creationId xmlns:a16="http://schemas.microsoft.com/office/drawing/2014/main" id="{ED97C202-FA04-424A-B50C-C9BDA693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2895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A9B3C1"/>
                </a:solidFill>
              </a:defRPr>
            </a:pPr>
            <a:r>
              <a:rPr sz="1575" b="0" i="0">
                <a:solidFill>
                  <a:srgbClr val="A9B3C1"/>
                </a:solidFill>
              </a:rPr>
              <a:t>Ingestion begins when the completed report lands; it does not wait for an hours-long monolithic automation run.</a:t>
            </a:r>
          </a:p>
        </p:txBody>
      </p:sp>
      <p:sp>
        <p:nvSpPr>
          <p:cNvPr id="14" name="value-2-box">
            <a:extLst xmlns:a="http://schemas.openxmlformats.org/drawingml/2006/main">
              <a:ext uri="{FF2B5EF4-FFF2-40B4-BE49-F238E27FC236}">
                <a16:creationId xmlns:a16="http://schemas.microsoft.com/office/drawing/2014/main" id="{27EC7B88-9F72-466E-9A3E-F817BE41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5" name="value-2-accent">
            <a:extLst xmlns:a="http://schemas.openxmlformats.org/drawingml/2006/main">
              <a:ext uri="{FF2B5EF4-FFF2-40B4-BE49-F238E27FC236}">
                <a16:creationId xmlns:a16="http://schemas.microsoft.com/office/drawing/2014/main" id="{CD8785E8-F74D-4F69-ADBC-B6C03FF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16" name="value-2-title">
            <a:extLst xmlns:a="http://schemas.openxmlformats.org/drawingml/2006/main">
              <a:ext uri="{FF2B5EF4-FFF2-40B4-BE49-F238E27FC236}">
                <a16:creationId xmlns:a16="http://schemas.microsoft.com/office/drawing/2014/main" id="{04EAA6F3-553F-4971-A446-038BC4DC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7F9FC"/>
                </a:solidFill>
              </a:defRPr>
            </a:pPr>
            <a:r>
              <a:rPr sz="1875" b="1" i="0">
                <a:solidFill>
                  <a:srgbClr val="F7F9FC"/>
                </a:solidFill>
              </a:rPr>
              <a:t>Visible freshness</a:t>
            </a:r>
          </a:p>
        </p:txBody>
      </p:sp>
      <p:sp>
        <p:nvSpPr>
          <p:cNvPr id="17" name="value-2-body">
            <a:extLst xmlns:a="http://schemas.openxmlformats.org/drawingml/2006/main">
              <a:ext uri="{FF2B5EF4-FFF2-40B4-BE49-F238E27FC236}">
                <a16:creationId xmlns:a16="http://schemas.microsoft.com/office/drawing/2014/main" id="{2726B7D2-877D-482C-9AA1-4BBDC6A7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2895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A9B3C1"/>
                </a:solidFill>
              </a:defRPr>
            </a:pPr>
            <a:r>
              <a:rPr sz="1575" b="0" i="0">
                <a:solidFill>
                  <a:srgbClr val="A9B3C1"/>
                </a:solidFill>
              </a:rPr>
              <a:t>Source age, accepted records, rejection, and AAP synchronization become measurable evidence.</a:t>
            </a:r>
          </a:p>
        </p:txBody>
      </p:sp>
      <p:sp>
        <p:nvSpPr>
          <p:cNvPr id="18" name="value-3-box">
            <a:extLst xmlns:a="http://schemas.openxmlformats.org/drawingml/2006/main">
              <a:ext uri="{FF2B5EF4-FFF2-40B4-BE49-F238E27FC236}">
                <a16:creationId xmlns:a16="http://schemas.microsoft.com/office/drawing/2014/main" id="{2B5FA2BA-2079-49AD-BBEE-22D7F0E8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9" name="value-3-accent">
            <a:extLst xmlns:a="http://schemas.openxmlformats.org/drawingml/2006/main">
              <a:ext uri="{FF2B5EF4-FFF2-40B4-BE49-F238E27FC236}">
                <a16:creationId xmlns:a16="http://schemas.microsoft.com/office/drawing/2014/main" id="{5C186B9F-C3AE-47C6-A82D-49586B4B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20" name="value-3-title">
            <a:extLst xmlns:a="http://schemas.openxmlformats.org/drawingml/2006/main">
              <a:ext uri="{FF2B5EF4-FFF2-40B4-BE49-F238E27FC236}">
                <a16:creationId xmlns:a16="http://schemas.microsoft.com/office/drawing/2014/main" id="{DB2D4A15-BE22-440F-8334-6A2AD961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7F9FC"/>
                </a:solidFill>
              </a:defRPr>
            </a:pPr>
            <a:r>
              <a:rPr sz="1875" b="1" i="0">
                <a:solidFill>
                  <a:srgbClr val="F7F9FC"/>
                </a:solidFill>
              </a:rPr>
              <a:t>Smaller failure domain</a:t>
            </a:r>
          </a:p>
        </p:txBody>
      </p:sp>
      <p:sp>
        <p:nvSpPr>
          <p:cNvPr id="21" name="value-3-body">
            <a:extLst xmlns:a="http://schemas.openxmlformats.org/drawingml/2006/main">
              <a:ext uri="{FF2B5EF4-FFF2-40B4-BE49-F238E27FC236}">
                <a16:creationId xmlns:a16="http://schemas.microsoft.com/office/drawing/2014/main" id="{A3D7FAFC-69EF-4A7D-B5D7-4E70FE9E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2895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A9B3C1"/>
                </a:solidFill>
              </a:defRPr>
            </a:pPr>
            <a:r>
              <a:rPr sz="1575" b="0" i="0">
                <a:solidFill>
                  <a:srgbClr val="A9B3C1"/>
                </a:solidFill>
              </a:rPr>
              <a:t>A bad report is quarantined without replacing the last-known-good inventory projection.</a:t>
            </a:r>
          </a:p>
        </p:txBody>
      </p:sp>
      <p:sp>
        <p:nvSpPr>
          <p:cNvPr id="22" name="caveat-box">
            <a:extLst xmlns:a="http://schemas.openxmlformats.org/drawingml/2006/main">
              <a:ext uri="{FF2B5EF4-FFF2-40B4-BE49-F238E27FC236}">
                <a16:creationId xmlns:a16="http://schemas.microsoft.com/office/drawing/2014/main" id="{EF135B55-2876-4F02-BB1F-6BD60EAA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62550"/>
            <a:ext cx="7239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4A2512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23" name="caveat">
            <a:extLst xmlns:a="http://schemas.openxmlformats.org/drawingml/2006/main">
              <a:ext uri="{FF2B5EF4-FFF2-40B4-BE49-F238E27FC236}">
                <a16:creationId xmlns:a16="http://schemas.microsoft.com/office/drawing/2014/main" id="{6961BDCD-889E-4E96-AC1F-F3FD75B0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324475"/>
            <a:ext cx="678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7F9FC"/>
                </a:solidFill>
              </a:defRPr>
            </a:pPr>
            <a:r>
              <a:rPr sz="1500" b="1" i="0">
                <a:solidFill>
                  <a:srgbClr val="F7F9FC"/>
                </a:solidFill>
              </a:rPr>
              <a:t>Caveat: upstream report cadence still sets the earliest possible freshness.</a:t>
            </a:r>
          </a:p>
        </p:txBody>
      </p:sp>
    </p:spTree>
    <p:extLst>
      <p:ext uri="{BB962C8B-B14F-4D97-AF65-F5344CB8AC3E}">
        <p14:creationId xmlns:p14="http://schemas.microsoft.com/office/powerpoint/2010/main" val="4881528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blue">
            <a:extLst xmlns:a="http://schemas.openxmlformats.org/drawingml/2006/main">
              <a:ext uri="{FF2B5EF4-FFF2-40B4-BE49-F238E27FC236}">
                <a16:creationId xmlns:a16="http://schemas.microsoft.com/office/drawing/2014/main" id="{4DB93DAB-66F5-4F99-9083-A0D83745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931EB66-26B4-4B5A-9CBD-41739DA1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6478ED94-4E00-4EDB-A0D6-35C54893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D893374-8F47-403C-B252-0B7109CB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07C28"/>
                </a:solidFill>
              </a:defRPr>
            </a:pPr>
            <a:r>
              <a:rPr sz="1200" b="1" i="0">
                <a:solidFill>
                  <a:srgbClr val="F07C28"/>
                </a:solidFill>
              </a:rPr>
              <a:t>IDEAL TARGET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E8D5BF-A93A-4AA6-B95C-4B5BF8BD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Add automation as a governed CMDB source.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389DF66-2DDA-4BCA-A1E4-01FCD5F7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Discovery remains authoritative for observed facts; build automation owns intent and handoff evidence.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64683F1-0F3E-437F-88FC-C589577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5844E18-C62B-4974-AE9D-58F7A175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80BFE2-CD86-442F-B604-70735E68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06</a:t>
            </a:r>
          </a:p>
        </p:txBody>
      </p:sp>
      <p:sp>
        <p:nvSpPr>
          <p:cNvPr id="10" name="build-source-box">
            <a:extLst xmlns:a="http://schemas.openxmlformats.org/drawingml/2006/main">
              <a:ext uri="{FF2B5EF4-FFF2-40B4-BE49-F238E27FC236}">
                <a16:creationId xmlns:a16="http://schemas.microsoft.com/office/drawing/2014/main" id="{057C9C78-B28E-4365-BA0F-0AC6E631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857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F07C28"/>
            </a:solidFill>
            <a:prstDash val="solid"/>
          </a:ln>
        </p:spPr>
      </p:sp>
      <p:sp>
        <p:nvSpPr>
          <p:cNvPr id="11" name="build-source-label">
            <a:extLst xmlns:a="http://schemas.openxmlformats.org/drawingml/2006/main">
              <a:ext uri="{FF2B5EF4-FFF2-40B4-BE49-F238E27FC236}">
                <a16:creationId xmlns:a16="http://schemas.microsoft.com/office/drawing/2014/main" id="{EAA8E75B-D787-419F-9121-EC1EE29A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431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Automation source dataset</a:t>
            </a:r>
          </a:p>
        </p:txBody>
      </p:sp>
      <p:sp>
        <p:nvSpPr>
          <p:cNvPr id="12" name="build-source-subtitle">
            <a:extLst xmlns:a="http://schemas.openxmlformats.org/drawingml/2006/main">
              <a:ext uri="{FF2B5EF4-FFF2-40B4-BE49-F238E27FC236}">
                <a16:creationId xmlns:a16="http://schemas.microsoft.com/office/drawing/2014/main" id="{71672522-62F0-45CA-BD38-83A9B871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request • build • handoff</a:t>
            </a:r>
          </a:p>
        </p:txBody>
      </p:sp>
      <p:sp>
        <p:nvSpPr>
          <p:cNvPr id="13" name="discovery-source-box">
            <a:extLst xmlns:a="http://schemas.openxmlformats.org/drawingml/2006/main">
              <a:ext uri="{FF2B5EF4-FFF2-40B4-BE49-F238E27FC236}">
                <a16:creationId xmlns:a16="http://schemas.microsoft.com/office/drawing/2014/main" id="{DCD7AD02-100C-4F06-B2B3-2622DAC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857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14" name="discovery-source-label">
            <a:extLst xmlns:a="http://schemas.openxmlformats.org/drawingml/2006/main">
              <a:ext uri="{FF2B5EF4-FFF2-40B4-BE49-F238E27FC236}">
                <a16:creationId xmlns:a16="http://schemas.microsoft.com/office/drawing/2014/main" id="{CE6C575A-A917-474F-BEA3-CE7C1953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Discovery source dataset</a:t>
            </a:r>
          </a:p>
        </p:txBody>
      </p:sp>
      <p:sp>
        <p:nvSpPr>
          <p:cNvPr id="15" name="discovery-source-subtitle">
            <a:extLst xmlns:a="http://schemas.openxmlformats.org/drawingml/2006/main">
              <a:ext uri="{FF2B5EF4-FFF2-40B4-BE49-F238E27FC236}">
                <a16:creationId xmlns:a16="http://schemas.microsoft.com/office/drawing/2014/main" id="{51CB9278-172E-4F8D-91E5-1D9D893C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76775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runtime observations</a:t>
            </a:r>
          </a:p>
        </p:txBody>
      </p:sp>
      <p:sp>
        <p:nvSpPr>
          <p:cNvPr id="16" name="build-to-reconcile">
            <a:extLst xmlns:a="http://schemas.openxmlformats.org/drawingml/2006/main">
              <a:ext uri="{FF2B5EF4-FFF2-40B4-BE49-F238E27FC236}">
                <a16:creationId xmlns:a16="http://schemas.microsoft.com/office/drawing/2014/main" id="{1B5CC00A-88B4-487D-BE0A-FCD530EF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43225"/>
            <a:ext cx="876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07C28"/>
            </a:solidFill>
            <a:prstDash val="solid"/>
          </a:ln>
        </p:spPr>
      </p:sp>
      <p:sp>
        <p:nvSpPr>
          <p:cNvPr id="17" name="discovery-to-reconcile">
            <a:extLst xmlns:a="http://schemas.openxmlformats.org/drawingml/2006/main">
              <a:ext uri="{FF2B5EF4-FFF2-40B4-BE49-F238E27FC236}">
                <a16:creationId xmlns:a16="http://schemas.microsoft.com/office/drawing/2014/main" id="{7C356B4D-93FC-467E-B81C-2B5BB94D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38675"/>
            <a:ext cx="876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A7E8"/>
            </a:solidFill>
            <a:prstDash val="solid"/>
          </a:ln>
        </p:spPr>
      </p:sp>
      <p:sp>
        <p:nvSpPr>
          <p:cNvPr id="18" name="reconcile-box">
            <a:extLst xmlns:a="http://schemas.openxmlformats.org/drawingml/2006/main">
              <a:ext uri="{FF2B5EF4-FFF2-40B4-BE49-F238E27FC236}">
                <a16:creationId xmlns:a16="http://schemas.microsoft.com/office/drawing/2014/main" id="{CE2F2C4A-849D-4557-8509-51686A7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24765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19" name="reconcile-label">
            <a:extLst xmlns:a="http://schemas.openxmlformats.org/drawingml/2006/main">
              <a:ext uri="{FF2B5EF4-FFF2-40B4-BE49-F238E27FC236}">
                <a16:creationId xmlns:a16="http://schemas.microsoft.com/office/drawing/2014/main" id="{629701B9-1CBE-4401-A0BF-EC50B988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6702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Identify + reconcile</a:t>
            </a:r>
          </a:p>
        </p:txBody>
      </p:sp>
      <p:sp>
        <p:nvSpPr>
          <p:cNvPr id="20" name="reconcile-subtitle">
            <a:extLst xmlns:a="http://schemas.openxmlformats.org/drawingml/2006/main">
              <a:ext uri="{FF2B5EF4-FFF2-40B4-BE49-F238E27FC236}">
                <a16:creationId xmlns:a16="http://schemas.microsoft.com/office/drawing/2014/main" id="{68B70C5A-4801-43BD-8768-520EE268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05175"/>
            <a:ext cx="2209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identity + precedence</a:t>
            </a:r>
          </a:p>
        </p:txBody>
      </p:sp>
      <p:sp>
        <p:nvSpPr>
          <p:cNvPr id="21" name="reconcile-to-ci">
            <a:extLst xmlns:a="http://schemas.openxmlformats.org/drawingml/2006/main">
              <a:ext uri="{FF2B5EF4-FFF2-40B4-BE49-F238E27FC236}">
                <a16:creationId xmlns:a16="http://schemas.microsoft.com/office/drawing/2014/main" id="{6623B8CF-FADF-4988-961A-9CA2866F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9095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CC58A"/>
            </a:solidFill>
            <a:prstDash val="solid"/>
          </a:ln>
        </p:spPr>
      </p:sp>
      <p:sp>
        <p:nvSpPr>
          <p:cNvPr id="22" name="production-box">
            <a:extLst xmlns:a="http://schemas.openxmlformats.org/drawingml/2006/main">
              <a:ext uri="{FF2B5EF4-FFF2-40B4-BE49-F238E27FC236}">
                <a16:creationId xmlns:a16="http://schemas.microsoft.com/office/drawing/2014/main" id="{6EAB7AE7-D36B-449C-8D70-79AE3B06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1619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5CC58A"/>
            </a:solidFill>
            <a:prstDash val="solid"/>
          </a:ln>
        </p:spPr>
      </p:sp>
      <p:sp>
        <p:nvSpPr>
          <p:cNvPr id="23" name="production-label">
            <a:extLst xmlns:a="http://schemas.openxmlformats.org/drawingml/2006/main">
              <a:ext uri="{FF2B5EF4-FFF2-40B4-BE49-F238E27FC236}">
                <a16:creationId xmlns:a16="http://schemas.microsoft.com/office/drawing/2014/main" id="{DAEDB31B-6C66-4138-9C8E-58C942DB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4327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Production CI</a:t>
            </a:r>
          </a:p>
        </p:txBody>
      </p:sp>
      <p:sp>
        <p:nvSpPr>
          <p:cNvPr id="24" name="production-subtitle">
            <a:extLst xmlns:a="http://schemas.openxmlformats.org/drawingml/2006/main">
              <a:ext uri="{FF2B5EF4-FFF2-40B4-BE49-F238E27FC236}">
                <a16:creationId xmlns:a16="http://schemas.microsoft.com/office/drawing/2014/main" id="{C9724467-8CA0-4B9C-BE47-61385A9B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81425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governed record</a:t>
            </a:r>
          </a:p>
        </p:txBody>
      </p:sp>
      <p:sp>
        <p:nvSpPr>
          <p:cNvPr id="25" name="ci-to-aap">
            <a:extLst xmlns:a="http://schemas.openxmlformats.org/drawingml/2006/main">
              <a:ext uri="{FF2B5EF4-FFF2-40B4-BE49-F238E27FC236}">
                <a16:creationId xmlns:a16="http://schemas.microsoft.com/office/drawing/2014/main" id="{728618E5-C98A-4B58-8E17-6B5E3784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90950"/>
            <a:ext cx="4381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8A7E8"/>
            </a:solidFill>
            <a:prstDash val="solid"/>
          </a:ln>
        </p:spPr>
      </p:sp>
      <p:sp>
        <p:nvSpPr>
          <p:cNvPr id="26" name="aap-box">
            <a:extLst xmlns:a="http://schemas.openxmlformats.org/drawingml/2006/main">
              <a:ext uri="{FF2B5EF4-FFF2-40B4-BE49-F238E27FC236}">
                <a16:creationId xmlns:a16="http://schemas.microsoft.com/office/drawing/2014/main" id="{11455AFF-13FA-43FF-8BD8-EF88968B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00400"/>
            <a:ext cx="14097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51E2B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27" name="aap-label">
            <a:extLst xmlns:a="http://schemas.openxmlformats.org/drawingml/2006/main">
              <a:ext uri="{FF2B5EF4-FFF2-40B4-BE49-F238E27FC236}">
                <a16:creationId xmlns:a16="http://schemas.microsoft.com/office/drawing/2014/main" id="{2715FDBA-B42D-4E5E-AF51-53AEC83F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432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7F9FC"/>
                </a:solidFill>
              </a:defRPr>
            </a:pPr>
            <a:r>
              <a:rPr sz="1650" b="1" i="0">
                <a:solidFill>
                  <a:srgbClr val="F7F9FC"/>
                </a:solidFill>
              </a:rPr>
              <a:t>AAP inventory</a:t>
            </a:r>
          </a:p>
        </p:txBody>
      </p:sp>
      <p:sp>
        <p:nvSpPr>
          <p:cNvPr id="28" name="aap-subtitle">
            <a:extLst xmlns:a="http://schemas.openxmlformats.org/drawingml/2006/main">
              <a:ext uri="{FF2B5EF4-FFF2-40B4-BE49-F238E27FC236}">
                <a16:creationId xmlns:a16="http://schemas.microsoft.com/office/drawing/2014/main" id="{6270CEFE-BFF2-4C9C-898E-4C2F7765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81425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A9B3C1"/>
                </a:solidFill>
              </a:defRPr>
            </a:pPr>
            <a:r>
              <a:rPr sz="1275" b="0" i="0">
                <a:solidFill>
                  <a:srgbClr val="A9B3C1"/>
                </a:solidFill>
              </a:rPr>
              <a:t>projection</a:t>
            </a:r>
          </a:p>
        </p:txBody>
      </p:sp>
      <p:sp>
        <p:nvSpPr>
          <p:cNvPr id="29" name="do-not-write">
            <a:extLst xmlns:a="http://schemas.openxmlformats.org/drawingml/2006/main">
              <a:ext uri="{FF2B5EF4-FFF2-40B4-BE49-F238E27FC236}">
                <a16:creationId xmlns:a16="http://schemas.microsoft.com/office/drawing/2014/main" id="{12AB2AD2-BAFC-46E2-B47E-74B14B10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451A20"/>
          </a:solidFill>
          <a:ln xmlns:a="http://schemas.openxmlformats.org/drawingml/2006/main" w="9525">
            <a:solidFill>
              <a:srgbClr val="F45B69"/>
            </a:solidFill>
            <a:prstDash val="solid"/>
          </a:ln>
        </p:spPr>
      </p:sp>
      <p:sp>
        <p:nvSpPr>
          <p:cNvPr id="30" name="do-not-write-text">
            <a:extLst xmlns:a="http://schemas.openxmlformats.org/drawingml/2006/main">
              <a:ext uri="{FF2B5EF4-FFF2-40B4-BE49-F238E27FC236}">
                <a16:creationId xmlns:a16="http://schemas.microsoft.com/office/drawing/2014/main" id="{C122E1F7-3505-45F0-AD6A-F6BEED99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05425"/>
            <a:ext cx="441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7F9FC"/>
                </a:solidFill>
              </a:defRPr>
            </a:pPr>
            <a:r>
              <a:rPr sz="1350" b="1" i="0">
                <a:solidFill>
                  <a:srgbClr val="F7F9FC"/>
                </a:solidFill>
              </a:rPr>
              <a:t>Production changes flow through reconciliation.</a:t>
            </a:r>
          </a:p>
        </p:txBody>
      </p:sp>
      <p:sp>
        <p:nvSpPr>
          <p:cNvPr id="31" name="source">
            <a:extLst xmlns:a="http://schemas.openxmlformats.org/drawingml/2006/main">
              <a:ext uri="{FF2B5EF4-FFF2-40B4-BE49-F238E27FC236}">
                <a16:creationId xmlns:a16="http://schemas.microsoft.com/office/drawing/2014/main" id="{C75CA639-A3A7-49EE-89FC-4334D4A8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57184"/>
                </a:solidFill>
              </a:defRPr>
            </a:pPr>
            <a:r>
              <a:rPr sz="1050" b="0" i="0">
                <a:solidFill>
                  <a:srgbClr val="657184"/>
                </a:solidFill>
              </a:rPr>
              <a:t>Source basis: BMC Helix CMDB dataset and reconciliation guidance.</a:t>
            </a:r>
          </a:p>
        </p:txBody>
      </p:sp>
    </p:spTree>
    <p:extLst>
      <p:ext uri="{BB962C8B-B14F-4D97-AF65-F5344CB8AC3E}">
        <p14:creationId xmlns:p14="http://schemas.microsoft.com/office/powerpoint/2010/main" val="1819398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blue">
            <a:extLst xmlns:a="http://schemas.openxmlformats.org/drawingml/2006/main">
              <a:ext uri="{FF2B5EF4-FFF2-40B4-BE49-F238E27FC236}">
                <a16:creationId xmlns:a16="http://schemas.microsoft.com/office/drawing/2014/main" id="{CA08E41B-F9D7-4E43-AE69-7BCAEDE9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CA2156AB-A2E7-48D6-A7DF-8A8ACE51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F794F593-F7E9-4480-BFBF-87E3195D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B1C8B3D-4071-4374-823B-1E2B051F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28A7E8"/>
                </a:solidFill>
              </a:defRPr>
            </a:pPr>
            <a:r>
              <a:rPr sz="1200" b="1" i="0">
                <a:solidFill>
                  <a:srgbClr val="28A7E8"/>
                </a:solidFill>
              </a:rPr>
              <a:t>ACCOUNTABILITY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2C19E9C-D9B3-479F-B160-A6FAD181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Measure awareness—not file completion.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7F0C32D-8633-428D-9680-E5B0D970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One small scorecard exposes where time and data quality are actually lost.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8BC73E6-56F2-4707-8472-C98A7D9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EFFB122-F270-477E-9430-68E0B8EF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FCD2C5-A629-4953-8E0B-1264EAC3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07</a:t>
            </a:r>
          </a:p>
        </p:txBody>
      </p:sp>
      <p:sp>
        <p:nvSpPr>
          <p:cNvPr id="10" name="metric-num-0">
            <a:extLst xmlns:a="http://schemas.openxmlformats.org/drawingml/2006/main">
              <a:ext uri="{FF2B5EF4-FFF2-40B4-BE49-F238E27FC236}">
                <a16:creationId xmlns:a16="http://schemas.microsoft.com/office/drawing/2014/main" id="{1C84C740-900B-44BE-85A5-B534809B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28A7E8"/>
                </a:solidFill>
              </a:defRPr>
            </a:pPr>
            <a:r>
              <a:rPr sz="3150" b="1" i="0">
                <a:solidFill>
                  <a:srgbClr val="28A7E8"/>
                </a:solidFill>
              </a:rPr>
              <a:t>01</a:t>
            </a:r>
          </a:p>
        </p:txBody>
      </p:sp>
      <p:sp>
        <p:nvSpPr>
          <p:cNvPr id="11" name="metric-title-0">
            <a:extLst xmlns:a="http://schemas.openxmlformats.org/drawingml/2006/main">
              <a:ext uri="{FF2B5EF4-FFF2-40B4-BE49-F238E27FC236}">
                <a16:creationId xmlns:a16="http://schemas.microsoft.com/office/drawing/2014/main" id="{215B0789-A97C-4558-BA6A-EF772794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7F9FC"/>
                </a:solidFill>
              </a:defRPr>
            </a:pPr>
            <a:r>
              <a:rPr sz="1725" b="1" i="0">
                <a:solidFill>
                  <a:srgbClr val="F7F9FC"/>
                </a:solidFill>
              </a:rPr>
              <a:t>Observation age</a:t>
            </a:r>
          </a:p>
        </p:txBody>
      </p:sp>
      <p:sp>
        <p:nvSpPr>
          <p:cNvPr id="12" name="metric-body-0">
            <a:extLst xmlns:a="http://schemas.openxmlformats.org/drawingml/2006/main">
              <a:ext uri="{FF2B5EF4-FFF2-40B4-BE49-F238E27FC236}">
                <a16:creationId xmlns:a16="http://schemas.microsoft.com/office/drawing/2014/main" id="{7424320C-1564-453D-99D0-3215C26C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How old was the discovered fact?</a:t>
            </a:r>
          </a:p>
        </p:txBody>
      </p:sp>
      <p:sp>
        <p:nvSpPr>
          <p:cNvPr id="13" name="metric-num-1">
            <a:extLst xmlns:a="http://schemas.openxmlformats.org/drawingml/2006/main">
              <a:ext uri="{FF2B5EF4-FFF2-40B4-BE49-F238E27FC236}">
                <a16:creationId xmlns:a16="http://schemas.microsoft.com/office/drawing/2014/main" id="{A1364384-D3DC-4540-B9A7-9B340B9C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28A7E8"/>
                </a:solidFill>
              </a:defRPr>
            </a:pPr>
            <a:r>
              <a:rPr sz="3150" b="1" i="0">
                <a:solidFill>
                  <a:srgbClr val="28A7E8"/>
                </a:solidFill>
              </a:rPr>
              <a:t>02</a:t>
            </a:r>
          </a:p>
        </p:txBody>
      </p:sp>
      <p:sp>
        <p:nvSpPr>
          <p:cNvPr id="14" name="metric-title-1">
            <a:extLst xmlns:a="http://schemas.openxmlformats.org/drawingml/2006/main">
              <a:ext uri="{FF2B5EF4-FFF2-40B4-BE49-F238E27FC236}">
                <a16:creationId xmlns:a16="http://schemas.microsoft.com/office/drawing/2014/main" id="{24AFE615-B7C1-46A5-A108-D31359E7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908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7F9FC"/>
                </a:solidFill>
              </a:defRPr>
            </a:pPr>
            <a:r>
              <a:rPr sz="1725" b="1" i="0">
                <a:solidFill>
                  <a:srgbClr val="F7F9FC"/>
                </a:solidFill>
              </a:rPr>
              <a:t>Landing delay</a:t>
            </a:r>
          </a:p>
        </p:txBody>
      </p:sp>
      <p:sp>
        <p:nvSpPr>
          <p:cNvPr id="15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CABA163E-8612-4D10-9631-AF47C189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43300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When did the report become available?</a:t>
            </a:r>
          </a:p>
        </p:txBody>
      </p:sp>
      <p:sp>
        <p:nvSpPr>
          <p:cNvPr id="16" name="metric-num-2">
            <a:extLst xmlns:a="http://schemas.openxmlformats.org/drawingml/2006/main">
              <a:ext uri="{FF2B5EF4-FFF2-40B4-BE49-F238E27FC236}">
                <a16:creationId xmlns:a16="http://schemas.microsoft.com/office/drawing/2014/main" id="{656FBEB4-BC53-4014-B9F4-D50C63A4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431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28A7E8"/>
                </a:solidFill>
              </a:defRPr>
            </a:pPr>
            <a:r>
              <a:rPr sz="3150" b="1" i="0">
                <a:solidFill>
                  <a:srgbClr val="28A7E8"/>
                </a:solidFill>
              </a:rPr>
              <a:t>03</a:t>
            </a:r>
          </a:p>
        </p:txBody>
      </p:sp>
      <p:sp>
        <p:nvSpPr>
          <p:cNvPr id="17" name="metric-title-2">
            <a:extLst xmlns:a="http://schemas.openxmlformats.org/drawingml/2006/main">
              <a:ext uri="{FF2B5EF4-FFF2-40B4-BE49-F238E27FC236}">
                <a16:creationId xmlns:a16="http://schemas.microsoft.com/office/drawing/2014/main" id="{01A61DB0-6A81-4CFD-BCBD-14E8762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7F9FC"/>
                </a:solidFill>
              </a:defRPr>
            </a:pPr>
            <a:r>
              <a:rPr sz="1725" b="1" i="0">
                <a:solidFill>
                  <a:srgbClr val="F7F9FC"/>
                </a:solidFill>
              </a:rPr>
              <a:t>Ingestion time</a:t>
            </a:r>
          </a:p>
        </p:txBody>
      </p:sp>
      <p:sp>
        <p:nvSpPr>
          <p:cNvPr id="18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A94C03F1-41EB-41B8-8CEB-70D7687B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43300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How long to validate and publish?</a:t>
            </a:r>
          </a:p>
        </p:txBody>
      </p:sp>
      <p:sp>
        <p:nvSpPr>
          <p:cNvPr id="19" name="metric-num-3">
            <a:extLst xmlns:a="http://schemas.openxmlformats.org/drawingml/2006/main">
              <a:ext uri="{FF2B5EF4-FFF2-40B4-BE49-F238E27FC236}">
                <a16:creationId xmlns:a16="http://schemas.microsoft.com/office/drawing/2014/main" id="{7A811AF2-7870-40C1-8F7A-4F47C766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28A7E8"/>
                </a:solidFill>
              </a:defRPr>
            </a:pPr>
            <a:r>
              <a:rPr sz="3150" b="1" i="0">
                <a:solidFill>
                  <a:srgbClr val="28A7E8"/>
                </a:solidFill>
              </a:rPr>
              <a:t>04</a:t>
            </a:r>
          </a:p>
        </p:txBody>
      </p:sp>
      <p:sp>
        <p:nvSpPr>
          <p:cNvPr id="20" name="metric-title-3">
            <a:extLst xmlns:a="http://schemas.openxmlformats.org/drawingml/2006/main">
              <a:ext uri="{FF2B5EF4-FFF2-40B4-BE49-F238E27FC236}">
                <a16:creationId xmlns:a16="http://schemas.microsoft.com/office/drawing/2014/main" id="{CD4A98BA-3C83-4A60-9C1A-1F3385B5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7F9FC"/>
                </a:solidFill>
              </a:defRPr>
            </a:pPr>
            <a:r>
              <a:rPr sz="1725" b="1" i="0">
                <a:solidFill>
                  <a:srgbClr val="F7F9FC"/>
                </a:solidFill>
              </a:rPr>
              <a:t>Snapshot quality</a:t>
            </a:r>
          </a:p>
        </p:txBody>
      </p:sp>
      <p:sp>
        <p:nvSpPr>
          <p:cNvPr id="21" name="metric-body-3">
            <a:extLst xmlns:a="http://schemas.openxmlformats.org/drawingml/2006/main">
              <a:ext uri="{FF2B5EF4-FFF2-40B4-BE49-F238E27FC236}">
                <a16:creationId xmlns:a16="http://schemas.microsoft.com/office/drawing/2014/main" id="{E361B302-6107-489A-A28B-1B9F7147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Accepted, rejected, duplicate, unresolved.</a:t>
            </a:r>
          </a:p>
        </p:txBody>
      </p:sp>
      <p:sp>
        <p:nvSpPr>
          <p:cNvPr id="22" name="metric-num-4">
            <a:extLst xmlns:a="http://schemas.openxmlformats.org/drawingml/2006/main">
              <a:ext uri="{FF2B5EF4-FFF2-40B4-BE49-F238E27FC236}">
                <a16:creationId xmlns:a16="http://schemas.microsoft.com/office/drawing/2014/main" id="{44393427-270A-4187-87CB-A420D783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431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F07C28"/>
                </a:solidFill>
              </a:defRPr>
            </a:pPr>
            <a:r>
              <a:rPr sz="3150" b="1" i="0">
                <a:solidFill>
                  <a:srgbClr val="F07C28"/>
                </a:solidFill>
              </a:rPr>
              <a:t>05</a:t>
            </a:r>
          </a:p>
        </p:txBody>
      </p:sp>
      <p:sp>
        <p:nvSpPr>
          <p:cNvPr id="23" name="metric-title-4">
            <a:extLst xmlns:a="http://schemas.openxmlformats.org/drawingml/2006/main">
              <a:ext uri="{FF2B5EF4-FFF2-40B4-BE49-F238E27FC236}">
                <a16:creationId xmlns:a16="http://schemas.microsoft.com/office/drawing/2014/main" id="{9AF94347-7FE4-4AB9-92B2-0F07E9CD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908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7F9FC"/>
                </a:solidFill>
              </a:defRPr>
            </a:pPr>
            <a:r>
              <a:rPr sz="1725" b="1" i="0">
                <a:solidFill>
                  <a:srgbClr val="F7F9FC"/>
                </a:solidFill>
              </a:rPr>
              <a:t>AAP eligibility</a:t>
            </a:r>
          </a:p>
        </p:txBody>
      </p:sp>
      <p:sp>
        <p:nvSpPr>
          <p:cNvPr id="24" name="metric-body-4">
            <a:extLst xmlns:a="http://schemas.openxmlformats.org/drawingml/2006/main">
              <a:ext uri="{FF2B5EF4-FFF2-40B4-BE49-F238E27FC236}">
                <a16:creationId xmlns:a16="http://schemas.microsoft.com/office/drawing/2014/main" id="{133115AB-C3D8-4616-8693-F548AEAF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43300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9B3C1"/>
                </a:solidFill>
              </a:defRPr>
            </a:pPr>
            <a:r>
              <a:rPr sz="1425" b="0" i="0">
                <a:solidFill>
                  <a:srgbClr val="A9B3C1"/>
                </a:solidFill>
              </a:rPr>
              <a:t>When could a governed job safely target it?</a:t>
            </a:r>
          </a:p>
        </p:txBody>
      </p:sp>
      <p:sp>
        <p:nvSpPr>
          <p:cNvPr id="25" name="metric-callout">
            <a:extLst xmlns:a="http://schemas.openxmlformats.org/drawingml/2006/main">
              <a:ext uri="{FF2B5EF4-FFF2-40B4-BE49-F238E27FC236}">
                <a16:creationId xmlns:a16="http://schemas.microsoft.com/office/drawing/2014/main" id="{1B5961D8-E288-42D0-8990-293924CE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857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2354A"/>
          </a:solidFill>
          <a:ln xmlns:a="http://schemas.openxmlformats.org/drawingml/2006/main" w="9525">
            <a:solidFill>
              <a:srgbClr val="28A7E8"/>
            </a:solidFill>
            <a:prstDash val="solid"/>
          </a:ln>
        </p:spPr>
      </p:sp>
      <p:sp>
        <p:nvSpPr>
          <p:cNvPr id="26" name="metric-callout-text">
            <a:extLst xmlns:a="http://schemas.openxmlformats.org/drawingml/2006/main">
              <a:ext uri="{FF2B5EF4-FFF2-40B4-BE49-F238E27FC236}">
                <a16:creationId xmlns:a16="http://schemas.microsoft.com/office/drawing/2014/main" id="{1E492169-7A48-431A-9D2C-4BE2E87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67325"/>
            <a:ext cx="811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7F9FC"/>
                </a:solidFill>
              </a:defRPr>
            </a:pPr>
            <a:r>
              <a:rPr sz="1575" b="1" i="0">
                <a:solidFill>
                  <a:srgbClr val="F7F9FC"/>
                </a:solidFill>
              </a:rPr>
              <a:t>Primary outcome: handoff-to-AAP awareness meets the freshness objective.</a:t>
            </a:r>
          </a:p>
        </p:txBody>
      </p:sp>
    </p:spTree>
    <p:extLst>
      <p:ext uri="{BB962C8B-B14F-4D97-AF65-F5344CB8AC3E}">
        <p14:creationId xmlns:p14="http://schemas.microsoft.com/office/powerpoint/2010/main" val="10927448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blue">
            <a:extLst xmlns:a="http://schemas.openxmlformats.org/drawingml/2006/main">
              <a:ext uri="{FF2B5EF4-FFF2-40B4-BE49-F238E27FC236}">
                <a16:creationId xmlns:a16="http://schemas.microsoft.com/office/drawing/2014/main" id="{D8D922F0-714E-45B2-8941-51CF7978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0711EBF-8193-4876-A19E-5CBAFCBB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3" name="top-green">
            <a:extLst xmlns:a="http://schemas.openxmlformats.org/drawingml/2006/main">
              <a:ext uri="{FF2B5EF4-FFF2-40B4-BE49-F238E27FC236}">
                <a16:creationId xmlns:a16="http://schemas.microsoft.com/office/drawing/2014/main" id="{C5D3DECE-7176-4732-B082-2D51E06E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58A"/>
          </a:solidFill>
          <a:ln xmlns:a="http://schemas.openxmlformats.org/drawingml/2006/main" w="0">
            <a:solidFill>
              <a:srgbClr val="5CC58A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51EF5E1-012C-426F-A201-E32C89E5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5CC58A"/>
                </a:solidFill>
              </a:defRPr>
            </a:pPr>
            <a:r>
              <a:rPr sz="1200" b="1" i="0">
                <a:solidFill>
                  <a:srgbClr val="5CC58A"/>
                </a:solidFill>
              </a:rPr>
              <a:t>ARCHITECT RECOMMENDATION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1E46D43-A6D1-4CEE-8BBD-28020938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7F9FC"/>
                </a:solidFill>
              </a:defRPr>
            </a:pPr>
            <a:r>
              <a:rPr sz="3600" b="1" i="0">
                <a:solidFill>
                  <a:srgbClr val="F7F9FC"/>
                </a:solidFill>
              </a:rPr>
              <a:t>Sponsor two bounded increments.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E91CABA-AD4D-41B6-B43C-7D4BFA1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A9B3C1"/>
                </a:solidFill>
              </a:defRPr>
            </a:pPr>
            <a:r>
              <a:rPr sz="1725" b="0" i="0">
                <a:solidFill>
                  <a:srgbClr val="A9B3C1"/>
                </a:solidFill>
              </a:rPr>
              <a:t>Improve the constrained path first; design the ideal integration with the CMDB owners in parallel.</a:t>
            </a:r>
          </a:p>
        </p:txBody>
      </p:sp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621B466-B11E-4246-A4C6-B8822BAF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1A5BE93-167F-4E04-926A-093C84DE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DISCOVERY-TO-AUTOMATION AWARENESS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C6083A-0089-49E0-9EE5-3D052658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532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57184"/>
                </a:solidFill>
              </a:defRPr>
            </a:pPr>
            <a:r>
              <a:rPr sz="975" b="1" i="0">
                <a:solidFill>
                  <a:srgbClr val="657184"/>
                </a:solidFill>
              </a:rPr>
              <a:t>08</a:t>
            </a:r>
          </a:p>
        </p:txBody>
      </p:sp>
      <p:sp>
        <p:nvSpPr>
          <p:cNvPr id="10" name="increment-1-box">
            <a:extLst xmlns:a="http://schemas.openxmlformats.org/drawingml/2006/main">
              <a:ext uri="{FF2B5EF4-FFF2-40B4-BE49-F238E27FC236}">
                <a16:creationId xmlns:a16="http://schemas.microsoft.com/office/drawing/2014/main" id="{B72F4154-12CB-4FAF-BD40-9DD24524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8196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1" name="increment-1-accent">
            <a:extLst xmlns:a="http://schemas.openxmlformats.org/drawingml/2006/main">
              <a:ext uri="{FF2B5EF4-FFF2-40B4-BE49-F238E27FC236}">
                <a16:creationId xmlns:a16="http://schemas.microsoft.com/office/drawing/2014/main" id="{27E99F1C-EEB6-4C49-BFD6-D734690A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667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7E8"/>
          </a:solidFill>
          <a:ln xmlns:a="http://schemas.openxmlformats.org/drawingml/2006/main" w="0">
            <a:solidFill>
              <a:srgbClr val="28A7E8"/>
            </a:solidFill>
            <a:prstDash val="solid"/>
          </a:ln>
        </p:spPr>
      </p:sp>
      <p:sp>
        <p:nvSpPr>
          <p:cNvPr id="12" name="increment-1-title">
            <a:extLst xmlns:a="http://schemas.openxmlformats.org/drawingml/2006/main">
              <a:ext uri="{FF2B5EF4-FFF2-40B4-BE49-F238E27FC236}">
                <a16:creationId xmlns:a16="http://schemas.microsoft.com/office/drawing/2014/main" id="{BCA42328-85E5-4EF4-A8D9-4A04A557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7F9FC"/>
                </a:solidFill>
              </a:defRPr>
            </a:pPr>
            <a:r>
              <a:rPr sz="2025" b="1" i="0">
                <a:solidFill>
                  <a:srgbClr val="F7F9FC"/>
                </a:solidFill>
              </a:rPr>
              <a:t>01  Constrained ingestion pilot</a:t>
            </a:r>
          </a:p>
        </p:txBody>
      </p:sp>
      <p:sp>
        <p:nvSpPr>
          <p:cNvPr id="13" name="increment-1-body">
            <a:extLst xmlns:a="http://schemas.openxmlformats.org/drawingml/2006/main">
              <a:ext uri="{FF2B5EF4-FFF2-40B4-BE49-F238E27FC236}">
                <a16:creationId xmlns:a16="http://schemas.microsoft.com/office/drawing/2014/main" id="{D8B84FC8-5706-4357-B0F2-EC8C17FA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4400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Synthetic report • managed landing • immutable raw snapshot • freshness checks • AAP inventory synchronization</a:t>
            </a:r>
          </a:p>
        </p:txBody>
      </p:sp>
      <p:sp>
        <p:nvSpPr>
          <p:cNvPr id="14" name="increment-2-box">
            <a:extLst xmlns:a="http://schemas.openxmlformats.org/drawingml/2006/main">
              <a:ext uri="{FF2B5EF4-FFF2-40B4-BE49-F238E27FC236}">
                <a16:creationId xmlns:a16="http://schemas.microsoft.com/office/drawing/2014/main" id="{BF16A083-6B2E-4485-AB21-CF33632C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48196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93547"/>
            </a:solidFill>
            <a:prstDash val="solid"/>
          </a:ln>
        </p:spPr>
      </p:sp>
      <p:sp>
        <p:nvSpPr>
          <p:cNvPr id="15" name="increment-2-accent">
            <a:extLst xmlns:a="http://schemas.openxmlformats.org/drawingml/2006/main">
              <a:ext uri="{FF2B5EF4-FFF2-40B4-BE49-F238E27FC236}">
                <a16:creationId xmlns:a16="http://schemas.microsoft.com/office/drawing/2014/main" id="{343F82F1-5D8D-4CD1-BEA8-79AB3DC4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6667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C28"/>
          </a:solidFill>
          <a:ln xmlns:a="http://schemas.openxmlformats.org/drawingml/2006/main" w="0">
            <a:solidFill>
              <a:srgbClr val="F07C28"/>
            </a:solidFill>
            <a:prstDash val="solid"/>
          </a:ln>
        </p:spPr>
      </p:sp>
      <p:sp>
        <p:nvSpPr>
          <p:cNvPr id="16" name="increment-2-title">
            <a:extLst xmlns:a="http://schemas.openxmlformats.org/drawingml/2006/main">
              <a:ext uri="{FF2B5EF4-FFF2-40B4-BE49-F238E27FC236}">
                <a16:creationId xmlns:a16="http://schemas.microsoft.com/office/drawing/2014/main" id="{1D64DD5A-0B0E-4952-9857-961C2511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7F9FC"/>
                </a:solidFill>
              </a:defRPr>
            </a:pPr>
            <a:r>
              <a:rPr sz="2025" b="1" i="0">
                <a:solidFill>
                  <a:srgbClr val="F7F9FC"/>
                </a:solidFill>
              </a:rPr>
              <a:t>02  CMDB reconciliation design</a:t>
            </a:r>
          </a:p>
        </p:txBody>
      </p:sp>
      <p:sp>
        <p:nvSpPr>
          <p:cNvPr id="17" name="increment-2-body">
            <a:extLst xmlns:a="http://schemas.openxmlformats.org/drawingml/2006/main">
              <a:ext uri="{FF2B5EF4-FFF2-40B4-BE49-F238E27FC236}">
                <a16:creationId xmlns:a16="http://schemas.microsoft.com/office/drawing/2014/main" id="{4B595E30-4582-417A-8665-C42B2193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4400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A9B3C1"/>
                </a:solidFill>
              </a:defRPr>
            </a:pPr>
            <a:r>
              <a:rPr sz="1650" b="0" i="0">
                <a:solidFill>
                  <a:srgbClr val="A9B3C1"/>
                </a:solidFill>
              </a:rPr>
              <a:t>Automation-owned dataset • CI identity • attribute authority • supported write and changed-CI boundaries</a:t>
            </a:r>
          </a:p>
        </p:txBody>
      </p:sp>
      <p:sp>
        <p:nvSpPr>
          <p:cNvPr id="18" name="ask-title">
            <a:extLst xmlns:a="http://schemas.openxmlformats.org/drawingml/2006/main">
              <a:ext uri="{FF2B5EF4-FFF2-40B4-BE49-F238E27FC236}">
                <a16:creationId xmlns:a16="http://schemas.microsoft.com/office/drawing/2014/main" id="{7E635A2A-9D19-4D1C-98B0-B4525C2C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7F9FC"/>
                </a:solidFill>
              </a:defRPr>
            </a:pPr>
            <a:r>
              <a:rPr sz="1800" b="1" i="0">
                <a:solidFill>
                  <a:srgbClr val="F7F9FC"/>
                </a:solidFill>
              </a:rPr>
              <a:t>I am asking leadership to authorize:</a:t>
            </a:r>
          </a:p>
        </p:txBody>
      </p:sp>
      <p:sp>
        <p:nvSpPr>
          <p:cNvPr id="19" name="ask-body">
            <a:extLst xmlns:a="http://schemas.openxmlformats.org/drawingml/2006/main">
              <a:ext uri="{FF2B5EF4-FFF2-40B4-BE49-F238E27FC236}">
                <a16:creationId xmlns:a16="http://schemas.microsoft.com/office/drawing/2014/main" id="{3B0F385B-7B7B-4A78-9E9A-EC80F62E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A9B3C1"/>
                </a:solidFill>
              </a:defRPr>
            </a:pPr>
            <a:r>
              <a:rPr sz="1575" b="0" i="0">
                <a:solidFill>
                  <a:srgbClr val="A9B3C1"/>
                </a:solidFill>
              </a:rPr>
              <a:t>a non-production landing zone • an AAP inventory • named reporting and CMDB owners • synthetic data only</a:t>
            </a:r>
          </a:p>
        </p:txBody>
      </p:sp>
    </p:spTree>
    <p:extLst>
      <p:ext uri="{BB962C8B-B14F-4D97-AF65-F5344CB8AC3E}">
        <p14:creationId xmlns:p14="http://schemas.microsoft.com/office/powerpoint/2010/main" val="1098574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2026-07-18T13:35:08.4580000Z</dcterms:created>
  <dcterms:modified xsi:type="dcterms:W3CDTF">2026-07-18T13:35:08.4580000Z</dcterms:modified>
</coreProperties>
</file>