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4dce4c15b84587" /><Relationship Type="http://schemas.openxmlformats.org/officeDocument/2006/relationships/extended-properties" Target="/docProps/app.xml" Id="R8652f19ae6164306" /><Relationship Type="http://schemas.openxmlformats.org/officeDocument/2006/relationships/officeDocument" Target="/ppt/presentation.xml" Id="R582a12cc1b1b49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7f5ff04b0048a3"/>
  </p:sldMasterIdLst>
  <p:notesMasterIdLst>
    <p:notesMasterId xmlns:r="http://schemas.openxmlformats.org/officeDocument/2006/relationships" r:id="R73a5fd9efe7d4ab9"/>
  </p:notesMasterIdLst>
  <p:sldIdLst>
    <p:sldId xmlns:r="http://schemas.openxmlformats.org/officeDocument/2006/relationships" id="256" r:id="R997fa6f60937416a"/>
    <p:sldId xmlns:r="http://schemas.openxmlformats.org/officeDocument/2006/relationships" id="257" r:id="R70dd457310be4812"/>
    <p:sldId xmlns:r="http://schemas.openxmlformats.org/officeDocument/2006/relationships" id="258" r:id="R8b0bedcb04804c88"/>
    <p:sldId xmlns:r="http://schemas.openxmlformats.org/officeDocument/2006/relationships" id="259" r:id="Rad43bd9a7f684dbc"/>
    <p:sldId xmlns:r="http://schemas.openxmlformats.org/officeDocument/2006/relationships" id="260" r:id="R52e3ea1d77234e9d"/>
    <p:sldId xmlns:r="http://schemas.openxmlformats.org/officeDocument/2006/relationships" id="261" r:id="Rcaa4807b4e9c498a"/>
    <p:sldId xmlns:r="http://schemas.openxmlformats.org/officeDocument/2006/relationships" id="262" r:id="R6028360736264788"/>
    <p:sldId xmlns:r="http://schemas.openxmlformats.org/officeDocument/2006/relationships" id="263" r:id="R5dd3efb99c1049c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5725fe551e4d1f" /><Relationship Type="http://schemas.openxmlformats.org/officeDocument/2006/relationships/slideMaster" Target="/ppt/slideMasters/slideMaster1.xml" Id="R067f5ff04b0048a3" /><Relationship Type="http://schemas.openxmlformats.org/officeDocument/2006/relationships/notesMaster" Target="/ppt/notesMasters/notesMaster1.xml" Id="R73a5fd9efe7d4ab9" /><Relationship Type="http://schemas.openxmlformats.org/officeDocument/2006/relationships/presProps" Target="/ppt/presProps.xml" Id="Ree6c7b37efcf43c8" /><Relationship Type="http://schemas.openxmlformats.org/officeDocument/2006/relationships/tableStyles" Target="/ppt/tableStyles.xml" Id="Re29f0dbaa6184700" /><Relationship Type="http://schemas.openxmlformats.org/officeDocument/2006/relationships/slide" Target="/ppt/slides/slide1.xml" Id="R997fa6f60937416a" /><Relationship Type="http://schemas.openxmlformats.org/officeDocument/2006/relationships/slide" Target="/ppt/slides/slide2.xml" Id="R70dd457310be4812" /><Relationship Type="http://schemas.openxmlformats.org/officeDocument/2006/relationships/slide" Target="/ppt/slides/slide3.xml" Id="R8b0bedcb04804c88" /><Relationship Type="http://schemas.openxmlformats.org/officeDocument/2006/relationships/slide" Target="/ppt/slides/slide4.xml" Id="Rad43bd9a7f684dbc" /><Relationship Type="http://schemas.openxmlformats.org/officeDocument/2006/relationships/slide" Target="/ppt/slides/slide5.xml" Id="R52e3ea1d77234e9d" /><Relationship Type="http://schemas.openxmlformats.org/officeDocument/2006/relationships/slide" Target="/ppt/slides/slide6.xml" Id="Rcaa4807b4e9c498a" /><Relationship Type="http://schemas.openxmlformats.org/officeDocument/2006/relationships/slide" Target="/ppt/slides/slide7.xml" Id="R6028360736264788" /><Relationship Type="http://schemas.openxmlformats.org/officeDocument/2006/relationships/slide" Target="/ppt/slides/slide8.xml" Id="R5dd3efb99c1049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db6febf22e48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cef1e9dae64de6" /><Relationship Type="http://schemas.openxmlformats.org/officeDocument/2006/relationships/notesMaster" Target="/ppt/notesMasters/notesMaster1.xml" Id="R135035402dda46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a9702f4b72488d" /><Relationship Type="http://schemas.openxmlformats.org/officeDocument/2006/relationships/notesMaster" Target="/ppt/notesMasters/notesMaster1.xml" Id="Rbb7ea6f41bca48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0f9f3330a64f13" /><Relationship Type="http://schemas.openxmlformats.org/officeDocument/2006/relationships/notesMaster" Target="/ppt/notesMasters/notesMaster1.xml" Id="Rb844323bf6d648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da72f7151a4eaa" /><Relationship Type="http://schemas.openxmlformats.org/officeDocument/2006/relationships/notesMaster" Target="/ppt/notesMasters/notesMaster1.xml" Id="Rb233e5e4648b4c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8ce3296c0446c4" /><Relationship Type="http://schemas.openxmlformats.org/officeDocument/2006/relationships/notesMaster" Target="/ppt/notesMasters/notesMaster1.xml" Id="R3a911d496ad04a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61cf9fdea042a9" /><Relationship Type="http://schemas.openxmlformats.org/officeDocument/2006/relationships/notesMaster" Target="/ppt/notesMasters/notesMaster1.xml" Id="Raf25bf08288443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6ef21ccdf74b90" /><Relationship Type="http://schemas.openxmlformats.org/officeDocument/2006/relationships/notesMaster" Target="/ppt/notesMasters/notesMaster1.xml" Id="Racaee7aa747f4f3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bb511fcc6c42ea" /><Relationship Type="http://schemas.openxmlformats.org/officeDocument/2006/relationships/notesMaster" Target="/ppt/notesMasters/notesMaster1.xml" Id="R582c2585473d4c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5fc8ae49cf491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d0538b79b74959" /><Relationship Type="http://schemas.openxmlformats.org/officeDocument/2006/relationships/slideLayout" Target="/ppt/slideLayouts/slideLayout1.xml" Id="R897c27e8bfb2468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7c27e8bfb2468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0769b82c74b03" /><Relationship Type="http://schemas.openxmlformats.org/officeDocument/2006/relationships/notesSlide" Target="/ppt/notesSlides/notesSlide1.xml" Id="R07dccfdfc26e47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7e5f2f8e014b32" /><Relationship Type="http://schemas.openxmlformats.org/officeDocument/2006/relationships/notesSlide" Target="/ppt/notesSlides/notesSlide2.xml" Id="Rb397ac3bcc84434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063e6b78844a3" /><Relationship Type="http://schemas.openxmlformats.org/officeDocument/2006/relationships/notesSlide" Target="/ppt/notesSlides/notesSlide3.xml" Id="R9b752de44ac845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e145585b124ac8" /><Relationship Type="http://schemas.openxmlformats.org/officeDocument/2006/relationships/notesSlide" Target="/ppt/notesSlides/notesSlide4.xml" Id="R8a7e1becfcc847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017f6dc694d95" /><Relationship Type="http://schemas.openxmlformats.org/officeDocument/2006/relationships/notesSlide" Target="/ppt/notesSlides/notesSlide5.xml" Id="Rab0c9bc288d34f7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2270d52cd48df" /><Relationship Type="http://schemas.openxmlformats.org/officeDocument/2006/relationships/notesSlide" Target="/ppt/notesSlides/notesSlide6.xml" Id="R91ed566a272c44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349f4e2deb47eb" /><Relationship Type="http://schemas.openxmlformats.org/officeDocument/2006/relationships/notesSlide" Target="/ppt/notesSlides/notesSlide7.xml" Id="Rb14d303f8d684e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7d642cf9e4d8c" /><Relationship Type="http://schemas.openxmlformats.org/officeDocument/2006/relationships/notesSlide" Target="/ppt/notesSlides/notesSlide8.xml" Id="R820430c2f03b45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742A40-1C64-4B28-8B42-AF114139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47A1D5-C1A3-4112-B43A-C919A92DE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4775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CF804B-D369-4CC4-959C-81884B77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7A00"/>
                </a:solidFill>
              </a:defRPr>
            </a:pPr>
            <a:r>
              <a:rPr sz="1125" b="1">
                <a:solidFill>
                  <a:srgbClr val="FF7A00"/>
                </a:solidFill>
              </a:rPr>
              <a:t>PIPELINE PLAYGROUND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EB501A-8CAC-4860-9367-8E442163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85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7F8FA"/>
                </a:solidFill>
              </a:defRPr>
            </a:pPr>
            <a:r>
              <a:rPr sz="4350" b="1">
                <a:solidFill>
                  <a:srgbClr val="F7F8FA"/>
                </a:solidFill>
              </a:rPr>
              <a:t>Modern automation,</a:t>
            </a:r>
          </a:p>
          <a:p xmlns:a="http://schemas.openxmlformats.org/drawingml/2006/main">
            <a:pPr algn="l">
              <a:defRPr sz="4350" b="1">
                <a:solidFill>
                  <a:srgbClr val="F7F8FA"/>
                </a:solidFill>
              </a:defRPr>
            </a:pPr>
            <a:r>
              <a:rPr sz="4350" b="1">
                <a:solidFill>
                  <a:srgbClr val="F7F8FA"/>
                </a:solidFill>
              </a:rPr>
              <a:t>made visible.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4BF32-2827-4C02-916B-E58F70D2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AAB3C0"/>
                </a:solidFill>
              </a:defRPr>
            </a:pPr>
            <a:r>
              <a:rPr sz="1725" b="0">
                <a:solidFill>
                  <a:srgbClr val="AAB3C0"/>
                </a:solidFill>
              </a:rPr>
              <a:t>A practical path from approved request to traceable Windows and Linux server delivery.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55431B-4ED0-4984-A522-3AC0B450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66850"/>
            <a:ext cx="28575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228F16-B4C0-4928-AC4E-3BD795DD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66850"/>
            <a:ext cx="66675" cy="8763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467712-D273-4965-A65F-5D972682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619250"/>
            <a:ext cx="2495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Shared intent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A8B573-E910-40FF-9153-4ACB88A17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431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One definition of what the build needs.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973FEC-92E3-4881-9B16-AE842E82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09850"/>
            <a:ext cx="28575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D6E936-8727-447B-83F2-A3D06132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09850"/>
            <a:ext cx="66675" cy="8763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1D5BB4-12AB-4B60-91A9-5F139FF8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62250"/>
            <a:ext cx="2495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Visible progress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9CE8D-8247-44F9-BA34-1DB7FF96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861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Blocked work has an owner and a resume point.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4C6F8F-B54B-43A7-BC52-C359A4A5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8575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423ABA-146D-4578-BB68-CA9D0A5D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66675" cy="8763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BC136C-AD32-4B2E-B53F-8A8A423A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05250"/>
            <a:ext cx="2495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Reusable delivery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BD5016-923D-44AE-A87A-3B44A022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291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Common lifecycle; focused platform adapters.</a:t>
            </a:r>
          </a:p>
        </p:txBody>
      </p:sp>
      <p:cxnSp>
        <p:nvCxnSpPr>
          <p:cNvPr id="38" name=""/>
          <p:cNvCxnSpPr>
            <a:stCxn xmlns:a="http://schemas.openxmlformats.org/drawingml/2006/main" id="6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9715500" y="23431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8313D"/>
            </a:solidFill>
            <a:prstDash val="solid"/>
            <a:tailEnd type="arrow" w="med" len="med"/>
          </a:ln>
        </p:spPr>
      </p:cxnSp>
      <p:cxnSp>
        <p:nvCxnSpPr>
          <p:cNvPr id="39" name=""/>
          <p:cNvCxnSpPr>
            <a:stCxn xmlns:a="http://schemas.openxmlformats.org/drawingml/2006/main" id="10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9715500" y="34861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8313D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C7CE93-E6F2-4148-925B-2F2C5605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293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LEADERSHIP OVERVIEW</a:t>
            </a:r>
          </a:p>
        </p:txBody>
      </p:sp>
    </p:spTree>
    <p:extLst>
      <p:ext uri="{BB962C8B-B14F-4D97-AF65-F5344CB8AC3E}">
        <p14:creationId xmlns:p14="http://schemas.microsoft.com/office/powerpoint/2010/main" val="15452852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E3550C-6B28-422B-BAFD-C2CE1AEA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79CF6D-685E-4AA7-B297-0924991E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00"/>
                </a:solidFill>
              </a:defRPr>
            </a:pPr>
            <a:r>
              <a:rPr sz="975" b="1">
                <a:solidFill>
                  <a:srgbClr val="FF7A00"/>
                </a:solidFill>
              </a:rPr>
              <a:t>THE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5F202-1ED1-4AC3-897F-E6838608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8539EA-9D4E-4FD9-98D4-CD9B2540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0A66FE-1087-49C6-BF1C-BECDD546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1A606D-6A6E-4C06-AB8B-EB120F9C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The delivery problem starts before automation runs.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7E684-9ED5-4B9D-AABC-2848A791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82C99A-BFF8-47CD-A149-B0E03F268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Approved requests often arrive with incomplete integration data and unclear ownership.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B0F3EB-A21B-4046-A4E6-1951AC39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7A00"/>
                </a:solidFill>
              </a:defRPr>
            </a:pPr>
            <a:r>
              <a:rPr sz="2550" b="1">
                <a:solidFill>
                  <a:srgbClr val="FF7A00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2B184-13ED-409E-B81C-1BF544DE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7F8FA"/>
                </a:solidFill>
              </a:defRPr>
            </a:pPr>
            <a:r>
              <a:rPr sz="1725" b="1">
                <a:solidFill>
                  <a:srgbClr val="F7F8FA"/>
                </a:solidFill>
              </a:rPr>
              <a:t>Intent is fragmented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8AE3-9CC7-40B2-A37B-1945B3BE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304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3C0"/>
                </a:solidFill>
              </a:defRPr>
            </a:pPr>
            <a:r>
              <a:rPr sz="1275" b="0">
                <a:solidFill>
                  <a:srgbClr val="AAB3C0"/>
                </a:solidFill>
              </a:rPr>
              <a:t>Tickets, CSV files, shares, inventories, and playbooks each hold part of the truth.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CCF5C3-A16E-47E9-9DDC-CB133522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2415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9A9FF"/>
                </a:solidFill>
              </a:defRPr>
            </a:pPr>
            <a:r>
              <a:rPr sz="2550" b="1">
                <a:solidFill>
                  <a:srgbClr val="39A9FF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4ECF88-F843-4D91-B320-74001599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337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7F8FA"/>
                </a:solidFill>
              </a:defRPr>
            </a:pPr>
            <a:r>
              <a:rPr sz="1725" b="1">
                <a:solidFill>
                  <a:srgbClr val="F7F8FA"/>
                </a:solidFill>
              </a:rPr>
              <a:t>Waiting is invisible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475424-8F84-44F0-A2BE-307F9F57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304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3C0"/>
                </a:solidFill>
              </a:defRPr>
            </a:pPr>
            <a:r>
              <a:rPr sz="1275" b="0">
                <a:solidFill>
                  <a:srgbClr val="AAB3C0"/>
                </a:solidFill>
              </a:rPr>
              <a:t>A partial build can sit in staging without a durable blocker, owner, or resume point.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678E78-8176-4E6C-866B-E69F8B2FF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76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7A00"/>
                </a:solidFill>
              </a:defRPr>
            </a:pPr>
            <a:r>
              <a:rPr sz="2550" b="1">
                <a:solidFill>
                  <a:srgbClr val="FF7A00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0DF0CF-425F-4FF9-8992-217EFC46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337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7F8FA"/>
                </a:solidFill>
              </a:defRPr>
            </a:pPr>
            <a:r>
              <a:rPr sz="1725" b="1">
                <a:solidFill>
                  <a:srgbClr val="F7F8FA"/>
                </a:solidFill>
              </a:rPr>
              <a:t>Teams improvise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2A4054-35AF-4964-AADC-49259E6B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4300"/>
            <a:ext cx="304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3C0"/>
                </a:solidFill>
              </a:defRPr>
            </a:pPr>
            <a:r>
              <a:rPr sz="1275" b="0">
                <a:solidFill>
                  <a:srgbClr val="AAB3C0"/>
                </a:solidFill>
              </a:rPr>
              <a:t>Developers choose inventory and variables when the authoritative source is unclear.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494930-0DE1-48AF-87BF-866F211B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A"/>
                </a:solidFill>
              </a:defRPr>
            </a:pPr>
            <a:r>
              <a:rPr sz="1650" b="1">
                <a:solidFill>
                  <a:srgbClr val="F7F8FA"/>
                </a:solidFill>
              </a:rPr>
              <a:t>Automation inherits the ambiguity unless the handoff itself becomes explicit.</a:t>
            </a:r>
          </a:p>
        </p:txBody>
      </p:sp>
    </p:spTree>
    <p:extLst>
      <p:ext uri="{BB962C8B-B14F-4D97-AF65-F5344CB8AC3E}">
        <p14:creationId xmlns:p14="http://schemas.microsoft.com/office/powerpoint/2010/main" val="13854906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E97676-0D0F-4152-ACC1-3F6DC579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AD650-E816-4DCF-A471-1F800704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00"/>
                </a:solidFill>
              </a:defRPr>
            </a:pPr>
            <a:r>
              <a:rPr sz="975" b="1">
                <a:solidFill>
                  <a:srgbClr val="FF7A00"/>
                </a:solidFill>
              </a:rPr>
              <a:t>NEW CONCEPT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869AEF-3393-43F3-AC0A-6DFEC53D3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5D3032-E3D7-4976-8052-61D08D81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BBFC83-5F33-40E9-B61E-7AE9303B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B150E-0CF7-45BD-B0D0-79F2C3F0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Data contracts as code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ECC4A3-7B35-4525-BA7F-D4ACCF69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AAD59-FEAC-49CF-ACFD-AF8D56B4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A versioned, reviewable agreement about the data automation may trust.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8CB2E6-5139-4AF3-853B-15359ABB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A"/>
                </a:solidFill>
              </a:defRPr>
            </a:pPr>
            <a:r>
              <a:rPr sz="1800" b="1">
                <a:solidFill>
                  <a:srgbClr val="F7F8FA"/>
                </a:solidFill>
              </a:rPr>
              <a:t>The contract answers three questions: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FBD446-A8E2-4182-A78A-B904BCFA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8763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094F2A-F72F-44AE-BF5E-537A722B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24225"/>
            <a:ext cx="685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7090D"/>
                </a:solidFill>
              </a:defRPr>
            </a:pPr>
            <a:r>
              <a:rPr sz="975" b="1">
                <a:solidFill>
                  <a:srgbClr val="07090D"/>
                </a:solidFill>
              </a:rPr>
              <a:t>WHAT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E869C1-5AAE-41F4-9CEB-51F61046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956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8FA"/>
                </a:solidFill>
              </a:defRPr>
            </a:pPr>
            <a:r>
              <a:rPr sz="1500" b="1">
                <a:solidFill>
                  <a:srgbClr val="F7F8FA"/>
                </a:solidFill>
              </a:rPr>
              <a:t>Which fields and values are valid?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EAE075-6E4F-4F5F-8450-394A5CFF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8763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037E87-3B8F-4F02-89E3-6E4119B1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685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7090D"/>
                </a:solidFill>
              </a:defRPr>
            </a:pPr>
            <a:r>
              <a:rPr sz="975" b="1">
                <a:solidFill>
                  <a:srgbClr val="07090D"/>
                </a:solidFill>
              </a:rPr>
              <a:t>WHO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5D93C0-FE82-4C46-9046-0D5864E8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767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8FA"/>
                </a:solidFill>
              </a:defRPr>
            </a:pPr>
            <a:r>
              <a:rPr sz="1500" b="1">
                <a:solidFill>
                  <a:srgbClr val="F7F8FA"/>
                </a:solidFill>
              </a:rPr>
              <a:t>Who owns each value and its source?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9BA928-936E-4870-AA11-1B1D2E91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8763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AB3A4C-68E7-42EA-8FDD-F470D58E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86325"/>
            <a:ext cx="685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7090D"/>
                </a:solidFill>
              </a:defRPr>
            </a:pPr>
            <a:r>
              <a:rPr sz="975" b="1">
                <a:solidFill>
                  <a:srgbClr val="07090D"/>
                </a:solidFill>
              </a:rPr>
              <a:t>WHEN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520A38-C0C4-4475-8691-D151C6B0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577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8FA"/>
                </a:solidFill>
              </a:defRPr>
            </a:pPr>
            <a:r>
              <a:rPr sz="1500" b="1">
                <a:solidFill>
                  <a:srgbClr val="F7F8FA"/>
                </a:solidFill>
              </a:rPr>
              <a:t>Which values are required at each phase?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85C9DA-9801-4F34-A976-E207406C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71750"/>
            <a:ext cx="4762500" cy="28575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1BC851-194A-45E5-8535-3B5D8BF7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62275"/>
            <a:ext cx="57150" cy="1809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1365A3-6039-44A0-9F24-C4F023CA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33700"/>
            <a:ext cx="2114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A9FF"/>
                </a:solidFill>
              </a:defRPr>
            </a:pPr>
            <a:r>
              <a:rPr sz="975" b="1">
                <a:solidFill>
                  <a:srgbClr val="39A9FF"/>
                </a:solidFill>
              </a:rPr>
              <a:t>PROBLEM SOLVED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FAC349-87F8-4CBC-A189-8037D18C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3714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7F8FA"/>
                </a:solidFill>
              </a:defRPr>
            </a:pPr>
            <a:r>
              <a:rPr sz="2325" b="1">
                <a:solidFill>
                  <a:srgbClr val="F7F8FA"/>
                </a:solidFill>
              </a:rPr>
              <a:t>Fewer local interpretations.</a:t>
            </a:r>
          </a:p>
          <a:p xmlns:a="http://schemas.openxmlformats.org/drawingml/2006/main">
            <a:pPr algn="l">
              <a:defRPr sz="2325" b="1">
                <a:solidFill>
                  <a:srgbClr val="F7F8FA"/>
                </a:solidFill>
              </a:defRPr>
            </a:pPr>
            <a:r>
              <a:rPr sz="2325" b="1">
                <a:solidFill>
                  <a:srgbClr val="F7F8FA"/>
                </a:solidFill>
              </a:rPr>
              <a:t>Clearer handoffs.</a:t>
            </a:r>
          </a:p>
          <a:p xmlns:a="http://schemas.openxmlformats.org/drawingml/2006/main">
            <a:pPr algn="l">
              <a:defRPr sz="2325" b="1">
                <a:solidFill>
                  <a:srgbClr val="F7F8FA"/>
                </a:solidFill>
              </a:defRPr>
            </a:pPr>
            <a:r>
              <a:rPr sz="2325" b="1">
                <a:solidFill>
                  <a:srgbClr val="F7F8FA"/>
                </a:solidFill>
              </a:rPr>
              <a:t>Safer reuse.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418B45-D724-4478-88BA-7B331589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530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AAB3C0"/>
                </a:solidFill>
              </a:defRPr>
            </a:pPr>
            <a:r>
              <a:rPr sz="1125" b="0">
                <a:solidFill>
                  <a:srgbClr val="AAB3C0"/>
                </a:solidFill>
              </a:rPr>
              <a:t>The contract is not the workflow. It defines the rules the workflow applies.</a:t>
            </a:r>
          </a:p>
        </p:txBody>
      </p:sp>
    </p:spTree>
    <p:extLst>
      <p:ext uri="{BB962C8B-B14F-4D97-AF65-F5344CB8AC3E}">
        <p14:creationId xmlns:p14="http://schemas.microsoft.com/office/powerpoint/2010/main" val="9166739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ABBFF4-79C3-481D-8F18-066F2ED0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B299C-3E6A-45F5-B9CC-2043B791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A9FF"/>
                </a:solidFill>
              </a:defRPr>
            </a:pPr>
            <a:r>
              <a:rPr sz="975" b="1">
                <a:solidFill>
                  <a:srgbClr val="39A9FF"/>
                </a:solidFill>
              </a:rPr>
              <a:t>NEW CONCEPT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F87D2F-D934-46EE-BF4C-EDEF36822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0A7123-6A1E-41C1-AD78-1821F654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47AA2-A05D-43B4-9814-B7726755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FC06E-7804-45A1-AFF1-6B11ECF7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The build manifest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73E35B-D267-41A9-A337-04F970DC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5E188-E96F-4F20-9FB0-5F74B8CD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Durable record of approved intent, current status, and evidence for one server build.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8755A6-3DF2-43B7-AB1B-A1AA904B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28900"/>
            <a:ext cx="3524250" cy="2609850"/>
          </a:xfrm>
          <a:prstGeom xmlns:a="http://schemas.openxmlformats.org/drawingml/2006/main" prst="roundRect">
            <a:avLst>
              <a:gd name="adj" fmla="val 6569"/>
            </a:avLst>
          </a:prstGeom>
          <a:solidFill xmlns:a="http://schemas.openxmlformats.org/drawingml/2006/main">
            <a:srgbClr val="171E28"/>
          </a:solidFill>
          <a:ln xmlns:a="http://schemas.openxmlformats.org/drawingml/2006/main" w="19050">
            <a:solidFill>
              <a:srgbClr val="39A9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3DD067-466F-4A31-9504-96126554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146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A9FF"/>
                </a:solidFill>
              </a:defRPr>
            </a:pPr>
            <a:r>
              <a:rPr sz="1125" b="1">
                <a:solidFill>
                  <a:srgbClr val="39A9FF"/>
                </a:solidFill>
              </a:rPr>
              <a:t>BUILD MANIFEST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6F8F5D-BD7E-4090-AD72-DCC9DAEC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314700"/>
            <a:ext cx="280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3BAE9F-F2BD-49E4-9E38-C9DFD6E7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524250"/>
            <a:ext cx="266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7F8FA"/>
                </a:solidFill>
              </a:defRPr>
            </a:pPr>
            <a:r>
              <a:rPr sz="1500" b="0">
                <a:solidFill>
                  <a:srgbClr val="F7F8FA"/>
                </a:solidFill>
              </a:rPr>
              <a:t>request      REQ-0001</a:t>
            </a:r>
          </a:p>
          <a:p xmlns:a="http://schemas.openxmlformats.org/drawingml/2006/main">
            <a:pPr algn="l">
              <a:defRPr sz="1500" b="0">
                <a:solidFill>
                  <a:srgbClr val="F7F8FA"/>
                </a:solidFill>
              </a:defRPr>
            </a:pPr>
            <a:r>
              <a:rPr sz="1500" b="0">
                <a:solidFill>
                  <a:srgbClr val="F7F8FA"/>
                </a:solidFill>
              </a:rPr>
              <a:t>platform     windows</a:t>
            </a:r>
          </a:p>
          <a:p xmlns:a="http://schemas.openxmlformats.org/drawingml/2006/main">
            <a:pPr algn="l">
              <a:defRPr sz="1500" b="0">
                <a:solidFill>
                  <a:srgbClr val="F7F8FA"/>
                </a:solidFill>
              </a:defRPr>
            </a:pPr>
            <a:r>
              <a:rPr sz="1500" b="0">
                <a:solidFill>
                  <a:srgbClr val="F7F8FA"/>
                </a:solidFill>
              </a:rPr>
              <a:t>phase        network_ready</a:t>
            </a:r>
          </a:p>
          <a:p xmlns:a="http://schemas.openxmlformats.org/drawingml/2006/main">
            <a:pPr algn="l">
              <a:defRPr sz="1500" b="0">
                <a:solidFill>
                  <a:srgbClr val="F7F8FA"/>
                </a:solidFill>
              </a:defRPr>
            </a:pPr>
            <a:r>
              <a:rPr sz="1500" b="0">
                <a:solidFill>
                  <a:srgbClr val="F7F8FA"/>
                </a:solidFill>
              </a:rPr>
              <a:t>revision     4</a:t>
            </a:r>
          </a:p>
          <a:p xmlns:a="http://schemas.openxmlformats.org/drawingml/2006/main">
            <a:pPr algn="l">
              <a:defRPr sz="1500" b="0">
                <a:solidFill>
                  <a:srgbClr val="F7F8FA"/>
                </a:solidFill>
              </a:defRPr>
            </a:pPr>
            <a:r>
              <a:rPr sz="1500" b="0">
                <a:solidFill>
                  <a:srgbClr val="F7F8FA"/>
                </a:solidFill>
              </a:rPr>
              <a:t>next owner   network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72EA65-7C3A-4CA4-89BF-2ACC75AD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7622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BE2499-C0A2-46F7-B4F3-037F1B96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66675" cy="8382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856E25-E0A0-4E09-AF1B-9DAC09D8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099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Approved intent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1EA336-4DA0-422E-8DC7-8FBB1AE5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What was requested and who approved it.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A6DD04-CF2A-4CF1-ACFC-24EA5349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27622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17DF5C-CAA2-4538-9942-5029D86D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66675" cy="8382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AAE446-75CE-43DB-A0BB-A39BEA7F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434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Pause / resume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F50B34-B02F-4B58-9A78-F2354EE5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6725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Blockers, safe state, owner, next phase.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4B3D5D-B659-40EE-8AA6-C999A8DB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57500"/>
            <a:ext cx="27622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B432F7-4B70-4D78-82BD-722A47DD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57500"/>
            <a:ext cx="66675" cy="8382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022D0C-A3A0-4707-94D5-CA012860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0099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Evidence trail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599F06-4E7A-4EC0-96FB-21D51D64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3375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Provider results, checks, reconciliation.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8492EB-FF52-4030-9323-893A2760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91000"/>
            <a:ext cx="2762250" cy="8382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7A2606-05C7-4C14-BEE8-095B581F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91000"/>
            <a:ext cx="66675" cy="8382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B03C80-CDB3-42AC-8676-996539CF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434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Handoff record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71EED7-F6F4-49AA-88A3-988E1D00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6725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Origin and completion remain readable.</a:t>
            </a:r>
          </a:p>
        </p:txBody>
      </p:sp>
      <p:cxnSp>
        <p:nvCxnSpPr>
          <p:cNvPr id="62" name=""/>
          <p:cNvCxnSpPr>
            <a:stCxn xmlns:a="http://schemas.openxmlformats.org/drawingml/2006/main" id="13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448050" y="3276600"/>
            <a:ext cx="895350" cy="6572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F7A00"/>
            </a:solidFill>
            <a:prstDash val="solid"/>
            <a:tailEnd type="arrow" w="med" len="med"/>
          </a:ln>
        </p:spPr>
      </p:cxnSp>
      <p:cxnSp>
        <p:nvCxnSpPr>
          <p:cNvPr id="63" name=""/>
          <p:cNvCxnSpPr>
            <a:stCxn xmlns:a="http://schemas.openxmlformats.org/drawingml/2006/main" id="1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V="1">
            <a:off x="3448050" y="3933825"/>
            <a:ext cx="895350" cy="6762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39A9FF"/>
            </a:solidFill>
            <a:prstDash val="solid"/>
            <a:tailEnd type="arrow" w="med" len="med"/>
          </a:ln>
        </p:spPr>
      </p:cxnSp>
      <p:cxnSp>
        <p:nvCxnSpPr>
          <p:cNvPr id="64" name=""/>
          <p:cNvCxnSpPr>
            <a:stCxn xmlns:a="http://schemas.openxmlformats.org/drawingml/2006/main" id="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 flipV="1">
            <a:off x="7867650" y="3276600"/>
            <a:ext cx="895350" cy="6572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FD1A1"/>
            </a:solidFill>
            <a:prstDash val="solid"/>
            <a:tailEnd type="arrow" w="med" len="med"/>
          </a:ln>
        </p:spPr>
      </p:cxnSp>
      <p:cxnSp>
        <p:nvCxnSpPr>
          <p:cNvPr id="65" name=""/>
          <p:cNvCxnSpPr>
            <a:stCxn xmlns:a="http://schemas.openxmlformats.org/drawingml/2006/main" id="9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7867650" y="3933825"/>
            <a:ext cx="895350" cy="6762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F7A00"/>
            </a:solidFill>
            <a:prstDash val="solid"/>
            <a:tailEnd type="arrow" w="med" len="me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4233BD-50F0-4A6F-8B6A-E80C49F3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8FA"/>
                </a:solidFill>
              </a:defRPr>
            </a:pPr>
            <a:r>
              <a:rPr sz="1500" b="1">
                <a:solidFill>
                  <a:srgbClr val="F7F8FA"/>
                </a:solidFill>
              </a:rPr>
              <a:t>The manifest complements a discovery-only CMDB; it does not replace it.</a:t>
            </a:r>
          </a:p>
        </p:txBody>
      </p:sp>
    </p:spTree>
    <p:extLst>
      <p:ext uri="{BB962C8B-B14F-4D97-AF65-F5344CB8AC3E}">
        <p14:creationId xmlns:p14="http://schemas.microsoft.com/office/powerpoint/2010/main" val="9301387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60E7EF-2A3F-49B0-A5A4-33CDA9D2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1B5C45-F748-4603-BF35-3BFAF09A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00"/>
                </a:solidFill>
              </a:defRPr>
            </a:pPr>
            <a:r>
              <a:rPr sz="975" b="1">
                <a:solidFill>
                  <a:srgbClr val="FF7A00"/>
                </a:solidFill>
              </a:rPr>
              <a:t>OPERATING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18DCF-4905-44EF-AC80-4CC2FB16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4BFB95-92B3-49E8-88A8-93E480B7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AF0DD-B72A-486B-BEEF-EBD167C2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6FBE2E-B913-42EA-9073-5E20A20F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Four responsibilities stay separate.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977338-A83A-40BD-B145-D0799618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C7DFBD-81F2-4C33-A7EB-E63420C1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Clarity comes from giving each component one job.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51DED-6F54-4643-8C22-E1E80230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381250" cy="272415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C0046B-BE23-4F0C-A728-7BDBE8FEE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381250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56DBF4-560B-4EB5-8729-4065CE1C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1924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00"/>
                </a:solidFill>
              </a:defRPr>
            </a:pPr>
            <a:r>
              <a:rPr sz="1050" b="1">
                <a:solidFill>
                  <a:srgbClr val="FF7A00"/>
                </a:solidFill>
              </a:rPr>
              <a:t>CONTRACT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406732-B3F8-478A-8005-DF2CF214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A"/>
                </a:solidFill>
              </a:defRPr>
            </a:pPr>
            <a:r>
              <a:rPr sz="1800" b="1">
                <a:solidFill>
                  <a:srgbClr val="F7F8FA"/>
                </a:solidFill>
              </a:rPr>
              <a:t>Defines meaning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7A66D4-93A3-46D4-9A28-57D09CE8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924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Fields</a:t>
            </a:r>
          </a:p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owners</a:t>
            </a:r>
          </a:p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phase rules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CE0705-21ED-4216-BA07-DF820CC4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647950"/>
            <a:ext cx="2381250" cy="272415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8A5CEE-39B5-433D-B8ED-33B195D9D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647950"/>
            <a:ext cx="2381250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7A990E-0B8C-4ECC-8601-B18C9F6A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971800"/>
            <a:ext cx="1924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9A9FF"/>
                </a:solidFill>
              </a:defRPr>
            </a:pPr>
            <a:r>
              <a:rPr sz="1050" b="1">
                <a:solidFill>
                  <a:srgbClr val="39A9FF"/>
                </a:solidFill>
              </a:rPr>
              <a:t>MANIFEST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24B130-398B-4FB1-B229-E95EB7FD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4671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A"/>
                </a:solidFill>
              </a:defRPr>
            </a:pPr>
            <a:r>
              <a:rPr sz="1800" b="1">
                <a:solidFill>
                  <a:srgbClr val="F7F8FA"/>
                </a:solidFill>
              </a:rPr>
              <a:t>Preserves 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099C58-1380-4A72-A723-E71FC27B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267200"/>
            <a:ext cx="1924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Intent</a:t>
            </a:r>
          </a:p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blockers</a:t>
            </a:r>
          </a:p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7F749C-75DD-493E-97FA-7890B41A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47950"/>
            <a:ext cx="2381250" cy="272415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6E6D6E-8E50-4D8C-A568-51C5FFBB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47950"/>
            <a:ext cx="2381250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A95F7F-F233-40C3-B739-BB9A91582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71800"/>
            <a:ext cx="1924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FD1A1"/>
                </a:solidFill>
              </a:defRPr>
            </a:pPr>
            <a:r>
              <a:rPr sz="1050" b="1">
                <a:solidFill>
                  <a:srgbClr val="4FD1A1"/>
                </a:solidFill>
              </a:rPr>
              <a:t>AAP 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B53766-9718-45AF-BAAC-B4ACBEB0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671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A"/>
                </a:solidFill>
              </a:defRPr>
            </a:pPr>
            <a:r>
              <a:rPr sz="1800" b="1">
                <a:solidFill>
                  <a:srgbClr val="F7F8FA"/>
                </a:solidFill>
              </a:rPr>
              <a:t>Coordinates work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293FC1-1E45-401A-94B0-8F562D0F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67200"/>
            <a:ext cx="1924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Jobs</a:t>
            </a:r>
          </a:p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branches</a:t>
            </a:r>
          </a:p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retries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D41D68-BE5C-4763-B5F1-2C12E7E4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647950"/>
            <a:ext cx="2381250" cy="2724150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11BE16-F0A0-4FB7-82B2-60E6F915A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647950"/>
            <a:ext cx="2381250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F7A953-F385-4B68-B380-A7D896EF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971800"/>
            <a:ext cx="1924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A00"/>
                </a:solidFill>
              </a:defRPr>
            </a:pPr>
            <a:r>
              <a:rPr sz="1050" b="1">
                <a:solidFill>
                  <a:srgbClr val="FF7A00"/>
                </a:solidFill>
              </a:rPr>
              <a:t>CMDB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E0DA59-E723-4EEA-98A9-03FA0FE1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4671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8FA"/>
                </a:solidFill>
              </a:defRPr>
            </a:pPr>
            <a:r>
              <a:rPr sz="1800" b="1">
                <a:solidFill>
                  <a:srgbClr val="F7F8FA"/>
                </a:solidFill>
              </a:rPr>
              <a:t>Observes estate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DC4C83-B2DB-40E9-92CF-0E974C2B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267200"/>
            <a:ext cx="1924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Discovered</a:t>
            </a:r>
          </a:p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operational</a:t>
            </a:r>
          </a:p>
          <a:p xmlns:a="http://schemas.openxmlformats.org/drawingml/2006/main">
            <a:pPr algn="l">
              <a:defRPr sz="1350" b="0">
                <a:solidFill>
                  <a:srgbClr val="AAB3C0"/>
                </a:solidFill>
              </a:defRPr>
            </a:pPr>
            <a:r>
              <a:rPr sz="1350" b="0">
                <a:solidFill>
                  <a:srgbClr val="AAB3C0"/>
                </a:solidFill>
              </a:rPr>
              <a:t>state</a:t>
            </a:r>
          </a:p>
        </p:txBody>
      </p:sp>
    </p:spTree>
    <p:extLst>
      <p:ext uri="{BB962C8B-B14F-4D97-AF65-F5344CB8AC3E}">
        <p14:creationId xmlns:p14="http://schemas.microsoft.com/office/powerpoint/2010/main" val="13439128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0502ED-707C-4272-9FFD-2E355472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BF3238-8A8C-4942-BD77-DDAAFE02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A9FF"/>
                </a:solidFill>
              </a:defRPr>
            </a:pPr>
            <a:r>
              <a:rPr sz="975" b="1">
                <a:solidFill>
                  <a:srgbClr val="39A9FF"/>
                </a:solidFill>
              </a:rPr>
              <a:t>AAP LOGICAL 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0B068-03B6-496D-9081-B7ECEFE6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54FA35-854D-41F4-998C-B35888D5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8A37AE-B5D9-46B0-88F3-3E9022B9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F3CFD-ECC2-4586-9286-D2063FEE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AAP runs short phases. The manifest carries the pause.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199D2A-27B9-470C-A025-2F8E4420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72EE5B-EFEB-40DE-AB14-2590F930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A workflow launch can come from a request API, a webhook rule, or a schedule.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3ADF73-BB50-4B32-A40E-A9C7ABFE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256B32-EC1F-4ADE-87CF-AD8916DB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66675" cy="8572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3B66A-3AA4-472A-AB18-5ACB10F7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1  Create / 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F951E7-6014-4E88-83CE-61D0A0B3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040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Resolve request + revision.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9DA678-A6B2-4D42-A036-F4FECB49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2415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8FE5EB-0A43-4B21-A0DF-5A50D240C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24150"/>
            <a:ext cx="66675" cy="8572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B1D7C5-7E2F-47F4-BC8D-4F38AD29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765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2  Assess readiness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E57A74-753D-4805-A1D2-01F63364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0040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Evaluate phase requirements.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1A0FA1-A610-494A-95A8-A1E31683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2415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0593D9-91A0-4EAD-AAB7-A3B19003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24150"/>
            <a:ext cx="66675" cy="8572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C23506-E5A2-4634-9F83-94E2CCA8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765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3  Execute phase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9B1518-71CD-464A-80E6-0AE504F1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20040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VMware, OS, network…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A06CEB-DDBD-46AF-89E3-634F00F9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2415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39CC45-9AC2-4B92-8E95-BE1F3A66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24150"/>
            <a:ext cx="66675" cy="8572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EF1737-BBB6-436D-A31D-56D85A8C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765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4  Persist result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C9662D-851A-4A63-AF88-D0E23E10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0040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Revision + event + evidence.</a:t>
            </a:r>
          </a:p>
        </p:txBody>
      </p:sp>
      <p:cxnSp>
        <p:nvCxnSpPr>
          <p:cNvPr id="65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781300" y="3152775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A00"/>
            </a:solidFill>
            <a:prstDash val="solid"/>
            <a:tailEnd type="arrow" w="med" len="med"/>
          </a:ln>
        </p:spPr>
      </p:cxnSp>
      <p:cxnSp>
        <p:nvCxnSpPr>
          <p:cNvPr id="66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5295900" y="3152775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9A9FF"/>
            </a:solidFill>
            <a:prstDash val="solid"/>
            <a:tailEnd type="arrow" w="med" len="med"/>
          </a:ln>
        </p:spPr>
      </p:cxnSp>
      <p:cxnSp>
        <p:nvCxnSpPr>
          <p:cNvPr id="67" name=""/>
          <p:cNvCxnSpPr>
            <a:stCxn xmlns:a="http://schemas.openxmlformats.org/drawingml/2006/main" id="1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810500" y="3152775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FD1A1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1A4709-719B-47A0-8124-9D2474B6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476750"/>
            <a:ext cx="2095500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BAE0A6-1E29-4759-9A59-2C67BB3E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476750"/>
            <a:ext cx="66675" cy="7048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F5D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8592D1-A69E-4C0D-BD98-331FDECA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291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BLOCKED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119107-B166-4236-BB16-C7A5272E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953000"/>
            <a:ext cx="1733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Persist owner + resume phase; exit.</a:t>
            </a:r>
          </a:p>
        </p:txBody>
      </p:sp>
      <p:cxnSp>
        <p:nvCxnSpPr>
          <p:cNvPr id="72" name=""/>
          <p:cNvCxnSpPr>
            <a:stCxn xmlns:a="http://schemas.openxmlformats.org/drawingml/2006/main" id="13" idx="2"/>
            <a:endCxn xmlns:a="http://schemas.openxmlformats.org/drawingml/2006/main" id="28" idx="0"/>
          </p:cNvCxnSpPr>
          <p:nvPr/>
        </p:nvCxnSpPr>
        <p:spPr>
          <a:xfrm xmlns:a="http://schemas.openxmlformats.org/drawingml/2006/main">
            <a:off x="4248150" y="3581400"/>
            <a:ext cx="0" cy="8953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D66"/>
            </a:solidFill>
            <a:prstDash val="solid"/>
            <a:tailEnd type="arrow" w="med" len="me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010AAB-115B-4F51-A320-1819B4E8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76750"/>
            <a:ext cx="2095500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5C6953-089A-44EA-A54C-71778E8E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76750"/>
            <a:ext cx="66675" cy="7048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39A9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FB8FFE-651D-438E-B225-430D6629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6291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F8FA"/>
                </a:solidFill>
              </a:defRPr>
            </a:pPr>
            <a:r>
              <a:rPr sz="1350" b="1">
                <a:solidFill>
                  <a:srgbClr val="F7F8FA"/>
                </a:solidFill>
              </a:rPr>
              <a:t>NEXT EVENT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428B46-B9B7-4F19-9E34-CBB27437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953000"/>
            <a:ext cx="17335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AAB3C0"/>
                </a:solidFill>
              </a:defRPr>
            </a:pPr>
            <a:r>
              <a:rPr sz="975" b="0">
                <a:solidFill>
                  <a:srgbClr val="AAB3C0"/>
                </a:solidFill>
              </a:rPr>
              <a:t>Relaunch from the retained revision.</a:t>
            </a:r>
          </a:p>
        </p:txBody>
      </p:sp>
      <p:cxnSp>
        <p:nvCxnSpPr>
          <p:cNvPr id="77" name=""/>
          <p:cNvCxnSpPr>
            <a:stCxn xmlns:a="http://schemas.openxmlformats.org/drawingml/2006/main" id="2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9277350" y="3581400"/>
            <a:ext cx="0" cy="8953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9A9FF"/>
            </a:solidFill>
            <a:prstDash val="solid"/>
            <a:tailEnd type="arrow" w="med" len="med"/>
          </a:ln>
        </p:spPr>
      </p:cxnSp>
      <p:cxnSp>
        <p:nvCxnSpPr>
          <p:cNvPr id="78" name=""/>
          <p:cNvCxnSpPr>
            <a:stCxn xmlns:a="http://schemas.openxmlformats.org/drawingml/2006/main" id="33" idx="1"/>
            <a:endCxn xmlns:a="http://schemas.openxmlformats.org/drawingml/2006/main" id="9" idx="2"/>
          </p:cNvCxnSpPr>
          <p:nvPr/>
        </p:nvCxnSpPr>
        <p:spPr>
          <a:xfrm xmlns:a="http://schemas.openxmlformats.org/drawingml/2006/main" flipH="1" flipV="1">
            <a:off x="1733550" y="3581400"/>
            <a:ext cx="6496050" cy="1247775"/>
          </a:xfrm>
          <a:prstGeom xmlns:a="http://schemas.openxmlformats.org/drawingml/2006/main" prst="bentConnector4">
            <a:avLst>
              <a:gd name="adj1" fmla="val 3519"/>
              <a:gd name="adj2" fmla="val 81679"/>
            </a:avLst>
          </a:prstGeom>
          <a:ln xmlns:a="http://schemas.openxmlformats.org/drawingml/2006/main" w="19050">
            <a:solidFill>
              <a:srgbClr val="697586"/>
            </a:solidFill>
            <a:prstDash val="dash"/>
            <a:tailEnd type="arrow" w="med" len="med"/>
          </a:ln>
        </p:spPr>
      </p:cxn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773811-85B5-4CBF-8B52-D87BD2C0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527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4FD1A1"/>
                </a:solidFill>
              </a:defRPr>
            </a:pPr>
            <a:r>
              <a:rPr sz="825" b="1">
                <a:solidFill>
                  <a:srgbClr val="4FD1A1"/>
                </a:solidFill>
              </a:rPr>
              <a:t>READY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503607-7FB1-4AB7-ADA9-39520DE3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195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5D66"/>
                </a:solidFill>
              </a:defRPr>
            </a:pPr>
            <a:r>
              <a:rPr sz="825" b="1">
                <a:solidFill>
                  <a:srgbClr val="FF5D66"/>
                </a:solidFill>
              </a:rPr>
              <a:t>NOT READY</a:t>
            </a:r>
          </a:p>
        </p:txBody>
      </p:sp>
    </p:spTree>
    <p:extLst>
      <p:ext uri="{BB962C8B-B14F-4D97-AF65-F5344CB8AC3E}">
        <p14:creationId xmlns:p14="http://schemas.microsoft.com/office/powerpoint/2010/main" val="14476834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30EF2B-B882-4726-9371-E16252F3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5AD2D-298C-482C-9542-D5AA1213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FD1A1"/>
                </a:solidFill>
              </a:defRPr>
            </a:pPr>
            <a:r>
              <a:rPr sz="975" b="1">
                <a:solidFill>
                  <a:srgbClr val="4FD1A1"/>
                </a:solidFill>
              </a:rPr>
              <a:t>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7A5AFE-EAC4-4B24-9385-C5A5F812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3389CF-9D23-44E8-80E4-55A39B71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BD8D8E-49B5-4EC4-9B66-7B2F09EB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ECFD77-D562-4283-B959-AA059A42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What the POC already proves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6CF33-02F1-40DB-9300-3AE85E85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FD1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BBEFED-A2F6-40F4-A1BA-22E03A13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The first milestone is traceable lifecycle behavior—not a finished enterprise platform.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FDCE40-70BA-4D1B-8E8C-E05747C6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7A00"/>
                </a:solidFill>
              </a:defRPr>
            </a:pPr>
            <a:r>
              <a:rPr sz="3000" b="1">
                <a:solidFill>
                  <a:srgbClr val="FF7A00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8CE11C-1B64-409C-ACFB-B4C4818B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3C0"/>
                </a:solidFill>
              </a:defRPr>
            </a:pPr>
            <a:r>
              <a:rPr sz="1275" b="0">
                <a:solidFill>
                  <a:srgbClr val="AAB3C0"/>
                </a:solidFill>
              </a:rPr>
              <a:t>common lifecycle for Windows and Linux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DC85B8-BA73-40CC-9BF6-9C6A34F6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0510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39A9FF"/>
                </a:solidFill>
              </a:defRPr>
            </a:pPr>
            <a:r>
              <a:rPr sz="3000" b="1">
                <a:solidFill>
                  <a:srgbClr val="39A9FF"/>
                </a:solidFill>
              </a:rPr>
              <a:t>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C4AE-6B25-4D66-B31E-49C014E5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337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3C0"/>
                </a:solidFill>
              </a:defRPr>
            </a:pPr>
            <a:r>
              <a:rPr sz="1275" b="0">
                <a:solidFill>
                  <a:srgbClr val="AAB3C0"/>
                </a:solidFill>
              </a:rPr>
              <a:t>focused Ansible roles, each with Molecule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401B48-9214-4158-9B93-520DAB2D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0510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4FD1A1"/>
                </a:solidFill>
              </a:defRPr>
            </a:pPr>
            <a:r>
              <a:rPr sz="3000" b="1">
                <a:solidFill>
                  <a:srgbClr val="4FD1A1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369437-01FB-438E-AC29-0950E030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337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3C0"/>
                </a:solidFill>
              </a:defRPr>
            </a:pPr>
            <a:r>
              <a:rPr sz="1275" b="0">
                <a:solidFill>
                  <a:srgbClr val="AAB3C0"/>
                </a:solidFill>
              </a:rPr>
              <a:t>blocked-to-ready scenarios with accountable owners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A98BBF-B0F0-4744-A9C4-626D10F8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0510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7A00"/>
                </a:solidFill>
              </a:defRPr>
            </a:pPr>
            <a:r>
              <a:rPr sz="3000" b="1">
                <a:solidFill>
                  <a:srgbClr val="FF7A00"/>
                </a:solidFill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A5BF82-2A0F-4426-BB7C-A33BD4A1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3337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3C0"/>
                </a:solidFill>
              </a:defRPr>
            </a:pPr>
            <a:r>
              <a:rPr sz="1275" b="0">
                <a:solidFill>
                  <a:srgbClr val="AAB3C0"/>
                </a:solidFill>
              </a:rPr>
              <a:t>real credentials, endpoints, or production records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32446F-65C4-427D-8ED3-C89C93EB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5946CA-C130-4C48-BD48-A68EB9F5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33950"/>
            <a:ext cx="1019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7F8FA"/>
                </a:solidFill>
              </a:defRPr>
            </a:pPr>
            <a:r>
              <a:rPr sz="1575" b="1">
                <a:solidFill>
                  <a:srgbClr val="F7F8FA"/>
                </a:solidFill>
              </a:rPr>
              <a:t>Demonstrated locally: duplicate-event handling, stale-revision rejection, idempotent replay, and retained approved intent.</a:t>
            </a:r>
          </a:p>
        </p:txBody>
      </p:sp>
    </p:spTree>
    <p:extLst>
      <p:ext uri="{BB962C8B-B14F-4D97-AF65-F5344CB8AC3E}">
        <p14:creationId xmlns:p14="http://schemas.microsoft.com/office/powerpoint/2010/main" val="8749622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09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F84724-DB71-4DAC-B568-AD0CCB89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643A8D-6AB2-48EC-BABF-80E46292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7A00"/>
                </a:solidFill>
              </a:defRPr>
            </a:pPr>
            <a:r>
              <a:rPr sz="975" b="1">
                <a:solidFill>
                  <a:srgbClr val="FF7A00"/>
                </a:solidFill>
              </a:rPr>
              <a:t>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34D092-922A-4829-B380-91AF9A90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85750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97586"/>
                </a:solidFill>
              </a:defRPr>
            </a:pPr>
            <a:r>
              <a:rPr sz="975" b="1">
                <a:solidFill>
                  <a:srgbClr val="697586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BCC91-DCEB-40AA-B438-8E06F3AD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86B806-F25C-45C6-A154-E9A596D0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97586"/>
                </a:solidFill>
              </a:defRPr>
            </a:pPr>
            <a:r>
              <a:rPr sz="825" b="1">
                <a:solidFill>
                  <a:srgbClr val="697586"/>
                </a:solidFill>
              </a:rPr>
              <a:t>PIPELINE PLAYGROUND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F5C91-22AF-44CF-9631-B9EA2E23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572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8FA"/>
                </a:solidFill>
              </a:defRPr>
            </a:pPr>
            <a:r>
              <a:rPr sz="3150" b="1">
                <a:solidFill>
                  <a:srgbClr val="F7F8FA"/>
                </a:solidFill>
              </a:rPr>
              <a:t>Sponsor a focused pilot.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1B3F21-B43D-4C7D-AB64-7F07D8D1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857250" cy="47625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7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1DEE5A-58B5-405A-96EB-7F8F194D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90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AB3C0"/>
                </a:solidFill>
              </a:defRPr>
            </a:pPr>
            <a:r>
              <a:rPr sz="1575" b="0">
                <a:solidFill>
                  <a:srgbClr val="AAB3C0"/>
                </a:solidFill>
              </a:rPr>
              <a:t>Use evidence from one non-production integration before expanding scope.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2D9B0B-907D-4562-8876-952BFC1E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3238500" cy="232410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AB6FFE-A5DE-42E3-A131-E91EB236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7A00"/>
                </a:solidFill>
              </a:defRPr>
            </a:pPr>
            <a:r>
              <a:rPr sz="2250" b="1">
                <a:solidFill>
                  <a:srgbClr val="FF7A00"/>
                </a:solidFill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BF051F-BE8A-4E25-9046-48FCBC76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7F8FA"/>
                </a:solidFill>
              </a:defRPr>
            </a:pPr>
            <a:r>
              <a:rPr sz="1725" b="1">
                <a:solidFill>
                  <a:srgbClr val="F7F8FA"/>
                </a:solidFill>
              </a:rPr>
              <a:t>Choose one request path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3D29AD-AABB-4C34-85DF-2843071F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2724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3C0"/>
                </a:solidFill>
              </a:defRPr>
            </a:pPr>
            <a:r>
              <a:rPr sz="1275" b="0">
                <a:solidFill>
                  <a:srgbClr val="AAB3C0"/>
                </a:solidFill>
              </a:rPr>
              <a:t>Agree on the approved-event payload and owner.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1C6B38-1373-4EF3-9EDD-D5AF1973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62250"/>
            <a:ext cx="3238500" cy="232410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44EF15-B881-43F2-8E38-87B52CB6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9A9FF"/>
                </a:solidFill>
              </a:defRPr>
            </a:pPr>
            <a:r>
              <a:rPr sz="2250" b="1">
                <a:solidFill>
                  <a:srgbClr val="39A9FF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FDBDBD-5E82-49D2-841F-6FD22C8B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385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7F8FA"/>
                </a:solidFill>
              </a:defRPr>
            </a:pPr>
            <a:r>
              <a:rPr sz="1725" b="1">
                <a:solidFill>
                  <a:srgbClr val="F7F8FA"/>
                </a:solidFill>
              </a:rPr>
              <a:t>Connect one adapter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E05370-9D5C-465B-99D5-EDC854F7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62450"/>
            <a:ext cx="2724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3C0"/>
                </a:solidFill>
              </a:defRPr>
            </a:pPr>
            <a:r>
              <a:rPr sz="1275" b="0">
                <a:solidFill>
                  <a:srgbClr val="AAB3C0"/>
                </a:solidFill>
              </a:rPr>
              <a:t>Prefer the on-prem S3-compatible artifact service or non-production VMware.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003281-8B6F-445D-857D-4679E805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62250"/>
            <a:ext cx="3238500" cy="232410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1161E"/>
          </a:solidFill>
          <a:ln xmlns:a="http://schemas.openxmlformats.org/drawingml/2006/main" w="9525">
            <a:solidFill>
              <a:srgbClr val="2831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87A504-8799-4FC5-8163-B9109418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289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7A00"/>
                </a:solidFill>
              </a:defRPr>
            </a:pPr>
            <a:r>
              <a:rPr sz="2250" b="1">
                <a:solidFill>
                  <a:srgbClr val="FF7A00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FBCBA3-AAC2-4D0E-92D0-F721EBC0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385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7F8FA"/>
                </a:solidFill>
              </a:defRPr>
            </a:pPr>
            <a:r>
              <a:rPr sz="1725" b="1">
                <a:solidFill>
                  <a:srgbClr val="F7F8FA"/>
                </a:solidFill>
              </a:rPr>
              <a:t>Review the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865772-B9A0-43D4-9006-EB73FCD3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62450"/>
            <a:ext cx="27241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AB3C0"/>
                </a:solidFill>
              </a:defRPr>
            </a:pPr>
            <a:r>
              <a:rPr sz="1275" b="0">
                <a:solidFill>
                  <a:srgbClr val="AAB3C0"/>
                </a:solidFill>
              </a:rPr>
              <a:t>Measure traceability, waiting visibility, reuse, and operational fit.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3CC627-E058-41F3-994E-1D5A8194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7F8FA"/>
                </a:solidFill>
              </a:defRPr>
            </a:pPr>
            <a:r>
              <a:rPr sz="1650" b="1">
                <a:solidFill>
                  <a:srgbClr val="F7F8FA"/>
                </a:solidFill>
              </a:rPr>
              <a:t>Keep the first decision small: prove the operating model, then earn the next integration.</a:t>
            </a:r>
          </a:p>
        </p:txBody>
      </p:sp>
    </p:spTree>
    <p:extLst>
      <p:ext uri="{BB962C8B-B14F-4D97-AF65-F5344CB8AC3E}">
        <p14:creationId xmlns:p14="http://schemas.microsoft.com/office/powerpoint/2010/main" val="274172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2026-07-17T12:14:24.7260000Z</dcterms:created>
  <dcterms:modified xsi:type="dcterms:W3CDTF">2026-07-17T12:14:24.7260000Z</dcterms:modified>
</coreProperties>
</file>