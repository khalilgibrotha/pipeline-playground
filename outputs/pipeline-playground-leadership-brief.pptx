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3bb8237d424b51" /><Relationship Type="http://schemas.openxmlformats.org/officeDocument/2006/relationships/extended-properties" Target="/docProps/app.xml" Id="R30217cbfa692450a" /><Relationship Type="http://schemas.openxmlformats.org/officeDocument/2006/relationships/officeDocument" Target="/ppt/presentation.xml" Id="Rca1f9e4e24ef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9eae0c74046fa"/>
  </p:sldMasterIdLst>
  <p:notesMasterIdLst>
    <p:notesMasterId xmlns:r="http://schemas.openxmlformats.org/officeDocument/2006/relationships" r:id="R8637d8a90b3e4d95"/>
  </p:notesMasterIdLst>
  <p:sldIdLst>
    <p:sldId xmlns:r="http://schemas.openxmlformats.org/officeDocument/2006/relationships" id="256" r:id="Rf810e0c568af40bd"/>
    <p:sldId xmlns:r="http://schemas.openxmlformats.org/officeDocument/2006/relationships" id="257" r:id="Rf3834221cce749ad"/>
    <p:sldId xmlns:r="http://schemas.openxmlformats.org/officeDocument/2006/relationships" id="258" r:id="R326391fb59e043b8"/>
    <p:sldId xmlns:r="http://schemas.openxmlformats.org/officeDocument/2006/relationships" id="259" r:id="R38a8210a5051462b"/>
    <p:sldId xmlns:r="http://schemas.openxmlformats.org/officeDocument/2006/relationships" id="260" r:id="R28a1e930f64a4996"/>
    <p:sldId xmlns:r="http://schemas.openxmlformats.org/officeDocument/2006/relationships" id="261" r:id="R84865757f9f64a53"/>
    <p:sldId xmlns:r="http://schemas.openxmlformats.org/officeDocument/2006/relationships" id="262" r:id="R682e2d8fe54349da"/>
    <p:sldId xmlns:r="http://schemas.openxmlformats.org/officeDocument/2006/relationships" id="263" r:id="Ree345c8d61534e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833dea6444589" /><Relationship Type="http://schemas.openxmlformats.org/officeDocument/2006/relationships/slideMaster" Target="/ppt/slideMasters/slideMaster1.xml" Id="R7c99eae0c74046fa" /><Relationship Type="http://schemas.openxmlformats.org/officeDocument/2006/relationships/notesMaster" Target="/ppt/notesMasters/notesMaster1.xml" Id="R8637d8a90b3e4d95" /><Relationship Type="http://schemas.openxmlformats.org/officeDocument/2006/relationships/presProps" Target="/ppt/presProps.xml" Id="R82edc098dd2e44c5" /><Relationship Type="http://schemas.openxmlformats.org/officeDocument/2006/relationships/tableStyles" Target="/ppt/tableStyles.xml" Id="Rf5596974007b4fa5" /><Relationship Type="http://schemas.openxmlformats.org/officeDocument/2006/relationships/slide" Target="/ppt/slides/slide1.xml" Id="Rf810e0c568af40bd" /><Relationship Type="http://schemas.openxmlformats.org/officeDocument/2006/relationships/slide" Target="/ppt/slides/slide2.xml" Id="Rf3834221cce749ad" /><Relationship Type="http://schemas.openxmlformats.org/officeDocument/2006/relationships/slide" Target="/ppt/slides/slide3.xml" Id="R326391fb59e043b8" /><Relationship Type="http://schemas.openxmlformats.org/officeDocument/2006/relationships/slide" Target="/ppt/slides/slide4.xml" Id="R38a8210a5051462b" /><Relationship Type="http://schemas.openxmlformats.org/officeDocument/2006/relationships/slide" Target="/ppt/slides/slide5.xml" Id="R28a1e930f64a4996" /><Relationship Type="http://schemas.openxmlformats.org/officeDocument/2006/relationships/slide" Target="/ppt/slides/slide6.xml" Id="R84865757f9f64a53" /><Relationship Type="http://schemas.openxmlformats.org/officeDocument/2006/relationships/slide" Target="/ppt/slides/slide7.xml" Id="R682e2d8fe54349da" /><Relationship Type="http://schemas.openxmlformats.org/officeDocument/2006/relationships/slide" Target="/ppt/slides/slide8.xml" Id="Ree345c8d6153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4a51bc045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321beac5a41ab" /><Relationship Type="http://schemas.openxmlformats.org/officeDocument/2006/relationships/notesMaster" Target="/ppt/notesMasters/notesMaster1.xml" Id="Rda9dfb103ced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181bf704e460c" /><Relationship Type="http://schemas.openxmlformats.org/officeDocument/2006/relationships/notesMaster" Target="/ppt/notesMasters/notesMaster1.xml" Id="Rd67ebd26f8f3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33f251f854261" /><Relationship Type="http://schemas.openxmlformats.org/officeDocument/2006/relationships/notesMaster" Target="/ppt/notesMasters/notesMaster1.xml" Id="R6511768828aa47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c31feccda477a" /><Relationship Type="http://schemas.openxmlformats.org/officeDocument/2006/relationships/notesMaster" Target="/ppt/notesMasters/notesMaster1.xml" Id="Red8ef1498592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44fc862764047" /><Relationship Type="http://schemas.openxmlformats.org/officeDocument/2006/relationships/notesMaster" Target="/ppt/notesMasters/notesMaster1.xml" Id="Rc7753fa1b34141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79ef5ba75b4186" /><Relationship Type="http://schemas.openxmlformats.org/officeDocument/2006/relationships/notesMaster" Target="/ppt/notesMasters/notesMaster1.xml" Id="R5b836fd746704c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1bf9fb5b4349c8" /><Relationship Type="http://schemas.openxmlformats.org/officeDocument/2006/relationships/notesMaster" Target="/ppt/notesMasters/notesMaster1.xml" Id="Rcec351f7aa734b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f5b786a1348a9" /><Relationship Type="http://schemas.openxmlformats.org/officeDocument/2006/relationships/notesMaster" Target="/ppt/notesMasters/notesMaster1.xml" Id="Rf1e64e6633eb48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332cfffa8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521ffabc14b32" /><Relationship Type="http://schemas.openxmlformats.org/officeDocument/2006/relationships/slideLayout" Target="/ppt/slideLayouts/slideLayout1.xml" Id="Rf4fe9c359981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fe9c359981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cf627eeaf4201" /><Relationship Type="http://schemas.openxmlformats.org/officeDocument/2006/relationships/notesSlide" Target="/ppt/notesSlides/notesSlide1.xml" Id="R624cd40d382c45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07dd4e32f4b7a" /><Relationship Type="http://schemas.openxmlformats.org/officeDocument/2006/relationships/notesSlide" Target="/ppt/notesSlides/notesSlide2.xml" Id="R9ac7713a1a8c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02f864f4e4e06" /><Relationship Type="http://schemas.openxmlformats.org/officeDocument/2006/relationships/notesSlide" Target="/ppt/notesSlides/notesSlide3.xml" Id="R92dfa32096954e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2cff078314359" /><Relationship Type="http://schemas.openxmlformats.org/officeDocument/2006/relationships/notesSlide" Target="/ppt/notesSlides/notesSlide4.xml" Id="R3dd47919ff39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12f44f4394444" /><Relationship Type="http://schemas.openxmlformats.org/officeDocument/2006/relationships/notesSlide" Target="/ppt/notesSlides/notesSlide5.xml" Id="R1f574b36d83b42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0c027c93d4fd0" /><Relationship Type="http://schemas.openxmlformats.org/officeDocument/2006/relationships/notesSlide" Target="/ppt/notesSlides/notesSlide6.xml" Id="R6e5a42db8914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3e4c6768640d3" /><Relationship Type="http://schemas.openxmlformats.org/officeDocument/2006/relationships/notesSlide" Target="/ppt/notesSlides/notesSlide7.xml" Id="Rf2bf3af40846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c9a9485634ef2" /><Relationship Type="http://schemas.openxmlformats.org/officeDocument/2006/relationships/notesSlide" Target="/ppt/notesSlides/notesSlide8.xml" Id="Rae67ca0cbc5945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91D74-3E79-4721-9126-C2213437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486F9-3BE6-43C1-B3AD-2547BDC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6CC42-7E36-41E7-BE72-0F10967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PIPELINE PLAYGROUND  •  ARCHITECTURE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2C9F5-0426-488F-9A0D-D7B39B18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Modern automation,</a:t>
            </a:r>
          </a:p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made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F05CE-71D4-40CC-8D16-0774674B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A practical path from approved request to traceable Windows and Linux server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006AE-9926-41D4-8328-B3BD194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24D2F-230D-4BAC-8D5C-F401CB2B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31C06-A5A9-4F61-BB2D-048B6BC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Shared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7E9D-F33C-4426-84E6-39E41240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One definition of what the build needs.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37FCA-4037-4161-B97F-9464E90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652B-3A74-46B7-BFE4-7C74561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264CB-EB1D-42BF-8F21-A904E06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Visible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C8B13-8636-4AE8-A40D-3FC64E07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Blocked work has an owner and a resume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34295-9EDB-47F7-9140-1CB5ED19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EAEE3-8B17-4EF6-B390-D1ABACE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21D13-2664-454A-8B86-8726A511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Reusable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E2A01-6D76-4442-9E20-31668261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Common lifecycle; focused platform adapters.</a:t>
            </a:r>
          </a:p>
        </p:txBody>
      </p: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715500" y="2343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715500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4C4E5-9C07-4C75-B10A-33CF41D2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BRIEF FOR LEADERSHIP</a:t>
            </a:r>
          </a:p>
        </p:txBody>
      </p:sp>
    </p:spTree>
    <p:extLst>
      <p:ext uri="{BB962C8B-B14F-4D97-AF65-F5344CB8AC3E}">
        <p14:creationId xmlns:p14="http://schemas.microsoft.com/office/powerpoint/2010/main" val="398530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851F8-4EA2-4F89-A778-F51B10F5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FC2DC-43F0-4103-8EB3-CF895DCF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F412B-98C2-4DEE-868B-FF0F47FE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51D02-2A46-41F4-9582-484A239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4E394-5D0E-4FE2-82F0-40F1DEBB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9F7D7-C3BC-4926-B2D0-8CE5FFF5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delivery problem starts before automation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36269-45C0-4E71-B041-B56D246F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7B2E1-4977-4CEB-AA98-58A0CF2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Approved requests often arrive with incomplete integration data and unclear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DACFE-6E47-41C3-B411-02D70FD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7A00"/>
                </a:solidFill>
              </a:defRPr>
            </a:pPr>
            <a:r>
              <a:rPr sz="255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2758-C9FC-4195-A500-B2166908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Intent is fragmented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4839B-AF1E-40B9-B120-5F0E6C0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Tickets, CSV files, shares, inventories, and playbooks each hold part of the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FCE3F-C8DB-428C-A5B5-3D4D6C8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A9FF"/>
                </a:solidFill>
              </a:defRPr>
            </a:pPr>
            <a:r>
              <a:rPr sz="255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2924A-F0C8-40C9-B688-40A2403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Waiting is invisible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8DAB1-6B2F-4D07-9824-444DFFA8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A partial build can sit in staging without a durable blocker, owner, or resume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A0914-9A78-434D-A8CC-26805ECA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7A00"/>
                </a:solidFill>
              </a:defRPr>
            </a:pPr>
            <a:r>
              <a:rPr sz="255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0181B-2C25-447F-B77E-C60B878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Teams improvise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C7D72-9D4F-4211-ABDA-C34CD30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Developers choose inventory and variables when the authoritative source is unclear.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B0E42-2F3B-4A44-AE4B-9879B78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A"/>
                </a:solidFill>
              </a:defRPr>
            </a:pPr>
            <a:r>
              <a:rPr sz="1650" b="1">
                <a:solidFill>
                  <a:srgbClr val="F7F8FA"/>
                </a:solidFill>
              </a:rPr>
              <a:t>Automation inherits the ambiguity unless the handoff itself becomes explicit.</a:t>
            </a:r>
          </a:p>
        </p:txBody>
      </p:sp>
    </p:spTree>
    <p:extLst>
      <p:ext uri="{BB962C8B-B14F-4D97-AF65-F5344CB8AC3E}">
        <p14:creationId xmlns:p14="http://schemas.microsoft.com/office/powerpoint/2010/main" val="250657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8F852-CC0F-4368-87FE-C41068AA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395F1-F9E4-4733-B556-C2DA11F1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903C-6F9E-4D3A-8774-B8C40FE3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7F604-B7C5-4B8B-AAE8-B5C0227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60C4D-E2A4-4DB1-9B93-A2701B1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70848-1C1E-4DB2-B2C1-64EEF7B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Data contracts as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8EEE8-4A5A-451F-9CD6-9CB40B91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C0B06-09F9-4CAF-BA89-CDA455EA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versioned, reviewable agreement about the data automation may trust.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FAC4D-EC25-4528-A9A2-CF573DE6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The contract answers three questions: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C086F-DFDB-4D7F-A560-DA6B3C9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CAACA-CD01-4839-9C86-F13392A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E63EF-5979-406D-A47F-CAA4D876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fields and values are valid?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05EAD-F1D3-463E-A155-A075A032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74843-D347-4207-BF05-FBE6777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AE6DC-AA78-4761-A754-7CC57B4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Who owns each value and its source?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EA85F-4068-4001-B177-1B1808E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AFBB8-ECE4-46D6-B7AA-D24243B5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8C65D-8BBB-455F-930D-D2C8003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values are required at each phase?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6B407-9CC6-4A05-B8FA-7473277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147C2-6179-4E1F-922E-453DB61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E39D4-9826-4D32-A369-F506955E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PROBLEM SOLVED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B127F-6F1B-4E25-9CB1-EFF796D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Fewer local interpretations.</a:t>
            </a:r>
          </a:p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Clearer handoffs.</a:t>
            </a:r>
          </a:p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Safer reuse.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0023E-3FF6-4055-A130-D5EFCD1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The contract is not the workflow. It defines the rules the workflow applies.</a:t>
            </a:r>
          </a:p>
        </p:txBody>
      </p:sp>
    </p:spTree>
    <p:extLst>
      <p:ext uri="{BB962C8B-B14F-4D97-AF65-F5344CB8AC3E}">
        <p14:creationId xmlns:p14="http://schemas.microsoft.com/office/powerpoint/2010/main" val="473600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9411B1-34DB-43D0-84C8-97243E58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0E94B-0C54-4349-9899-925AAAF9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952FF-43A1-4887-B7FA-6FA4FAFF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DC68-EC0B-4B2D-B0B9-A803C980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34B84-B7DE-4C57-950C-8E6DA73E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CA2CD-2B8A-4388-854E-383D1BC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build manifest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6666B-AFEF-4ABA-939C-33F472D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103F3-67C6-4DA4-96EA-840A9CA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Durable record of approved intent, current status, and evidence for one server build.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ED20A-BDCB-4195-A651-F216DC8C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352425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25E1E-D3D4-4A20-8E92-56D177D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BUILD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AF439-5486-423E-8F98-B8BD52D7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125A5-1248-4CDC-B0B1-8CAF0076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request      REQ-0001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platform     windows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phase        network_ready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revision     4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next owner  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25869-4E97-4F21-8988-8754ED5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A8F6F-C6EF-4476-B9FC-AB58FA6E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F42A1-DAE6-48EC-8C95-AABE74A8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64B80-517C-47F1-AEDE-9389847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What was requested and who approved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A76A6-35BC-4760-9658-7D8D5C8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879AE-F942-4C22-8B32-29A67BC6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C4B67-AF60-4881-8061-DE6C077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Pause / resume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D52A3-A13C-42DA-932F-BB481A3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Blockers, safe state, owner, next phase.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3530C-237B-440B-984E-212934D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A2654-5884-4FD3-A8D3-41342AF8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87E5D-CA7A-43FD-838B-506FC019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Evidence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86FF3-C355-4EA3-801F-79E17DF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Provider results, checks, reconciliation.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1FEB3-9F7B-4C1E-BEDF-3904957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B776B-2D60-4BD7-A787-0655C75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71A9A-E438-4FD8-A42B-9B7784C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Handoff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13C1D-CA6B-4E7E-B5DE-C2EC17B0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Origin and completion remain readable.</a:t>
            </a:r>
          </a:p>
        </p:txBody>
      </p: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480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4480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8676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676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0418C-E241-4DDD-9276-2805E76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The manifest complements a discovery-only CMDB; it does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2046087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28454D-F61D-43FC-8FF9-74332314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51E3B-CA6C-4B73-9170-A673989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FFC2-EB6C-40D6-8D3D-3CFAE96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D545-94FC-4AB9-81A4-8AD26FA3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9FC96-2608-494F-9314-EBB50708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5006D-7421-4D16-8D49-C4FF24A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Four responsibilities stay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2FE81-0537-4385-8F9F-437BFEA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E9542-2752-4876-8FF8-9EE05F69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Clarity comes from giving each component one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4C6B0-1103-4253-B572-E52B919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00A2C-417B-468B-ADB2-5D007ED8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20262-552E-49CA-B08E-1E2C9AF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72246-9B65-4916-BF38-E9D8489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Defines 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880BB-F873-46FE-BFB5-63BD0E6B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Fields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owners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phase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09ACD-764E-4448-B113-6594393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8260D-D613-40C0-A370-BD4A3F45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90723-6AD3-4BE7-AA80-B331FC4B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9FF"/>
                </a:solidFill>
              </a:defRPr>
            </a:pPr>
            <a:r>
              <a:rPr sz="1050" b="1">
                <a:solidFill>
                  <a:srgbClr val="39A9FF"/>
                </a:solidFill>
              </a:rPr>
              <a:t>MANIFEST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2C3E1-AB7F-4AEB-854C-365FE4A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Preserves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DFD44-E3A7-45F0-ACD8-315A13CC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Intent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blockers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2DC22-E5A4-4ABA-9311-6F97551D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C734F-F627-405A-B2A6-DA6FA117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16902-B6B5-44CA-B546-4AC64D8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A1"/>
                </a:solidFill>
              </a:defRPr>
            </a:pPr>
            <a:r>
              <a:rPr sz="1050" b="1">
                <a:solidFill>
                  <a:srgbClr val="4FD1A1"/>
                </a:solidFill>
              </a:rPr>
              <a:t>AAP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7A7FC-E337-42E0-BDBC-EF17CB6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Coordinates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DB9FB-7DC7-4F37-9914-2A1A313D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Jobs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branches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retries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0E0D6-14D5-4ED6-8B11-0DF75DB1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E1F3D-13A6-4C77-B3BE-F97F3896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74ABD-7199-4555-8683-6213A07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CMDB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AA5D3-28CE-4DC1-A84B-277A3C16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Observes estate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7A875-E6E4-4EF5-8D3D-1EAEB35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Discovered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operational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812728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E4ECE3-33F5-4A6D-8C0D-445A2EA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FABAD-D044-41E2-999B-85E112AE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AAP LOGICAL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A37EB-11BB-4CFF-A031-00B1C3AF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5020-A322-4418-9BE8-FDE6927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61DA8-F3CB-4CA2-83CC-04C688F6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AAC9-C9DF-419B-BD37-00DDF6A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AAP runs short phases. The manifest carries the pause.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1FE69-60D8-419E-BB83-70F61720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101A1-8CF0-4639-9A65-8A4514F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workflow launch can come from a request API, a webhook rule, or a schedule.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6E1E8-8AB4-4A7C-81A1-B2558178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F5E2-623B-4C74-AC1D-8389EDA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35538-3CD3-4894-9435-388E89B2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1  Create /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7857-0C92-470B-B175-BE5DA420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Resolve request + revision.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57910-3EE7-4E66-B701-549834F9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03E69-C6C4-4AA1-A9C8-DBCFF92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86A42-940D-47B6-B6C0-03C9E34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2  Assess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6A7E8-7343-4D8F-9ACE-6DF23414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Evaluate phase requirements.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DA6E4-0403-4BB9-8352-C323AE3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1FD3D-F7DD-4CFA-9077-B01273A1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AA307-07B4-45F4-9983-36CCFC6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3  Execute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CD5DF-93F7-42F3-912B-45326092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VMware, OS, network…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C7145-20ED-427A-8EF2-3DFF6B4F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9D4C6-5302-4B11-9062-7BEA324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973CF-6F5E-43DF-9110-59AE08DF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4  Persist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4029C-249C-4BFC-A1B4-D8BC9A4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Revision + event + evidence.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813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2959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105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469AC-D21A-4C77-8E3F-E0097987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D486C-D18B-4B2F-A20B-3416E21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E23FA-90A6-4F23-90AE-F6E7A6EB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9247B1-844B-4DAB-B1E5-5DABFE83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Persist owner + resume phase; exit.</a:t>
            </a:r>
          </a:p>
        </p:txBody>
      </p:sp>
      <p:cxnSp>
        <p:nvCxnSpPr>
          <p:cNvPr id="72" name=""/>
          <p:cNvCxnSpPr>
            <a:stCxn xmlns:a="http://schemas.openxmlformats.org/drawingml/2006/main" id="1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42481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19BB8-A885-41D5-AA1B-F71E1EE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EF539A-9DFB-4FAA-8EA9-B0BFE37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9D3E9-9373-4BA9-AFC3-8EC38B2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NEXT EVENT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B2CEA6-67DD-42CA-AEF5-B4DE8B6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Relaunch from the retained revision.</a:t>
            </a:r>
          </a:p>
        </p:txBody>
      </p:sp>
      <p:cxnSp>
        <p:nvCxnSpPr>
          <p:cNvPr id="77" name=""/>
          <p:cNvCxnSpPr>
            <a:stCxn xmlns:a="http://schemas.openxmlformats.org/drawingml/2006/main" id="2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92773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78" name=""/>
          <p:cNvCxnSpPr>
            <a:stCxn xmlns:a="http://schemas.openxmlformats.org/drawingml/2006/main" id="33" idx="1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1733550" y="3581400"/>
            <a:ext cx="6496050" cy="1247775"/>
          </a:xfrm>
          <a:prstGeom xmlns:a="http://schemas.openxmlformats.org/drawingml/2006/main" prst="bentConnector4">
            <a:avLst>
              <a:gd name="adj1" fmla="val 3519"/>
              <a:gd name="adj2" fmla="val 81679"/>
            </a:avLst>
          </a:prstGeom>
          <a:ln xmlns:a="http://schemas.openxmlformats.org/drawingml/2006/main" w="19050">
            <a:solidFill>
              <a:srgbClr val="697586"/>
            </a:solidFill>
            <a:prstDash val="dash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D08368-E5F0-48D3-8DC5-81F5B56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FD1A1"/>
                </a:solidFill>
              </a:defRPr>
            </a:pPr>
            <a:r>
              <a:rPr sz="825" b="1">
                <a:solidFill>
                  <a:srgbClr val="4FD1A1"/>
                </a:solidFill>
              </a:rPr>
              <a:t>READY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68B837-F761-410D-B15B-03D521B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5D66"/>
                </a:solidFill>
              </a:defRPr>
            </a:pPr>
            <a:r>
              <a:rPr sz="825" b="1">
                <a:solidFill>
                  <a:srgbClr val="FF5D66"/>
                </a:solidFill>
              </a:rPr>
              <a:t>NOT READY</a:t>
            </a:r>
          </a:p>
        </p:txBody>
      </p:sp>
    </p:spTree>
    <p:extLst>
      <p:ext uri="{BB962C8B-B14F-4D97-AF65-F5344CB8AC3E}">
        <p14:creationId xmlns:p14="http://schemas.microsoft.com/office/powerpoint/2010/main" val="281768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D296D-E9FC-4B91-8E0A-4F57557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4B373-392C-40FC-B886-C239EDE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D0D4-B10B-4F42-98AC-4791A7C0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6AF21-7FD9-4332-B1AE-07BC7E0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3FA66-D7A4-4A60-9BA8-8F166137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CA6D5-5413-4638-A701-3C2D0B10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What the POC already proves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ABE11-4F0F-42DE-82D0-0B2C24E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EAB7A-886A-42C9-B3A2-3CFA6352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first milestone is traceable lifecycle behavior—not a finished enterprise platform.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06043-5ADE-4429-86B0-EFAEA37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7A00"/>
                </a:solidFill>
              </a:defRPr>
            </a:pPr>
            <a:r>
              <a:rPr sz="3000" b="1">
                <a:solidFill>
                  <a:srgbClr val="FF7A0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B7271-A7D0-4821-B798-A37C67CC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common lifecycle for Windows and Linux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249A3-02E4-4B4A-A13E-43D2027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9A9FF"/>
                </a:solidFill>
              </a:defRPr>
            </a:pPr>
            <a:r>
              <a:rPr sz="3000" b="1">
                <a:solidFill>
                  <a:srgbClr val="39A9FF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BF545-32A4-4BBF-9000-8A055CC3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focused Ansible roles, each with Molecule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08736-F262-49FD-880F-8821CE73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1A1"/>
                </a:solidFill>
              </a:defRPr>
            </a:pPr>
            <a:r>
              <a:rPr sz="3000" b="1">
                <a:solidFill>
                  <a:srgbClr val="4FD1A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EC1DB-2D4A-461E-8595-B55889BB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blocked-to-ready scenarios with accountable owners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08A81-A466-4D02-B0CC-CA2CBE4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7A00"/>
                </a:solidFill>
              </a:defRPr>
            </a:pPr>
            <a:r>
              <a:rPr sz="3000" b="1">
                <a:solidFill>
                  <a:srgbClr val="FF7A00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85667-30FB-4F16-9EA5-1521D7B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real credentials, endpoints, or production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2F6EF-A7A0-4D72-8939-78222A2A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39708-0A30-4986-9744-602BD55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Demonstrated locally: duplicate-event handling, stale-revision rejection, idempotent replay, and retained approved intent.</a:t>
            </a:r>
          </a:p>
        </p:txBody>
      </p:sp>
    </p:spTree>
    <p:extLst>
      <p:ext uri="{BB962C8B-B14F-4D97-AF65-F5344CB8AC3E}">
        <p14:creationId xmlns:p14="http://schemas.microsoft.com/office/powerpoint/2010/main" val="1145416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0223E-9A03-4E81-947C-33235C74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A38D0-4A32-4FF6-BDCC-F365B0A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07F5D-9477-450C-A7C5-5E38CAEC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8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50283-96BC-48E7-B1FF-ED5DAF2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F12BC-D6AD-4555-AEFF-92CA2C7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PIPELINE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BA795-2480-48EE-B92D-51B851D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My recommendation: authorize a focused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BAFA6-7BB3-43DC-80F3-1B5C6439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C72AB-DDB7-4AA8-9D34-E1741CA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I will test one non-production integration and return with evidence before proposing broader adoption.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9BF1E-C948-44C2-B45C-4AD0A1F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ACA50-14B9-465B-AD9E-F04A59C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FC64-BED7-4C4F-8682-F5685F3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Align the decision owners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ECE7F-DDF5-4351-8B91-825EB9D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will confirm the approved-event payload, data ownership, safe blocked state, and success measures.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46720-B511-403E-8247-5225AD43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70AA1-1581-4C21-9112-835856B1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A9FF"/>
                </a:solidFill>
              </a:defRPr>
            </a:pPr>
            <a:r>
              <a:rPr sz="225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B5BA3-09DC-4502-8426-B9288A8C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Prove one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E44B8-7EDA-4A61-B9D8-839D5BC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recommend S3-compatible artifact storage first; non-production VMware is the alternate.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11DED-AC84-49A7-BF81-D1413D85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AA1D4-36C9-403C-AFF7-1D1FBDA6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96129-A50F-4AA6-811B-67B9FC1F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Return with a 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6C73E-46BB-414F-9D39-04E3030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will report the evidence, remaining risks, organizational gaps, and next justified increment.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3BB9C-E67E-4766-8B4E-7089E064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Leadership decision requested: sponsor the contained pilot and the required owner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97902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2026-07-17T14:33:18.8300000Z</dcterms:created>
  <dcterms:modified xsi:type="dcterms:W3CDTF">2026-07-17T14:33:18.8300000Z</dcterms:modified>
</coreProperties>
</file>