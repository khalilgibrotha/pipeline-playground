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e96bb97aa04a70" /><Relationship Type="http://schemas.openxmlformats.org/officeDocument/2006/relationships/extended-properties" Target="/docProps/app.xml" Id="R40cf449d8d384b8c" /><Relationship Type="http://schemas.openxmlformats.org/officeDocument/2006/relationships/officeDocument" Target="/ppt/presentation.xml" Id="R30067fef88bd44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35f8d61abc4356"/>
  </p:sldMasterIdLst>
  <p:notesMasterIdLst>
    <p:notesMasterId xmlns:r="http://schemas.openxmlformats.org/officeDocument/2006/relationships" r:id="R2d54aa2785544383"/>
  </p:notesMasterIdLst>
  <p:sldIdLst>
    <p:sldId xmlns:r="http://schemas.openxmlformats.org/officeDocument/2006/relationships" id="256" r:id="Rf4d3b3cb92094cac"/>
    <p:sldId xmlns:r="http://schemas.openxmlformats.org/officeDocument/2006/relationships" id="257" r:id="Rfff6d1fb734a4118"/>
    <p:sldId xmlns:r="http://schemas.openxmlformats.org/officeDocument/2006/relationships" id="258" r:id="R1c311727b22e4fb5"/>
    <p:sldId xmlns:r="http://schemas.openxmlformats.org/officeDocument/2006/relationships" id="259" r:id="R91e17061fe4643c8"/>
    <p:sldId xmlns:r="http://schemas.openxmlformats.org/officeDocument/2006/relationships" id="260" r:id="Ra586f606e9fd46fd"/>
    <p:sldId xmlns:r="http://schemas.openxmlformats.org/officeDocument/2006/relationships" id="261" r:id="R9b6860193b5d4dac"/>
    <p:sldId xmlns:r="http://schemas.openxmlformats.org/officeDocument/2006/relationships" id="262" r:id="Rac9ef3b6515a4537"/>
    <p:sldId xmlns:r="http://schemas.openxmlformats.org/officeDocument/2006/relationships" id="263" r:id="R458ab4367ed447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0b9f0a28d4879" /><Relationship Type="http://schemas.openxmlformats.org/officeDocument/2006/relationships/slideMaster" Target="/ppt/slideMasters/slideMaster1.xml" Id="Rcc35f8d61abc4356" /><Relationship Type="http://schemas.openxmlformats.org/officeDocument/2006/relationships/notesMaster" Target="/ppt/notesMasters/notesMaster1.xml" Id="R2d54aa2785544383" /><Relationship Type="http://schemas.openxmlformats.org/officeDocument/2006/relationships/presProps" Target="/ppt/presProps.xml" Id="Re8222c7e341242d1" /><Relationship Type="http://schemas.openxmlformats.org/officeDocument/2006/relationships/tableStyles" Target="/ppt/tableStyles.xml" Id="R316607b74945417b" /><Relationship Type="http://schemas.openxmlformats.org/officeDocument/2006/relationships/slide" Target="/ppt/slides/slide1.xml" Id="Rf4d3b3cb92094cac" /><Relationship Type="http://schemas.openxmlformats.org/officeDocument/2006/relationships/slide" Target="/ppt/slides/slide2.xml" Id="Rfff6d1fb734a4118" /><Relationship Type="http://schemas.openxmlformats.org/officeDocument/2006/relationships/slide" Target="/ppt/slides/slide3.xml" Id="R1c311727b22e4fb5" /><Relationship Type="http://schemas.openxmlformats.org/officeDocument/2006/relationships/slide" Target="/ppt/slides/slide4.xml" Id="R91e17061fe4643c8" /><Relationship Type="http://schemas.openxmlformats.org/officeDocument/2006/relationships/slide" Target="/ppt/slides/slide5.xml" Id="Ra586f606e9fd46fd" /><Relationship Type="http://schemas.openxmlformats.org/officeDocument/2006/relationships/slide" Target="/ppt/slides/slide6.xml" Id="R9b6860193b5d4dac" /><Relationship Type="http://schemas.openxmlformats.org/officeDocument/2006/relationships/slide" Target="/ppt/slides/slide7.xml" Id="Rac9ef3b6515a4537" /><Relationship Type="http://schemas.openxmlformats.org/officeDocument/2006/relationships/slide" Target="/ppt/slides/slide8.xml" Id="R458ab4367ed447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781481345c43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5b8f8d47ff4c50" /><Relationship Type="http://schemas.openxmlformats.org/officeDocument/2006/relationships/notesMaster" Target="/ppt/notesMasters/notesMaster1.xml" Id="R15d250102faa48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5488912b044d27" /><Relationship Type="http://schemas.openxmlformats.org/officeDocument/2006/relationships/notesMaster" Target="/ppt/notesMasters/notesMaster1.xml" Id="R8e0493b610a44f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1c2a3bd91a4ba1" /><Relationship Type="http://schemas.openxmlformats.org/officeDocument/2006/relationships/notesMaster" Target="/ppt/notesMasters/notesMaster1.xml" Id="R9ce1dd1462b044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76c69b0343441f" /><Relationship Type="http://schemas.openxmlformats.org/officeDocument/2006/relationships/notesMaster" Target="/ppt/notesMasters/notesMaster1.xml" Id="R4de6dadac89c44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e12b34d6a744de" /><Relationship Type="http://schemas.openxmlformats.org/officeDocument/2006/relationships/notesMaster" Target="/ppt/notesMasters/notesMaster1.xml" Id="R14be5c94b09546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f0019d8ad24d49" /><Relationship Type="http://schemas.openxmlformats.org/officeDocument/2006/relationships/notesMaster" Target="/ppt/notesMasters/notesMaster1.xml" Id="R288a7412c65b4c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6f4741e81645bd" /><Relationship Type="http://schemas.openxmlformats.org/officeDocument/2006/relationships/notesMaster" Target="/ppt/notesMasters/notesMaster1.xml" Id="Ra2a3cd706e184a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602f8f88784927" /><Relationship Type="http://schemas.openxmlformats.org/officeDocument/2006/relationships/notesMaster" Target="/ppt/notesMasters/notesMaster1.xml" Id="R740f897af80c4f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2325f4fa2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e229cc64714a04" /><Relationship Type="http://schemas.openxmlformats.org/officeDocument/2006/relationships/slideLayout" Target="/ppt/slideLayouts/slideLayout1.xml" Id="Rccbc241aecbf42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bc241aecbf42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5c69aec4b4ed4" /><Relationship Type="http://schemas.openxmlformats.org/officeDocument/2006/relationships/notesSlide" Target="/ppt/notesSlides/notesSlide1.xml" Id="R025e4822a10e45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f2b331a7c478b" /><Relationship Type="http://schemas.openxmlformats.org/officeDocument/2006/relationships/notesSlide" Target="/ppt/notesSlides/notesSlide2.xml" Id="R04196bf812e649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df92def764602" /><Relationship Type="http://schemas.openxmlformats.org/officeDocument/2006/relationships/notesSlide" Target="/ppt/notesSlides/notesSlide3.xml" Id="R0c905a0fd7fb42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33bb483824a2a" /><Relationship Type="http://schemas.openxmlformats.org/officeDocument/2006/relationships/notesSlide" Target="/ppt/notesSlides/notesSlide4.xml" Id="R481066710a7c45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502fc538d4e69" /><Relationship Type="http://schemas.openxmlformats.org/officeDocument/2006/relationships/notesSlide" Target="/ppt/notesSlides/notesSlide5.xml" Id="R1ca2a43f8eff46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360b72ac8490b" /><Relationship Type="http://schemas.openxmlformats.org/officeDocument/2006/relationships/notesSlide" Target="/ppt/notesSlides/notesSlide6.xml" Id="R886153d8d98a45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d2f766c704f44" /><Relationship Type="http://schemas.openxmlformats.org/officeDocument/2006/relationships/notesSlide" Target="/ppt/notesSlides/notesSlide7.xml" Id="R560debda0ca04f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8ae5829d540fa" /><Relationship Type="http://schemas.openxmlformats.org/officeDocument/2006/relationships/notesSlide" Target="/ppt/notesSlides/notesSlide8.xml" Id="R56885639dca043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C250C-F531-418C-B55A-CF586349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29BEC-7ED7-4170-9381-51AB3861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A8950-D958-4F3E-A4FA-F645C089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SERVER BUILD AUTOMATION MODERNIZATION  •  ARCHITECTURE 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CAB2D-551C-409D-8435-648B94F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Server automation,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made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47CAA-BBB0-484D-8185-FF6FE294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AAB3C0"/>
                </a:solidFill>
              </a:defRPr>
            </a:pPr>
            <a:r>
              <a:rPr sz="1725" b="0">
                <a:solidFill>
                  <a:srgbClr val="AAB3C0"/>
                </a:solidFill>
              </a:rPr>
              <a:t>A practical path from approved request to traceable Windows and Linux server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3C200-659D-4DEF-A1D8-701F7A8E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2857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DE4F0-1905-4767-B83D-F64C7917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66675" cy="876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EBB56-4BED-4613-A74D-AA8201EA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19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Shared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BBDAF-B4D6-476F-9BB5-F6AD416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3357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200" b="0">
                <a:solidFill>
                  <a:srgbClr val="AAB3C0"/>
                </a:solidFill>
              </a:rPr>
              <a:t>One shared definition of build requirements.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CA76D-E006-4137-A0F0-4BB1CBC8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857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6F302-0CDC-4B17-B288-3CF4E448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66675" cy="876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F115C-A74D-4690-95FC-D2C17986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Visible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B7E5F-7F24-4B44-9633-69A558BF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7657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200" b="0">
                <a:solidFill>
                  <a:srgbClr val="AAB3C0"/>
                </a:solidFill>
              </a:rPr>
              <a:t>Blocked work has an owner and a resume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BBE60-8917-4313-A515-DF289D66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57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F3BA1-9582-45DF-B711-33E25945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66675" cy="876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B0956-9CAF-4BE7-9C84-29DBE4C5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Reusable 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0E4C0-FE92-49DB-994C-918FD19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957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200" b="0">
                <a:solidFill>
                  <a:srgbClr val="AAB3C0"/>
                </a:solidFill>
              </a:rPr>
              <a:t>One shared lifecycle with platform-specific adapters.</a:t>
            </a:r>
          </a:p>
        </p:txBody>
      </p:sp>
      <p:cxnSp>
        <p:nvCxnSpPr>
          <p:cNvPr id="133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715500" y="23431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313D"/>
            </a:solidFill>
            <a:prstDash val="solid"/>
            <a:tailEnd type="arrow" w="med" len="med"/>
          </a:ln>
        </p:spPr>
      </p:cxnSp>
      <p:cxnSp>
        <p:nvCxnSpPr>
          <p:cNvPr id="134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715500" y="34861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313D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B2E9E-4F6C-4A91-B767-F8C04A58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BRIEF FOR LEADERSHIP</a:t>
            </a:r>
          </a:p>
        </p:txBody>
      </p:sp>
    </p:spTree>
    <p:extLst>
      <p:ext uri="{BB962C8B-B14F-4D97-AF65-F5344CB8AC3E}">
        <p14:creationId xmlns:p14="http://schemas.microsoft.com/office/powerpoint/2010/main" val="500707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DB030-2FAB-497D-B7C3-BF61B7B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862BE-6E11-4A44-99B0-3027A87B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A676-31E9-4E7C-8CCC-F9D87AA9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6CC0D-B880-4B00-8A5A-4C80349A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4243F-1A44-4D82-808F-70DF3C58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Automation cannot fix an unclear handoff.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27AC7-BF10-43D6-B982-81B06D1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8FA93-4B67-48AD-9241-367A0628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Approved build requests often arrive with incomplete integration data and unclear ownership.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B05FB-22F5-4022-B5E7-F6EFED7D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D5C8F-3CA5-4525-9A0D-790CA73C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Intent is fragmented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B2043-1A5C-40C3-B410-D476AD07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Tickets, CSV files, file shares, inventories, and playbooks each hold part of the required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743C4-C2F3-4D59-B8F7-42D9D6F2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A3342-2FDF-4D92-A477-D420EDDC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Waiting is invisible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A720A-5074-47F3-8F36-CF8158CE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A partial build can sit in staging without a durable blocker, owner, or resume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6D127-0793-4697-B099-1D25F9E0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5A527-8E6D-4657-A025-031CC54B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Teams improvise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04CC7-C01C-4BA7-8D97-CB725F4C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Teams improvise data sources and configuration values when the authoritative source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DCC3E-BCBA-444D-8275-841F4338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7F8FA"/>
                </a:solidFill>
              </a:defRPr>
            </a:pPr>
            <a:r>
              <a:rPr sz="1650" b="1">
                <a:solidFill>
                  <a:srgbClr val="F7F8FA"/>
                </a:solidFill>
              </a:rPr>
              <a:t>Automation inherits the ambiguity unless the handoff itself becomes explicit.</a:t>
            </a:r>
          </a:p>
        </p:txBody>
      </p:sp>
    </p:spTree>
    <p:extLst>
      <p:ext uri="{BB962C8B-B14F-4D97-AF65-F5344CB8AC3E}">
        <p14:creationId xmlns:p14="http://schemas.microsoft.com/office/powerpoint/2010/main" val="1840182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960FF-29DF-481F-9231-D96B4D8E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B1298-A83A-4C43-A6D5-F772B003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NEW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D3368-CCC3-4E5E-ADE1-048AD34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78EC-F47C-4591-9132-D5AB872F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4BD0E-0E6D-4668-BCFA-27E07888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Data contracts as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02F18-501F-46FB-B77E-7F25195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7603C-C63C-4DC2-B442-B2212725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 versioned, reviewable agreement defining trustworthy inputs for automation.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DE632-4AB6-4391-BFCC-E2184CD0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The contract answers three questions: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BB336-9D49-4FE0-AB9E-9D5B444B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876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8A67C-494C-4B05-AAC3-6AB9100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090D"/>
                </a:solidFill>
              </a:defRPr>
            </a:pPr>
            <a:r>
              <a:rPr sz="1200" b="1">
                <a:solidFill>
                  <a:srgbClr val="07090D"/>
                </a:solidFill>
              </a:rPr>
              <a:t>WHAT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79118-A809-496A-8CA9-03DB2394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Which fields and values are valid?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C3901-2F18-44D2-8CF5-144DA295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76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9DE8A-7087-4DD1-AC27-46C3560E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090D"/>
                </a:solidFill>
              </a:defRPr>
            </a:pPr>
            <a:r>
              <a:rPr sz="1200" b="1">
                <a:solidFill>
                  <a:srgbClr val="07090D"/>
                </a:solidFill>
              </a:rPr>
              <a:t>WHO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F79F5-86B1-4378-896E-077072C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Who owns each field and its source?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81C7C-22A8-4DCE-B488-97384953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76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C8149-8C0A-4FF9-B492-226BF4DB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090D"/>
                </a:solidFill>
              </a:defRPr>
            </a:pPr>
            <a:r>
              <a:rPr sz="1200" b="1">
                <a:solidFill>
                  <a:srgbClr val="07090D"/>
                </a:solidFill>
              </a:rPr>
              <a:t>WHEN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2E28C-4FAE-462A-B270-3263D534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Which values are required at each phase?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2E9B4-3F37-473D-9E9F-CD7B285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A46E1-8286-4DE4-8A2E-EB68880F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6227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ECEC6-4264-4A3F-9509-1974365B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33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PROBLEM SOLVED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3A171-5BDF-4773-B944-49E010B2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7F8FA"/>
                </a:solidFill>
              </a:defRPr>
            </a:pPr>
            <a:r>
              <a:rPr sz="2325" b="1">
                <a:solidFill>
                  <a:srgbClr val="F7F8FA"/>
                </a:solidFill>
              </a:rPr>
              <a:t>Fewer conflicting interpretations.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7F8FA"/>
                </a:solidFill>
              </a:defRPr>
            </a:pPr>
            <a:r>
              <a:rPr sz="2325" b="1">
                <a:solidFill>
                  <a:srgbClr val="F7F8FA"/>
                </a:solidFill>
              </a:rPr>
              <a:t>Clearer handoffs.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7F8FA"/>
                </a:solidFill>
              </a:defRPr>
            </a:pPr>
            <a:r>
              <a:rPr sz="2325" b="1">
                <a:solidFill>
                  <a:srgbClr val="F7F8FA"/>
                </a:solidFill>
              </a:rPr>
              <a:t>Safer reuse.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49807-855C-4895-A2E4-F962822E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The contract is not the workflow. It defines the rules the workflow applies.</a:t>
            </a:r>
          </a:p>
        </p:txBody>
      </p:sp>
    </p:spTree>
    <p:extLst>
      <p:ext uri="{BB962C8B-B14F-4D97-AF65-F5344CB8AC3E}">
        <p14:creationId xmlns:p14="http://schemas.microsoft.com/office/powerpoint/2010/main" val="2082401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16EA42-0C03-4368-B85D-15DD6E3F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E1C3C-7818-493E-807A-8520C72C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NEW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E21EB-E9FF-4AC1-B41A-31612C5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61F62-71A3-4779-9A35-5CF6E04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389CE-7854-452F-96AD-7214C5DC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build manifest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D1FCB-3034-4738-A544-2167A9A2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E8320-B2DE-4FF4-BFCA-E8216DBD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 durable record of approved intent, current status, and evidence for one server build.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3EB58-A88C-43CD-841D-F1C3E763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3524250" cy="26098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19050">
            <a:solidFill>
              <a:srgbClr val="39A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6A8B3-2375-44BF-A1CC-1F5DC99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BUILD 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F8218-2B41-4370-946A-04C2BF66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0570D-70F5-49E9-894D-4E20BDA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242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request      REQ-0001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platform     windows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phase        network_ready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revision     4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next owner  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2481C-28D2-4231-A104-A289A5C9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F0EB0-357B-43C6-98FD-DD093FB8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B933C-DB81-4C9D-A9A1-AA5EED54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 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7C86E-0F90-452D-8317-F5ACF870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Requested scope and approver.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CA518-1480-4409-8AA5-0286079C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A69BD-3EDA-420F-BF91-8183DE26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2FBE8-7075-4819-9484-F6D6665A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Pause and resume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C2AD0-D43E-4088-9B08-328528F2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Safe state, owner, resume phase.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9FA8B-2FB6-49AF-990D-826C534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B02E8-903C-46BA-A320-B21EBA7F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1DB36-69EF-451F-A367-620DBE41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99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Evidence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E5134-81E9-486D-A7D9-889433FB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Results, checks, and reconciliation.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16EBD-A590-4667-B63F-AF6F1A10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A99D4-3EB6-4468-ADCC-E1A99A08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EADCA-DB5C-4BF3-A25A-8DF326D4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434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Handoff 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F8B142-8DD8-4BEE-B5DA-4078A56C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672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Traceable request and completion.</a:t>
            </a:r>
          </a:p>
        </p:txBody>
      </p:sp>
      <p:cxnSp>
        <p:nvCxnSpPr>
          <p:cNvPr id="215" name=""/>
          <p:cNvCxnSpPr>
            <a:stCxn xmlns:a="http://schemas.openxmlformats.org/drawingml/2006/main" id="1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48050" y="3276600"/>
            <a:ext cx="89535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216" name=""/>
          <p:cNvCxnSpPr>
            <a:stCxn xmlns:a="http://schemas.openxmlformats.org/drawingml/2006/main" id="1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448050" y="3933825"/>
            <a:ext cx="8953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217" name=""/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7867650" y="3276600"/>
            <a:ext cx="89535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218" name=""/>
          <p:cNvCxnSpPr>
            <a:stCxn xmlns:a="http://schemas.openxmlformats.org/drawingml/2006/main" id="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67650" y="3933825"/>
            <a:ext cx="8953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2C9F2-FDDB-44BE-BA95-C06579C1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The manifest complements the configuration database; it does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1227060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AE06CC-51FF-4EA0-931E-47B40E92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71449-ACB0-48EB-B268-247B9146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E1E30-B96D-4201-A208-01461786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3FA0B-E04D-4AFF-B8C9-60C47E94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CF574-8E37-4863-A85D-826EA7F7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Four responsibilities stay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02766-2F9B-48DE-B43B-914E9513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39941-DEEF-4258-A3E7-BA071629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Clarity comes from giving each component one job.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1D69D-9017-48C4-BD9F-6B54E990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66756-EEEC-4004-8012-155B492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D398C-BD1D-4CE8-B15A-5705DDA0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A00"/>
                </a:solidFill>
              </a:defRPr>
            </a:pPr>
            <a:r>
              <a:rPr sz="1200" b="1">
                <a:solidFill>
                  <a:srgbClr val="FF7A00"/>
                </a:solidFill>
              </a:rPr>
              <a:t>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D4FE9-0DC2-4D21-9943-ECDB30CC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Defines 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4ABF3-2A20-4F4C-84FE-B7B2FEA7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Fields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owners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phase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DB225-D483-4F93-BD19-7DC6E0F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E6C04-F752-47A8-BD2B-9B485B5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DB5D6-05D2-44AB-A0D5-067C3808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9A9FF"/>
                </a:solidFill>
              </a:defRPr>
            </a:pPr>
            <a:r>
              <a:rPr sz="1200" b="1">
                <a:solidFill>
                  <a:srgbClr val="39A9FF"/>
                </a:solidFill>
              </a:rPr>
              <a:t>MANIFEST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1A152-48B3-427B-A89B-9FC25FFF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Preserves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BA761-CA96-438C-BBA9-6C0A28D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Intent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blockers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8EB39-0271-4EEF-8874-60BF876D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D2C62-8650-4368-A8D8-F475D7B2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DCDA9-00E4-4AAF-AA99-06439A4A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FD1A1"/>
                </a:solidFill>
              </a:defRPr>
            </a:pPr>
            <a:r>
              <a:rPr sz="1200" b="1">
                <a:solidFill>
                  <a:srgbClr val="4FD1A1"/>
                </a:solidFill>
              </a:rPr>
              <a:t>AUTOMATION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BD1BB-45F8-4B62-A4E4-181DC034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Coordinates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30EBC-0196-4829-8B6A-B8BA954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Steps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decisions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retries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A97DF-A58E-48E1-93AE-4CF119A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50CA0-BFA4-4A4B-A1AC-0112B9C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3A2A45-9A67-415F-9AE9-81F90268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A00"/>
                </a:solidFill>
              </a:defRPr>
            </a:pPr>
            <a:r>
              <a:rPr sz="1200" b="1">
                <a:solidFill>
                  <a:srgbClr val="FF7A00"/>
                </a:solidFill>
              </a:rPr>
              <a:t>CONFIGURATION 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7B304-2865-4B63-9501-83E12B69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Tracks 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BE4EC-DC80-4FCA-96E8-0A349D67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Observed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operational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835160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EE90B4-439D-4BAA-80C1-A7BF3E38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89C4C-674C-48F6-B269-5546406E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AUTOMATION LOGICAL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75B7F-0615-460A-AC93-AA47FE34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76E38-8ED2-4833-93CF-4C2064B2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EE1E2-4EC3-46F3-BBB4-83F9B950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manifest preserves progress.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D8614-8549-484F-A9D7-B3E75739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2DB05-0B18-40B7-B20E-1D418ECE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An API request, event trigger, or schedule can launch each phase.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08704-D77C-469F-9E00-F9438FC9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E7434-ABDE-4AD5-8C6D-46B165FD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0343E-31DB-4B0C-8A25-3C3A716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1  Create or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08C5D-AA25-429A-97E1-ABAD7506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Resolve request and revision.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9861D-4D1B-4E8C-AD59-410A4579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43BEA-747D-4F8B-9EE3-4511B3D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6AAD7-F09D-47DD-B925-D2F27325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2  Check readiness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73F42-AD1E-4055-ABB6-7F792659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Check required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3419B-E9C7-4FB4-ACDC-0E382D4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4BC7D-5988-4DE7-918F-AB825E3F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A842D-1D84-4BCD-B684-222A3A65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3  Execute phase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7AFF3-32AE-44A6-AC20-A2A8686C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Run the current platform task.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01E94-365B-4C24-A3A3-AE76A0BC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57531-4AD3-4ACC-A125-BF177FB1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FD74A-BBAC-45DD-B9C3-3CA697B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4  Persist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FFA44-E6EF-4F65-A25E-BCF9A65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Record revision, event, and evidence.</a:t>
            </a:r>
          </a:p>
        </p:txBody>
      </p:sp>
      <p:cxnSp>
        <p:nvCxnSpPr>
          <p:cNvPr id="248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81300" y="3152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249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295900" y="3152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250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10500" y="3152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46811-C366-4B00-9663-01A1C7C5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2095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93401E-2C28-4F12-8754-BE8319C9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66675" cy="7048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DEED43-BAAB-4CF5-80B0-C6E92F0A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BLOCKED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675BEA-2337-4A7D-8D7C-EFAEEC8D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Owner and next step</a:t>
            </a:r>
          </a:p>
        </p:txBody>
      </p:sp>
      <p:cxnSp>
        <p:nvCxnSpPr>
          <p:cNvPr id="255" name=""/>
          <p:cNvCxnSpPr>
            <a:stCxn xmlns:a="http://schemas.openxmlformats.org/drawingml/2006/main" id="1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248150" y="358140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22FC4-5B85-4C68-8ECE-A8C6BBEB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2095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CD76A-EB31-402C-A3DF-DCA5C346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66675" cy="7048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27AD32-9F23-4D64-A304-33F87922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NEXT EVENT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85A0FF-2390-4511-8980-C4C196FD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Resume saved state</a:t>
            </a:r>
          </a:p>
        </p:txBody>
      </p:sp>
      <p:cxnSp>
        <p:nvCxnSpPr>
          <p:cNvPr id="260" name=""/>
          <p:cNvCxnSpPr>
            <a:stCxn xmlns:a="http://schemas.openxmlformats.org/drawingml/2006/main" id="2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277350" y="358140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261" name=""/>
          <p:cNvCxnSpPr>
            <a:stCxn xmlns:a="http://schemas.openxmlformats.org/drawingml/2006/main" id="32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1733550" y="3581400"/>
            <a:ext cx="6496050" cy="1247775"/>
          </a:xfrm>
          <a:prstGeom xmlns:a="http://schemas.openxmlformats.org/drawingml/2006/main" prst="bentConnector4">
            <a:avLst>
              <a:gd name="adj1" fmla="val 3519"/>
              <a:gd name="adj2" fmla="val 81679"/>
            </a:avLst>
          </a:prstGeom>
          <a:ln xmlns:a="http://schemas.openxmlformats.org/drawingml/2006/main" w="19050">
            <a:solidFill>
              <a:srgbClr val="697586"/>
            </a:solidFill>
            <a:prstDash val="dash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139FC4-AC88-44EB-AF3B-736A6673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READY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CF4C52-FED3-4C9F-A50E-2CF32E2E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9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5D66"/>
                </a:solidFill>
              </a:defRPr>
            </a:pPr>
            <a:r>
              <a:rPr sz="975" b="1">
                <a:solidFill>
                  <a:srgbClr val="FF5D66"/>
                </a:solidFill>
              </a:rPr>
              <a:t>NOT READY</a:t>
            </a:r>
          </a:p>
        </p:txBody>
      </p:sp>
    </p:spTree>
    <p:extLst>
      <p:ext uri="{BB962C8B-B14F-4D97-AF65-F5344CB8AC3E}">
        <p14:creationId xmlns:p14="http://schemas.microsoft.com/office/powerpoint/2010/main" val="671377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F650D3-5B37-4A86-B72F-E88177C4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9806A-1E0F-4F9F-8F19-5192F89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1706C-88A6-4CB7-AFA8-2B34DD9C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96486-A8EC-4646-AF30-2DD4E8EA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FE3FD-595C-4915-A52F-DCCCCD8E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proof of concept shows the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D63F2-911D-4BD8-818C-6F9270AE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E669F-BE0C-4589-87A8-B109DF33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This milestone proves traceable lifecycle behavior—not a finished enterprise platform.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E0125-35F9-4227-B91F-32E5DF0E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143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21A4C-971E-4E07-A716-5F95735B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6C9B3-1107-43EB-A600-736E8DF1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SHARED LIFECYCLE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1B140-6694-439E-8681-F29724F1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Windows and Linux use the same manifest, readiness, and transition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8B147-16E1-4B09-AAD4-34502A4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5143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87891-5BCF-4304-8E93-A3A56E4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0D6C4-37F1-455A-850C-C20A9323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TESTED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E6B79-2702-4301-8400-A90D65C2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53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Each automation role is tested for expected behavior, repeatability, and known failures.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51FA9-33D5-4DC5-B3BC-56C3A6FF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143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46B16-A218-4545-BFE4-3DDE0543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481EB-54B6-471D-B0EF-A3C0B58E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FD1A1"/>
                </a:solidFill>
              </a:defRPr>
            </a:pPr>
            <a:r>
              <a:rPr sz="1125" b="1">
                <a:solidFill>
                  <a:srgbClr val="4FD1A1"/>
                </a:solidFill>
              </a:rPr>
              <a:t>CONTROLLED PAUSE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AF01C-0B88-4E2D-B198-906C2213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Blocked work records the missing data, accountable owner, and resume phase.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BEF0F-0D7B-4388-8758-C547E19F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143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A2D2C-8E9F-4743-8B09-4BAD0C08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FACB8-7F1A-4936-930A-2C6902BF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SYNTHETIC TEST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C9DB7-8AEA-4E84-8802-D718F861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Synthetic examples contain no production credentials, endpoints, or server records.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0805D-CEAA-4044-AA30-3166347B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7F8FA"/>
                </a:solidFill>
              </a:defRPr>
            </a:pPr>
            <a:r>
              <a:rPr sz="1425" b="1">
                <a:solidFill>
                  <a:srgbClr val="F7F8FA"/>
                </a:solidFill>
              </a:rPr>
              <a:t>Also demonstrated: duplicate-event protection, stale-update rejection, safe replay, and preserved approved intent.</a:t>
            </a:r>
          </a:p>
        </p:txBody>
      </p:sp>
    </p:spTree>
    <p:extLst>
      <p:ext uri="{BB962C8B-B14F-4D97-AF65-F5344CB8AC3E}">
        <p14:creationId xmlns:p14="http://schemas.microsoft.com/office/powerpoint/2010/main" val="1873130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EA891-1CA7-4CF4-9F2A-CB6B40DB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C869D-7C88-4201-A1C5-DBC7F51B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8D6DE-FB6C-40C8-8B5B-60021F7A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4E34E-9E7D-4BCA-B931-9E1ACDC7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DB7D4-A4ED-4967-AEDE-BB0E5CE7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Recommendation: authorize a focused pilot.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F18C0-7F2E-4149-B36A-51DF013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52D7E-6B2C-481E-9874-793BE68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pilot will test one non-production integration and return evidence before broader adoption.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8A5BA-60F2-4FAF-A4A5-2DBCAA79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38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C2A9A-FB52-4867-9789-BFBD05D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7A00"/>
                </a:solidFill>
              </a:defRPr>
            </a:pPr>
            <a:r>
              <a:rPr sz="2250" b="1">
                <a:solidFill>
                  <a:srgbClr val="FF7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5497C-2E28-4341-979B-DC1579C4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Confirm decision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B72DB-07BC-413F-BCFF-0F1E9370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Confirm request data, owners, blocked-state handling, and success measures.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46747-C106-43EE-AC56-40F5B916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3238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726B8-4ED5-4AE3-9AED-49FA32D0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9A9FF"/>
                </a:solidFill>
              </a:defRPr>
            </a:pPr>
            <a:r>
              <a:rPr sz="2250" b="1">
                <a:solidFill>
                  <a:srgbClr val="39A9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8A90D-B849-40EC-A427-21604077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Prove one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41C25-D88A-4AD3-B025-5B3C0EA2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624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Pilot S3-compatible storage first; use non-production VMware as the fallback.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B8E58-A064-4591-9FAC-CA9B8D5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238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7DE24-60BC-4092-AB0A-7F139352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7A00"/>
                </a:solidFill>
              </a:defRPr>
            </a:pPr>
            <a:r>
              <a:rPr sz="2250" b="1">
                <a:solidFill>
                  <a:srgbClr val="FF7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F3929-637C-4B34-BEA2-ED7C6A58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Return with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5E7F6-3B99-4F6C-9D9C-8C684AEE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Report evidence, remaining risks, ownership gaps, and the next justified increment.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9D2EC-9E87-4A13-BBD2-69014B7D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8FA"/>
                </a:solidFill>
              </a:defRPr>
            </a:pPr>
            <a:r>
              <a:rPr sz="1575" b="1">
                <a:solidFill>
                  <a:srgbClr val="F7F8FA"/>
                </a:solidFill>
              </a:rPr>
              <a:t>Leadership decision: sponsor the contained pilot and commit the required decision owners.</a:t>
            </a:r>
          </a:p>
        </p:txBody>
      </p:sp>
    </p:spTree>
    <p:extLst>
      <p:ext uri="{BB962C8B-B14F-4D97-AF65-F5344CB8AC3E}">
        <p14:creationId xmlns:p14="http://schemas.microsoft.com/office/powerpoint/2010/main" val="2099191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2026-07-18T23:11:48.3610000Z</dcterms:created>
  <dcterms:modified xsi:type="dcterms:W3CDTF">2026-07-18T23:11:48.3610000Z</dcterms:modified>
</coreProperties>
</file>