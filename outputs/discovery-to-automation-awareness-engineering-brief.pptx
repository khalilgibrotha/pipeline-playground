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dedfbdf864961" /><Relationship Type="http://schemas.openxmlformats.org/officeDocument/2006/relationships/extended-properties" Target="/docProps/app.xml" Id="R76ff7d2037814017" /><Relationship Type="http://schemas.openxmlformats.org/officeDocument/2006/relationships/officeDocument" Target="/ppt/presentation.xml" Id="Rba437fda6a3140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258d57ae3c4672"/>
  </p:sldMasterIdLst>
  <p:notesMasterIdLst>
    <p:notesMasterId xmlns:r="http://schemas.openxmlformats.org/officeDocument/2006/relationships" r:id="R5e8546c295324410"/>
  </p:notesMasterIdLst>
  <p:sldIdLst>
    <p:sldId xmlns:r="http://schemas.openxmlformats.org/officeDocument/2006/relationships" id="256" r:id="Re18882df44cb43d3"/>
    <p:sldId xmlns:r="http://schemas.openxmlformats.org/officeDocument/2006/relationships" id="257" r:id="Rb6b3710dd7f94eee"/>
    <p:sldId xmlns:r="http://schemas.openxmlformats.org/officeDocument/2006/relationships" id="258" r:id="R869c158ebe594edd"/>
    <p:sldId xmlns:r="http://schemas.openxmlformats.org/officeDocument/2006/relationships" id="259" r:id="R66d180e2802f4def"/>
    <p:sldId xmlns:r="http://schemas.openxmlformats.org/officeDocument/2006/relationships" id="260" r:id="R4981b8ee17d54bc6"/>
    <p:sldId xmlns:r="http://schemas.openxmlformats.org/officeDocument/2006/relationships" id="261" r:id="R7cdbf063cb66474c"/>
    <p:sldId xmlns:r="http://schemas.openxmlformats.org/officeDocument/2006/relationships" id="262" r:id="R29df51fb44f5423b"/>
    <p:sldId xmlns:r="http://schemas.openxmlformats.org/officeDocument/2006/relationships" id="263" r:id="R358f71bca68442ac"/>
    <p:sldId xmlns:r="http://schemas.openxmlformats.org/officeDocument/2006/relationships" id="264" r:id="R46b9dc25178c4f28"/>
    <p:sldId xmlns:r="http://schemas.openxmlformats.org/officeDocument/2006/relationships" id="265" r:id="R0b5dd3260d5a4f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70341aa904e2c" /><Relationship Type="http://schemas.openxmlformats.org/officeDocument/2006/relationships/slideMaster" Target="/ppt/slideMasters/slideMaster1.xml" Id="Raf258d57ae3c4672" /><Relationship Type="http://schemas.openxmlformats.org/officeDocument/2006/relationships/notesMaster" Target="/ppt/notesMasters/notesMaster1.xml" Id="R5e8546c295324410" /><Relationship Type="http://schemas.openxmlformats.org/officeDocument/2006/relationships/presProps" Target="/ppt/presProps.xml" Id="Rdc0b4fe6ef1d441b" /><Relationship Type="http://schemas.openxmlformats.org/officeDocument/2006/relationships/tableStyles" Target="/ppt/tableStyles.xml" Id="Rc8fc9269eb1e4e89" /><Relationship Type="http://schemas.openxmlformats.org/officeDocument/2006/relationships/slide" Target="/ppt/slides/slide1.xml" Id="Re18882df44cb43d3" /><Relationship Type="http://schemas.openxmlformats.org/officeDocument/2006/relationships/slide" Target="/ppt/slides/slide2.xml" Id="Rb6b3710dd7f94eee" /><Relationship Type="http://schemas.openxmlformats.org/officeDocument/2006/relationships/slide" Target="/ppt/slides/slide3.xml" Id="R869c158ebe594edd" /><Relationship Type="http://schemas.openxmlformats.org/officeDocument/2006/relationships/slide" Target="/ppt/slides/slide4.xml" Id="R66d180e2802f4def" /><Relationship Type="http://schemas.openxmlformats.org/officeDocument/2006/relationships/slide" Target="/ppt/slides/slide5.xml" Id="R4981b8ee17d54bc6" /><Relationship Type="http://schemas.openxmlformats.org/officeDocument/2006/relationships/slide" Target="/ppt/slides/slide6.xml" Id="R7cdbf063cb66474c" /><Relationship Type="http://schemas.openxmlformats.org/officeDocument/2006/relationships/slide" Target="/ppt/slides/slide7.xml" Id="R29df51fb44f5423b" /><Relationship Type="http://schemas.openxmlformats.org/officeDocument/2006/relationships/slide" Target="/ppt/slides/slide8.xml" Id="R358f71bca68442ac" /><Relationship Type="http://schemas.openxmlformats.org/officeDocument/2006/relationships/slide" Target="/ppt/slides/slide9.xml" Id="R46b9dc25178c4f28" /><Relationship Type="http://schemas.openxmlformats.org/officeDocument/2006/relationships/slide" Target="/ppt/slides/slide10.xml" Id="R0b5dd3260d5a4f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84dc8c238042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c02150139e4efd" /><Relationship Type="http://schemas.openxmlformats.org/officeDocument/2006/relationships/notesMaster" Target="/ppt/notesMasters/notesMaster1.xml" Id="R2ee51fc3a06549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cd975a3a941e1" /><Relationship Type="http://schemas.openxmlformats.org/officeDocument/2006/relationships/notesMaster" Target="/ppt/notesMasters/notesMaster1.xml" Id="Rc3df51b7d3aa49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796f49f18b4c7f" /><Relationship Type="http://schemas.openxmlformats.org/officeDocument/2006/relationships/notesMaster" Target="/ppt/notesMasters/notesMaster1.xml" Id="Raf1a6141949144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544bebff6c42a8" /><Relationship Type="http://schemas.openxmlformats.org/officeDocument/2006/relationships/notesMaster" Target="/ppt/notesMasters/notesMaster1.xml" Id="R0f4e2a85acd84a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9949a67e4546c9" /><Relationship Type="http://schemas.openxmlformats.org/officeDocument/2006/relationships/notesMaster" Target="/ppt/notesMasters/notesMaster1.xml" Id="R2eb7a98580f842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bf25a597124857" /><Relationship Type="http://schemas.openxmlformats.org/officeDocument/2006/relationships/notesMaster" Target="/ppt/notesMasters/notesMaster1.xml" Id="R9cf73566f7af4e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7626506aa44d23" /><Relationship Type="http://schemas.openxmlformats.org/officeDocument/2006/relationships/notesMaster" Target="/ppt/notesMasters/notesMaster1.xml" Id="R94b43d7292f141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1650a04074049" /><Relationship Type="http://schemas.openxmlformats.org/officeDocument/2006/relationships/notesMaster" Target="/ppt/notesMasters/notesMaster1.xml" Id="R0f15a8cc2acb4d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a60fe6b9bd459e" /><Relationship Type="http://schemas.openxmlformats.org/officeDocument/2006/relationships/notesMaster" Target="/ppt/notesMasters/notesMaster1.xml" Id="R7297fd62f9a548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91063a56eb433d" /><Relationship Type="http://schemas.openxmlformats.org/officeDocument/2006/relationships/notesMaster" Target="/ppt/notesMasters/notesMaster1.xml" Id="Rf4058b85888a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165cf9de5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81095b3dd441a" /><Relationship Type="http://schemas.openxmlformats.org/officeDocument/2006/relationships/slideLayout" Target="/ppt/slideLayouts/slideLayout1.xml" Id="Rf40e87fd76a64a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e87fd76a64a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bad957e9e4699" /><Relationship Type="http://schemas.openxmlformats.org/officeDocument/2006/relationships/notesSlide" Target="/ppt/notesSlides/notesSlide1.xml" Id="R3e1188cd032e46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2102ecd1d45b3" /><Relationship Type="http://schemas.openxmlformats.org/officeDocument/2006/relationships/notesSlide" Target="/ppt/notesSlides/notesSlide2.xml" Id="Rcc3ff09f9a6846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d7bb5ac3a4a0b" /><Relationship Type="http://schemas.openxmlformats.org/officeDocument/2006/relationships/notesSlide" Target="/ppt/notesSlides/notesSlide3.xml" Id="R2fdd1470a74644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d8ad4261a4122" /><Relationship Type="http://schemas.openxmlformats.org/officeDocument/2006/relationships/notesSlide" Target="/ppt/notesSlides/notesSlide4.xml" Id="R420cf69edc9b43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c2904c5f44360" /><Relationship Type="http://schemas.openxmlformats.org/officeDocument/2006/relationships/notesSlide" Target="/ppt/notesSlides/notesSlide5.xml" Id="R11654344580440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a79b0f37d4a38" /><Relationship Type="http://schemas.openxmlformats.org/officeDocument/2006/relationships/notesSlide" Target="/ppt/notesSlides/notesSlide6.xml" Id="R60c0a017d8524d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4518b129f4c26" /><Relationship Type="http://schemas.openxmlformats.org/officeDocument/2006/relationships/notesSlide" Target="/ppt/notesSlides/notesSlide7.xml" Id="R23149c9385d643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e37b20a20441b" /><Relationship Type="http://schemas.openxmlformats.org/officeDocument/2006/relationships/notesSlide" Target="/ppt/notesSlides/notesSlide8.xml" Id="Rcc0644bd4ead49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7ae145f2b4bed" /><Relationship Type="http://schemas.openxmlformats.org/officeDocument/2006/relationships/notesSlide" Target="/ppt/notesSlides/notesSlide9.xml" Id="R1c48eb1d848f47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6af3ea5ad46e3" /><Relationship Type="http://schemas.openxmlformats.org/officeDocument/2006/relationships/notesSlide" Target="/ppt/notesSlides/notesSlide10.xml" Id="R0ca42caf95c245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blue">
            <a:extLst xmlns:a="http://schemas.openxmlformats.org/drawingml/2006/main">
              <a:ext uri="{FF2B5EF4-FFF2-40B4-BE49-F238E27FC236}">
                <a16:creationId xmlns:a16="http://schemas.microsoft.com/office/drawing/2014/main" id="{79E7A492-998C-4A2E-998C-25F33CDC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8F5ECED-6F19-4A9E-A542-BD769824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D8A2DE0E-559E-466A-91C6-5794D88F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audience-box">
            <a:extLst xmlns:a="http://schemas.openxmlformats.org/drawingml/2006/main">
              <a:ext uri="{FF2B5EF4-FFF2-40B4-BE49-F238E27FC236}">
                <a16:creationId xmlns:a16="http://schemas.microsoft.com/office/drawing/2014/main" id="{BBE31E46-C666-4076-8180-51839BDF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22002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4A2512"/>
            </a:solidFill>
            <a:prstDash val="solid"/>
          </a:ln>
        </p:spPr>
      </p:sp>
      <p:sp>
        <p:nvSpPr>
          <p:cNvPr id="5" name="audience-text">
            <a:extLst xmlns:a="http://schemas.openxmlformats.org/drawingml/2006/main">
              <a:ext uri="{FF2B5EF4-FFF2-40B4-BE49-F238E27FC236}">
                <a16:creationId xmlns:a16="http://schemas.microsoft.com/office/drawing/2014/main" id="{DA2A42DD-C376-4293-A42A-7E5E53B0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ENGINEERING BRIEF</a:t>
            </a:r>
          </a:p>
        </p:txBody>
      </p:sp>
      <p:sp>
        <p:nvSpPr>
          <p:cNvPr id="6" name="deck-title">
            <a:extLst xmlns:a="http://schemas.openxmlformats.org/drawingml/2006/main">
              <a:ext uri="{FF2B5EF4-FFF2-40B4-BE49-F238E27FC236}">
                <a16:creationId xmlns:a16="http://schemas.microsoft.com/office/drawing/2014/main" id="{CD80B5B7-A58A-4AD6-AE91-67E4CA0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250" b="1" i="0">
                <a:solidFill>
                  <a:srgbClr val="F7F9FC"/>
                </a:solidFill>
              </a:defRPr>
            </a:pPr>
            <a:r>
              <a:rPr sz="5250" b="1" i="0">
                <a:solidFill>
                  <a:srgbClr val="F7F9FC"/>
                </a:solidFill>
              </a:rPr>
              <a:t>Discovery-to-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250" b="1" i="0">
                <a:solidFill>
                  <a:srgbClr val="F7F9FC"/>
                </a:solidFill>
              </a:defRPr>
            </a:pPr>
            <a:r>
              <a:rPr sz="5250" b="1" i="0">
                <a:solidFill>
                  <a:srgbClr val="F7F9FC"/>
                </a:solidFill>
              </a:rPr>
              <a:t>Automation Awareness</a:t>
            </a:r>
          </a:p>
        </p:txBody>
      </p:sp>
      <p:sp>
        <p:nvSpPr>
          <p:cNvPr id="7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3120D2D-9461-4453-996F-9B01A8B0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00" b="0" i="0">
                <a:solidFill>
                  <a:srgbClr val="A9B3C1"/>
                </a:solidFill>
              </a:defRPr>
            </a:pPr>
            <a:r>
              <a:rPr sz="2100" b="0" i="0">
                <a:solidFill>
                  <a:srgbClr val="A9B3C1"/>
                </a:solidFill>
              </a:rPr>
              <a:t>A report-compatible inventory supply chain with a governed CMDB target.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E6353366-978A-4901-A83C-4084AE24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29718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9" name="metric">
            <a:extLst xmlns:a="http://schemas.openxmlformats.org/drawingml/2006/main">
              <a:ext uri="{FF2B5EF4-FFF2-40B4-BE49-F238E27FC236}">
                <a16:creationId xmlns:a16="http://schemas.microsoft.com/office/drawing/2014/main" id="{22662403-AE04-4356-B0FC-839ED9F8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 i="0">
                <a:solidFill>
                  <a:srgbClr val="F07C28"/>
                </a:solidFill>
              </a:defRPr>
            </a:pPr>
            <a:r>
              <a:rPr sz="5850" b="1" i="0">
                <a:solidFill>
                  <a:srgbClr val="F07C28"/>
                </a:solidFill>
              </a:rPr>
              <a:t>+24h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CD41D2A-6DEC-4911-9000-E07196F5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reported current-state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awareness latency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27D0D19-965F-476D-9232-3245CFB6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00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657184"/>
                </a:solidFill>
              </a:defRPr>
            </a:pPr>
            <a:r>
              <a:rPr sz="1050" b="0" i="0">
                <a:solidFill>
                  <a:srgbClr val="657184"/>
                </a:solidFill>
              </a:rPr>
              <a:t>Representative environment — not a product benchmark</a:t>
            </a:r>
          </a:p>
        </p:txBody>
      </p:sp>
      <p:sp>
        <p:nvSpPr>
          <p:cNvPr id="12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E9A6D83-A2B8-4229-93F5-5188781A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0157CD9-D1BF-4E63-8A23-6166AE36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C3E44B-9537-469A-B58C-026B214C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8116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blue">
            <a:extLst xmlns:a="http://schemas.openxmlformats.org/drawingml/2006/main">
              <a:ext uri="{FF2B5EF4-FFF2-40B4-BE49-F238E27FC236}">
                <a16:creationId xmlns:a16="http://schemas.microsoft.com/office/drawing/2014/main" id="{F5A906D1-CD52-4073-99DD-7D239A2A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ECAFA50-C296-4C64-A2A0-DB7105B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147ACFC6-C893-4F44-ABB2-9C24BEB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ADE3E58-722E-42C4-B1BB-AEC95F81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8A7E8"/>
                </a:solidFill>
              </a:defRPr>
            </a:pPr>
            <a:r>
              <a:rPr sz="1200" b="1" i="0">
                <a:solidFill>
                  <a:srgbClr val="28A7E8"/>
                </a:solidFill>
              </a:rPr>
              <a:t>MENTAL MODEL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135CC0-AE2D-4BCF-ACFE-7DE756C3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Five representations are not one inventory.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69FF4E6-1E76-4EFB-AE90-E4759D1A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Name each boundary before changing the implementation.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3371FFC-94D0-4516-B079-BB9BA691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85A29BC-D3B0-4A6F-BEF7-9DB26E2D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1C118D-4701-4BD6-89D8-C77AD3C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02</a:t>
            </a:r>
          </a:p>
        </p:txBody>
      </p:sp>
      <p:sp>
        <p:nvSpPr>
          <p:cNvPr id="10" name="rep-num-0">
            <a:extLst xmlns:a="http://schemas.openxmlformats.org/drawingml/2006/main">
              <a:ext uri="{FF2B5EF4-FFF2-40B4-BE49-F238E27FC236}">
                <a16:creationId xmlns:a16="http://schemas.microsoft.com/office/drawing/2014/main" id="{145AFBCE-025D-4C73-934C-8C29D4B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07C28"/>
                </a:solidFill>
              </a:defRPr>
            </a:pPr>
            <a:r>
              <a:rPr sz="2550" b="1" i="0">
                <a:solidFill>
                  <a:srgbClr val="F07C28"/>
                </a:solidFill>
              </a:rPr>
              <a:t>1</a:t>
            </a:r>
          </a:p>
        </p:txBody>
      </p:sp>
      <p:sp>
        <p:nvSpPr>
          <p:cNvPr id="11" name="rep-box-0">
            <a:extLst xmlns:a="http://schemas.openxmlformats.org/drawingml/2006/main">
              <a:ext uri="{FF2B5EF4-FFF2-40B4-BE49-F238E27FC236}">
                <a16:creationId xmlns:a16="http://schemas.microsoft.com/office/drawing/2014/main" id="{87974396-63B9-4E37-8759-ACFA4119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9886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12" name="rep-title-0">
            <a:extLst xmlns:a="http://schemas.openxmlformats.org/drawingml/2006/main">
              <a:ext uri="{FF2B5EF4-FFF2-40B4-BE49-F238E27FC236}">
                <a16:creationId xmlns:a16="http://schemas.microsoft.com/office/drawing/2014/main" id="{5BCEEED3-D1C9-41FB-BD41-EFEB29EB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7647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Actual infrastructure</a:t>
            </a:r>
          </a:p>
        </p:txBody>
      </p:sp>
      <p:sp>
        <p:nvSpPr>
          <p:cNvPr id="13" name="rep-body-0">
            <a:extLst xmlns:a="http://schemas.openxmlformats.org/drawingml/2006/main">
              <a:ext uri="{FF2B5EF4-FFF2-40B4-BE49-F238E27FC236}">
                <a16:creationId xmlns:a16="http://schemas.microsoft.com/office/drawing/2014/main" id="{7A849F93-BEBC-4AD7-9F08-DA442AB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7647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9B3C1"/>
                </a:solidFill>
              </a:defRPr>
            </a:pPr>
            <a:r>
              <a:rPr sz="1500" b="0" i="0">
                <a:solidFill>
                  <a:srgbClr val="A9B3C1"/>
                </a:solidFill>
              </a:rPr>
              <a:t>The server and current runtime state</a:t>
            </a:r>
          </a:p>
        </p:txBody>
      </p:sp>
      <p:sp>
        <p:nvSpPr>
          <p:cNvPr id="14" name="rep-num-1">
            <a:extLst xmlns:a="http://schemas.openxmlformats.org/drawingml/2006/main">
              <a:ext uri="{FF2B5EF4-FFF2-40B4-BE49-F238E27FC236}">
                <a16:creationId xmlns:a16="http://schemas.microsoft.com/office/drawing/2014/main" id="{32268012-9EA1-4534-8B2F-3359F8AF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28A7E8"/>
                </a:solidFill>
              </a:defRPr>
            </a:pPr>
            <a:r>
              <a:rPr sz="2550" b="1" i="0">
                <a:solidFill>
                  <a:srgbClr val="28A7E8"/>
                </a:solidFill>
              </a:rPr>
              <a:t>2</a:t>
            </a:r>
          </a:p>
        </p:txBody>
      </p:sp>
      <p:sp>
        <p:nvSpPr>
          <p:cNvPr id="15" name="rep-box-1">
            <a:extLst xmlns:a="http://schemas.openxmlformats.org/drawingml/2006/main">
              <a:ext uri="{FF2B5EF4-FFF2-40B4-BE49-F238E27FC236}">
                <a16:creationId xmlns:a16="http://schemas.microsoft.com/office/drawing/2014/main" id="{F93F4489-E367-47F2-B1E0-C9C2A98C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9886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6" name="rep-title-1">
            <a:extLst xmlns:a="http://schemas.openxmlformats.org/drawingml/2006/main">
              <a:ext uri="{FF2B5EF4-FFF2-40B4-BE49-F238E27FC236}">
                <a16:creationId xmlns:a16="http://schemas.microsoft.com/office/drawing/2014/main" id="{4C0EF072-8ED8-440B-8A02-26561EF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575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Discovered observation</a:t>
            </a:r>
          </a:p>
        </p:txBody>
      </p:sp>
      <p:sp>
        <p:nvSpPr>
          <p:cNvPr id="17" name="rep-body-1">
            <a:extLst xmlns:a="http://schemas.openxmlformats.org/drawingml/2006/main">
              <a:ext uri="{FF2B5EF4-FFF2-40B4-BE49-F238E27FC236}">
                <a16:creationId xmlns:a16="http://schemas.microsoft.com/office/drawing/2014/main" id="{715A9BB6-0635-4C44-A9E8-ADD5A125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575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9B3C1"/>
                </a:solidFill>
              </a:defRPr>
            </a:pPr>
            <a:r>
              <a:rPr sz="1500" b="0" i="0">
                <a:solidFill>
                  <a:srgbClr val="A9B3C1"/>
                </a:solidFill>
              </a:rPr>
              <a:t>What an agent, scanner, or provider saw at a time</a:t>
            </a:r>
          </a:p>
        </p:txBody>
      </p:sp>
      <p:sp>
        <p:nvSpPr>
          <p:cNvPr id="18" name="rep-num-2">
            <a:extLst xmlns:a="http://schemas.openxmlformats.org/drawingml/2006/main">
              <a:ext uri="{FF2B5EF4-FFF2-40B4-BE49-F238E27FC236}">
                <a16:creationId xmlns:a16="http://schemas.microsoft.com/office/drawing/2014/main" id="{B8E40FCB-FBD9-42FE-936C-AC32E168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5CC58A"/>
                </a:solidFill>
              </a:defRPr>
            </a:pPr>
            <a:r>
              <a:rPr sz="2550" b="1" i="0">
                <a:solidFill>
                  <a:srgbClr val="5CC58A"/>
                </a:solidFill>
              </a:rPr>
              <a:t>3</a:t>
            </a:r>
          </a:p>
        </p:txBody>
      </p:sp>
      <p:sp>
        <p:nvSpPr>
          <p:cNvPr id="19" name="rep-box-2">
            <a:extLst xmlns:a="http://schemas.openxmlformats.org/drawingml/2006/main">
              <a:ext uri="{FF2B5EF4-FFF2-40B4-BE49-F238E27FC236}">
                <a16:creationId xmlns:a16="http://schemas.microsoft.com/office/drawing/2014/main" id="{9B78832D-39EF-44FD-B47C-2175911A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9886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0" name="rep-title-2">
            <a:extLst xmlns:a="http://schemas.openxmlformats.org/drawingml/2006/main">
              <a:ext uri="{FF2B5EF4-FFF2-40B4-BE49-F238E27FC236}">
                <a16:creationId xmlns:a16="http://schemas.microsoft.com/office/drawing/2014/main" id="{F691A4CE-9EBB-47D3-AF16-0FED012D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3857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Reconciled CMDB record</a:t>
            </a:r>
          </a:p>
        </p:txBody>
      </p:sp>
      <p:sp>
        <p:nvSpPr>
          <p:cNvPr id="21" name="rep-body-2">
            <a:extLst xmlns:a="http://schemas.openxmlformats.org/drawingml/2006/main">
              <a:ext uri="{FF2B5EF4-FFF2-40B4-BE49-F238E27FC236}">
                <a16:creationId xmlns:a16="http://schemas.microsoft.com/office/drawing/2014/main" id="{09981736-BCD6-48BF-BA28-9D74C10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3857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9B3C1"/>
                </a:solidFill>
              </a:defRPr>
            </a:pPr>
            <a:r>
              <a:rPr sz="1500" b="0" i="0">
                <a:solidFill>
                  <a:srgbClr val="A9B3C1"/>
                </a:solidFill>
              </a:rPr>
              <a:t>The CI produced from governed source datasets</a:t>
            </a:r>
          </a:p>
        </p:txBody>
      </p:sp>
      <p:sp>
        <p:nvSpPr>
          <p:cNvPr id="22" name="rep-num-3">
            <a:extLst xmlns:a="http://schemas.openxmlformats.org/drawingml/2006/main">
              <a:ext uri="{FF2B5EF4-FFF2-40B4-BE49-F238E27FC236}">
                <a16:creationId xmlns:a16="http://schemas.microsoft.com/office/drawing/2014/main" id="{E863212E-A2AE-4C04-8B9D-8808673C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07C28"/>
                </a:solidFill>
              </a:defRPr>
            </a:pPr>
            <a:r>
              <a:rPr sz="2550" b="1" i="0">
                <a:solidFill>
                  <a:srgbClr val="F07C28"/>
                </a:solidFill>
              </a:rPr>
              <a:t>4</a:t>
            </a:r>
          </a:p>
        </p:txBody>
      </p:sp>
      <p:sp>
        <p:nvSpPr>
          <p:cNvPr id="23" name="rep-box-3">
            <a:extLst xmlns:a="http://schemas.openxmlformats.org/drawingml/2006/main">
              <a:ext uri="{FF2B5EF4-FFF2-40B4-BE49-F238E27FC236}">
                <a16:creationId xmlns:a16="http://schemas.microsoft.com/office/drawing/2014/main" id="{791B0F90-A9D4-406B-AB63-2793C57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9886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24" name="rep-title-3">
            <a:extLst xmlns:a="http://schemas.openxmlformats.org/drawingml/2006/main">
              <a:ext uri="{FF2B5EF4-FFF2-40B4-BE49-F238E27FC236}">
                <a16:creationId xmlns:a16="http://schemas.microsoft.com/office/drawing/2014/main" id="{935328C0-7493-4238-B33B-1B02B738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196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Reporting extract</a:t>
            </a:r>
          </a:p>
        </p:txBody>
      </p:sp>
      <p:sp>
        <p:nvSpPr>
          <p:cNvPr id="25" name="rep-body-3">
            <a:extLst xmlns:a="http://schemas.openxmlformats.org/drawingml/2006/main">
              <a:ext uri="{FF2B5EF4-FFF2-40B4-BE49-F238E27FC236}">
                <a16:creationId xmlns:a16="http://schemas.microsoft.com/office/drawing/2014/main" id="{182B4FD4-3C7D-4BEF-9B16-84A1F694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196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9B3C1"/>
                </a:solidFill>
              </a:defRPr>
            </a:pPr>
            <a:r>
              <a:rPr sz="1500" b="0" i="0">
                <a:solidFill>
                  <a:srgbClr val="A9B3C1"/>
                </a:solidFill>
              </a:rPr>
              <a:t>A scheduled and filtered data product</a:t>
            </a:r>
          </a:p>
        </p:txBody>
      </p:sp>
      <p:sp>
        <p:nvSpPr>
          <p:cNvPr id="26" name="rep-num-4">
            <a:extLst xmlns:a="http://schemas.openxmlformats.org/drawingml/2006/main">
              <a:ext uri="{FF2B5EF4-FFF2-40B4-BE49-F238E27FC236}">
                <a16:creationId xmlns:a16="http://schemas.microsoft.com/office/drawing/2014/main" id="{89A403B1-4359-4AE7-BA6B-E1748813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28A7E8"/>
                </a:solidFill>
              </a:defRPr>
            </a:pPr>
            <a:r>
              <a:rPr sz="2550" b="1" i="0">
                <a:solidFill>
                  <a:srgbClr val="28A7E8"/>
                </a:solidFill>
              </a:rPr>
              <a:t>5</a:t>
            </a:r>
          </a:p>
        </p:txBody>
      </p:sp>
      <p:sp>
        <p:nvSpPr>
          <p:cNvPr id="27" name="rep-box-4">
            <a:extLst xmlns:a="http://schemas.openxmlformats.org/drawingml/2006/main">
              <a:ext uri="{FF2B5EF4-FFF2-40B4-BE49-F238E27FC236}">
                <a16:creationId xmlns:a16="http://schemas.microsoft.com/office/drawing/2014/main" id="{DC21A31C-1D28-41D0-BDA9-A82F0268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9886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28" name="rep-title-4">
            <a:extLst xmlns:a="http://schemas.openxmlformats.org/drawingml/2006/main">
              <a:ext uri="{FF2B5EF4-FFF2-40B4-BE49-F238E27FC236}">
                <a16:creationId xmlns:a16="http://schemas.microsoft.com/office/drawing/2014/main" id="{402979F0-C152-4628-9694-56FF1B14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0067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AAP inventory projection</a:t>
            </a:r>
          </a:p>
        </p:txBody>
      </p:sp>
      <p:sp>
        <p:nvSpPr>
          <p:cNvPr id="29" name="rep-body-4">
            <a:extLst xmlns:a="http://schemas.openxmlformats.org/drawingml/2006/main">
              <a:ext uri="{FF2B5EF4-FFF2-40B4-BE49-F238E27FC236}">
                <a16:creationId xmlns:a16="http://schemas.microsoft.com/office/drawing/2014/main" id="{3C8299A9-D562-4A01-AEC5-CFC06CC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0067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9B3C1"/>
                </a:solidFill>
              </a:defRPr>
            </a:pPr>
            <a:r>
              <a:rPr sz="1500" b="0" i="0">
                <a:solidFill>
                  <a:srgbClr val="A9B3C1"/>
                </a:solidFill>
              </a:rPr>
              <a:t>Targeting metadata for a specific automation consumer</a:t>
            </a:r>
          </a:p>
        </p:txBody>
      </p:sp>
    </p:spTree>
    <p:extLst>
      <p:ext uri="{BB962C8B-B14F-4D97-AF65-F5344CB8AC3E}">
        <p14:creationId xmlns:p14="http://schemas.microsoft.com/office/powerpoint/2010/main" val="412806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blue">
            <a:extLst xmlns:a="http://schemas.openxmlformats.org/drawingml/2006/main">
              <a:ext uri="{FF2B5EF4-FFF2-40B4-BE49-F238E27FC236}">
                <a16:creationId xmlns:a16="http://schemas.microsoft.com/office/drawing/2014/main" id="{4DBCA4AF-6801-497D-A011-78CBAA80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A525B43-15D9-46E0-9893-C06CB9B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A2F19B5C-D471-45CD-AB3F-45C82C25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15A74A3-46CA-458D-A822-FE088EC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CURRENT STATE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620BBC-1698-423F-BF38-B534AB2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Cadence, state, and execution are coupled.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AD6ED8D-C9B4-47AF-82B8-63D0970B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The outer AAP job does not represent the real processing boundary.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748A4CB-30F1-4866-B865-F342D4BC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0C35AC3-0FCF-4B98-8623-9FA32647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BE0B2E-44F2-44CA-ADDA-850024F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03</a:t>
            </a:r>
          </a:p>
        </p:txBody>
      </p:sp>
      <p:sp>
        <p:nvSpPr>
          <p:cNvPr id="10" name="cur-0-box">
            <a:extLst xmlns:a="http://schemas.openxmlformats.org/drawingml/2006/main">
              <a:ext uri="{FF2B5EF4-FFF2-40B4-BE49-F238E27FC236}">
                <a16:creationId xmlns:a16="http://schemas.microsoft.com/office/drawing/2014/main" id="{ADD68AF7-ECC7-48AB-8852-64024710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66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1" name="cur-0-label">
            <a:extLst xmlns:a="http://schemas.openxmlformats.org/drawingml/2006/main">
              <a:ext uri="{FF2B5EF4-FFF2-40B4-BE49-F238E27FC236}">
                <a16:creationId xmlns:a16="http://schemas.microsoft.com/office/drawing/2014/main" id="{D3D7391C-BA20-4AD2-B0C1-D6D4A40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UD / UCMDB</a:t>
            </a:r>
          </a:p>
        </p:txBody>
      </p:sp>
      <p:sp>
        <p:nvSpPr>
          <p:cNvPr id="12" name="cur-0-subtitle">
            <a:extLst xmlns:a="http://schemas.openxmlformats.org/drawingml/2006/main">
              <a:ext uri="{FF2B5EF4-FFF2-40B4-BE49-F238E27FC236}">
                <a16:creationId xmlns:a16="http://schemas.microsoft.com/office/drawing/2014/main" id="{E9A177F9-4C73-42E7-9786-1C1BE16C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observe</a:t>
            </a:r>
          </a:p>
        </p:txBody>
      </p:sp>
      <p:sp>
        <p:nvSpPr>
          <p:cNvPr id="13" name="cur-arrow-0">
            <a:extLst xmlns:a="http://schemas.openxmlformats.org/drawingml/2006/main">
              <a:ext uri="{FF2B5EF4-FFF2-40B4-BE49-F238E27FC236}">
                <a16:creationId xmlns:a16="http://schemas.microsoft.com/office/drawing/2014/main" id="{C6EC8BFB-E4A4-4E32-AFE7-8D692F05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384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14" name="cur-1-box">
            <a:extLst xmlns:a="http://schemas.openxmlformats.org/drawingml/2006/main">
              <a:ext uri="{FF2B5EF4-FFF2-40B4-BE49-F238E27FC236}">
                <a16:creationId xmlns:a16="http://schemas.microsoft.com/office/drawing/2014/main" id="{1E95546B-8E41-4B54-8905-336EFFF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24100"/>
            <a:ext cx="2266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5" name="cur-1-label">
            <a:extLst xmlns:a="http://schemas.openxmlformats.org/drawingml/2006/main">
              <a:ext uri="{FF2B5EF4-FFF2-40B4-BE49-F238E27FC236}">
                <a16:creationId xmlns:a16="http://schemas.microsoft.com/office/drawing/2014/main" id="{06A1E750-2FC0-4C31-A11A-2678E76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Helix CMDB</a:t>
            </a:r>
          </a:p>
        </p:txBody>
      </p:sp>
      <p:sp>
        <p:nvSpPr>
          <p:cNvPr id="16" name="cur-1-subtitle">
            <a:extLst xmlns:a="http://schemas.openxmlformats.org/drawingml/2006/main">
              <a:ext uri="{FF2B5EF4-FFF2-40B4-BE49-F238E27FC236}">
                <a16:creationId xmlns:a16="http://schemas.microsoft.com/office/drawing/2014/main" id="{68AE1876-D3A2-4502-A392-61D7EE23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reconcile</a:t>
            </a:r>
          </a:p>
        </p:txBody>
      </p:sp>
      <p:sp>
        <p:nvSpPr>
          <p:cNvPr id="17" name="cur-arrow-1">
            <a:extLst xmlns:a="http://schemas.openxmlformats.org/drawingml/2006/main">
              <a:ext uri="{FF2B5EF4-FFF2-40B4-BE49-F238E27FC236}">
                <a16:creationId xmlns:a16="http://schemas.microsoft.com/office/drawing/2014/main" id="{1C1DB88C-E40C-4F00-9A43-1E6DE6A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384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18" name="cur-2-box">
            <a:extLst xmlns:a="http://schemas.openxmlformats.org/drawingml/2006/main">
              <a:ext uri="{FF2B5EF4-FFF2-40B4-BE49-F238E27FC236}">
                <a16:creationId xmlns:a16="http://schemas.microsoft.com/office/drawing/2014/main" id="{C801E919-7B30-4CA8-90FF-5919045E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266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9" name="cur-2-label">
            <a:extLst xmlns:a="http://schemas.openxmlformats.org/drawingml/2006/main">
              <a:ext uri="{FF2B5EF4-FFF2-40B4-BE49-F238E27FC236}">
                <a16:creationId xmlns:a16="http://schemas.microsoft.com/office/drawing/2014/main" id="{5386C90F-510C-4DAD-A825-9F969AF3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IBI report</a:t>
            </a:r>
          </a:p>
        </p:txBody>
      </p:sp>
      <p:sp>
        <p:nvSpPr>
          <p:cNvPr id="20" name="cur-2-subtitle">
            <a:extLst xmlns:a="http://schemas.openxmlformats.org/drawingml/2006/main">
              <a:ext uri="{FF2B5EF4-FFF2-40B4-BE49-F238E27FC236}">
                <a16:creationId xmlns:a16="http://schemas.microsoft.com/office/drawing/2014/main" id="{78270432-2233-4CA6-884D-AAD66FF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05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schedule</a:t>
            </a:r>
          </a:p>
        </p:txBody>
      </p:sp>
      <p:sp>
        <p:nvSpPr>
          <p:cNvPr id="21" name="cur-arrow-2">
            <a:extLst xmlns:a="http://schemas.openxmlformats.org/drawingml/2006/main">
              <a:ext uri="{FF2B5EF4-FFF2-40B4-BE49-F238E27FC236}">
                <a16:creationId xmlns:a16="http://schemas.microsoft.com/office/drawing/2014/main" id="{3BABD155-2F90-4BE2-8BC1-EE4B011F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22" name="cur-3-box">
            <a:extLst xmlns:a="http://schemas.openxmlformats.org/drawingml/2006/main">
              <a:ext uri="{FF2B5EF4-FFF2-40B4-BE49-F238E27FC236}">
                <a16:creationId xmlns:a16="http://schemas.microsoft.com/office/drawing/2014/main" id="{F5E040D6-9A76-483E-A91E-7A3742DA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2266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23" name="cur-3-label">
            <a:extLst xmlns:a="http://schemas.openxmlformats.org/drawingml/2006/main">
              <a:ext uri="{FF2B5EF4-FFF2-40B4-BE49-F238E27FC236}">
                <a16:creationId xmlns:a16="http://schemas.microsoft.com/office/drawing/2014/main" id="{21F54A1E-72E7-4999-A3E4-C6263844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669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File shares</a:t>
            </a:r>
          </a:p>
        </p:txBody>
      </p:sp>
      <p:sp>
        <p:nvSpPr>
          <p:cNvPr id="24" name="cur-3-subtitle">
            <a:extLst xmlns:a="http://schemas.openxmlformats.org/drawingml/2006/main">
              <a:ext uri="{FF2B5EF4-FFF2-40B4-BE49-F238E27FC236}">
                <a16:creationId xmlns:a16="http://schemas.microsoft.com/office/drawing/2014/main" id="{B837744B-E894-4620-AA9B-597C47B1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05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transport + state</a:t>
            </a:r>
          </a:p>
        </p:txBody>
      </p:sp>
      <p:sp>
        <p:nvSpPr>
          <p:cNvPr id="25" name="cur-4-box">
            <a:extLst xmlns:a="http://schemas.openxmlformats.org/drawingml/2006/main">
              <a:ext uri="{FF2B5EF4-FFF2-40B4-BE49-F238E27FC236}">
                <a16:creationId xmlns:a16="http://schemas.microsoft.com/office/drawing/2014/main" id="{F1F06BC0-4050-486B-ACF6-A911B2EA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38600"/>
            <a:ext cx="2266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26" name="cur-4-label">
            <a:extLst xmlns:a="http://schemas.openxmlformats.org/drawingml/2006/main">
              <a:ext uri="{FF2B5EF4-FFF2-40B4-BE49-F238E27FC236}">
                <a16:creationId xmlns:a16="http://schemas.microsoft.com/office/drawing/2014/main" id="{3C563D2C-DAEF-4935-98BF-B7A557CA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814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localhost</a:t>
            </a:r>
          </a:p>
        </p:txBody>
      </p:sp>
      <p:sp>
        <p:nvSpPr>
          <p:cNvPr id="27" name="cur-4-subtitle">
            <a:extLst xmlns:a="http://schemas.openxmlformats.org/drawingml/2006/main">
              <a:ext uri="{FF2B5EF4-FFF2-40B4-BE49-F238E27FC236}">
                <a16:creationId xmlns:a16="http://schemas.microsoft.com/office/drawing/2014/main" id="{F8BC378F-1CFD-426E-B7F7-04B05F6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9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launcher</a:t>
            </a:r>
          </a:p>
        </p:txBody>
      </p:sp>
      <p:sp>
        <p:nvSpPr>
          <p:cNvPr id="28" name="cur-arrow-4">
            <a:extLst xmlns:a="http://schemas.openxmlformats.org/drawingml/2006/main">
              <a:ext uri="{FF2B5EF4-FFF2-40B4-BE49-F238E27FC236}">
                <a16:creationId xmlns:a16="http://schemas.microsoft.com/office/drawing/2014/main" id="{EB06B7D8-79E9-4729-A4D7-3537DDF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529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07C28"/>
            </a:solidFill>
            <a:prstDash val="solid"/>
          </a:ln>
        </p:spPr>
      </p:sp>
      <p:sp>
        <p:nvSpPr>
          <p:cNvPr id="29" name="cur-5-box">
            <a:extLst xmlns:a="http://schemas.openxmlformats.org/drawingml/2006/main">
              <a:ext uri="{FF2B5EF4-FFF2-40B4-BE49-F238E27FC236}">
                <a16:creationId xmlns:a16="http://schemas.microsoft.com/office/drawing/2014/main" id="{C9E60212-01AA-4070-A8BA-4E76A8F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38600"/>
            <a:ext cx="2266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30" name="cur-5-label">
            <a:extLst xmlns:a="http://schemas.openxmlformats.org/drawingml/2006/main">
              <a:ext uri="{FF2B5EF4-FFF2-40B4-BE49-F238E27FC236}">
                <a16:creationId xmlns:a16="http://schemas.microsoft.com/office/drawing/2014/main" id="{B0762AAB-FFDC-43B2-B9D2-1C9D33E7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814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Utility host</a:t>
            </a:r>
          </a:p>
        </p:txBody>
      </p:sp>
      <p:sp>
        <p:nvSpPr>
          <p:cNvPr id="31" name="cur-5-subtitle">
            <a:extLst xmlns:a="http://schemas.openxmlformats.org/drawingml/2006/main">
              <a:ext uri="{FF2B5EF4-FFF2-40B4-BE49-F238E27FC236}">
                <a16:creationId xmlns:a16="http://schemas.microsoft.com/office/drawing/2014/main" id="{006C096E-8A54-45CC-A7BA-880BD705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19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parse for hours</a:t>
            </a:r>
          </a:p>
        </p:txBody>
      </p:sp>
      <p:sp>
        <p:nvSpPr>
          <p:cNvPr id="32" name="cur-arrow-5">
            <a:extLst xmlns:a="http://schemas.openxmlformats.org/drawingml/2006/main">
              <a:ext uri="{FF2B5EF4-FFF2-40B4-BE49-F238E27FC236}">
                <a16:creationId xmlns:a16="http://schemas.microsoft.com/office/drawing/2014/main" id="{531C8CD8-CBC0-4F8F-86BB-B9DDD179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529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07C28"/>
            </a:solidFill>
            <a:prstDash val="solid"/>
          </a:ln>
        </p:spPr>
      </p:sp>
      <p:sp>
        <p:nvSpPr>
          <p:cNvPr id="33" name="cur-6-box">
            <a:extLst xmlns:a="http://schemas.openxmlformats.org/drawingml/2006/main">
              <a:ext uri="{FF2B5EF4-FFF2-40B4-BE49-F238E27FC236}">
                <a16:creationId xmlns:a16="http://schemas.microsoft.com/office/drawing/2014/main" id="{E29E5BF9-C204-4AE2-9638-BFB714E6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38600"/>
            <a:ext cx="2266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34" name="cur-6-label">
            <a:extLst xmlns:a="http://schemas.openxmlformats.org/drawingml/2006/main">
              <a:ext uri="{FF2B5EF4-FFF2-40B4-BE49-F238E27FC236}">
                <a16:creationId xmlns:a16="http://schemas.microsoft.com/office/drawing/2014/main" id="{79798F6D-2DAF-424F-86A0-98CEE20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814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AAP inventory</a:t>
            </a:r>
          </a:p>
        </p:txBody>
      </p:sp>
      <p:sp>
        <p:nvSpPr>
          <p:cNvPr id="35" name="cur-6-subtitle">
            <a:extLst xmlns:a="http://schemas.openxmlformats.org/drawingml/2006/main">
              <a:ext uri="{FF2B5EF4-FFF2-40B4-BE49-F238E27FC236}">
                <a16:creationId xmlns:a16="http://schemas.microsoft.com/office/drawing/2014/main" id="{9452F786-7DB4-49BC-BCC6-73C9DC9B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9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semi-static</a:t>
            </a:r>
          </a:p>
        </p:txBody>
      </p:sp>
      <p:sp>
        <p:nvSpPr>
          <p:cNvPr id="36" name="row-turn-box">
            <a:extLst xmlns:a="http://schemas.openxmlformats.org/drawingml/2006/main">
              <a:ext uri="{FF2B5EF4-FFF2-40B4-BE49-F238E27FC236}">
                <a16:creationId xmlns:a16="http://schemas.microsoft.com/office/drawing/2014/main" id="{CA35EDA0-7FFF-4266-9747-87D57C30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4114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4A2512"/>
            </a:solidFill>
            <a:prstDash val="solid"/>
          </a:ln>
        </p:spPr>
      </p:sp>
      <p:sp>
        <p:nvSpPr>
          <p:cNvPr id="37" name="row-turn-text">
            <a:extLst xmlns:a="http://schemas.openxmlformats.org/drawingml/2006/main">
              <a:ext uri="{FF2B5EF4-FFF2-40B4-BE49-F238E27FC236}">
                <a16:creationId xmlns:a16="http://schemas.microsoft.com/office/drawing/2014/main" id="{8122FFE9-4AA4-4101-ABA4-0EFEA2C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90925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REPORT HANDOFF → AUTOMATION PROCESSING</a:t>
            </a:r>
          </a:p>
        </p:txBody>
      </p:sp>
      <p:sp>
        <p:nvSpPr>
          <p:cNvPr id="38" name="risk-a-box">
            <a:extLst xmlns:a="http://schemas.openxmlformats.org/drawingml/2006/main">
              <a:ext uri="{FF2B5EF4-FFF2-40B4-BE49-F238E27FC236}">
                <a16:creationId xmlns:a16="http://schemas.microsoft.com/office/drawing/2014/main" id="{C022BAB2-3662-4DCB-A9DD-0F2AC5D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4A2512"/>
            </a:solidFill>
            <a:prstDash val="solid"/>
          </a:ln>
        </p:spPr>
      </p:sp>
      <p:sp>
        <p:nvSpPr>
          <p:cNvPr id="39" name="risk-a-text">
            <a:extLst xmlns:a="http://schemas.openxmlformats.org/drawingml/2006/main">
              <a:ext uri="{FF2B5EF4-FFF2-40B4-BE49-F238E27FC236}">
                <a16:creationId xmlns:a16="http://schemas.microsoft.com/office/drawing/2014/main" id="{7DFCA0E8-8A81-42B6-8482-98555AAF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768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MULTIPLE CADENCE BOUNDARIES</a:t>
            </a:r>
          </a:p>
        </p:txBody>
      </p:sp>
      <p:sp>
        <p:nvSpPr>
          <p:cNvPr id="40" name="risk-b-box">
            <a:extLst xmlns:a="http://schemas.openxmlformats.org/drawingml/2006/main">
              <a:ext uri="{FF2B5EF4-FFF2-40B4-BE49-F238E27FC236}">
                <a16:creationId xmlns:a16="http://schemas.microsoft.com/office/drawing/2014/main" id="{C151271A-0088-4E93-8FEF-5762C07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29250"/>
            <a:ext cx="3390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4A2512"/>
            </a:solidFill>
            <a:prstDash val="solid"/>
          </a:ln>
        </p:spPr>
      </p:sp>
      <p:sp>
        <p:nvSpPr>
          <p:cNvPr id="41" name="risk-b-text">
            <a:extLst xmlns:a="http://schemas.openxmlformats.org/drawingml/2006/main">
              <a:ext uri="{FF2B5EF4-FFF2-40B4-BE49-F238E27FC236}">
                <a16:creationId xmlns:a16="http://schemas.microsoft.com/office/drawing/2014/main" id="{F2912E1D-915F-4F64-A6E5-293CF457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76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SHARED FILES AS WORKING STATE</a:t>
            </a:r>
          </a:p>
        </p:txBody>
      </p:sp>
      <p:sp>
        <p:nvSpPr>
          <p:cNvPr id="42" name="risk-c-box">
            <a:extLst xmlns:a="http://schemas.openxmlformats.org/drawingml/2006/main">
              <a:ext uri="{FF2B5EF4-FFF2-40B4-BE49-F238E27FC236}">
                <a16:creationId xmlns:a16="http://schemas.microsoft.com/office/drawing/2014/main" id="{A53D0C24-5919-4581-BCB4-29AAD4B8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2925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4A2512"/>
            </a:solidFill>
            <a:prstDash val="solid"/>
          </a:ln>
        </p:spPr>
      </p:sp>
      <p:sp>
        <p:nvSpPr>
          <p:cNvPr id="43" name="risk-c-text">
            <a:extLst xmlns:a="http://schemas.openxmlformats.org/drawingml/2006/main">
              <a:ext uri="{FF2B5EF4-FFF2-40B4-BE49-F238E27FC236}">
                <a16:creationId xmlns:a16="http://schemas.microsoft.com/office/drawing/2014/main" id="{9E89186D-5E55-4BB2-8E80-93F42D1A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768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SHADOW EXECUTION</a:t>
            </a:r>
          </a:p>
        </p:txBody>
      </p:sp>
    </p:spTree>
    <p:extLst>
      <p:ext uri="{BB962C8B-B14F-4D97-AF65-F5344CB8AC3E}">
        <p14:creationId xmlns:p14="http://schemas.microsoft.com/office/powerpoint/2010/main" val="1453568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blue">
            <a:extLst xmlns:a="http://schemas.openxmlformats.org/drawingml/2006/main">
              <a:ext uri="{FF2B5EF4-FFF2-40B4-BE49-F238E27FC236}">
                <a16:creationId xmlns:a16="http://schemas.microsoft.com/office/drawing/2014/main" id="{2E087F87-98D2-4647-B735-EB124F75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7F5B199-03A9-444A-8117-E6121903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729F9767-9DF4-4F8D-854C-2C8C29B6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8E6EB01-6564-4EAA-915F-3A7476AA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8A7E8"/>
                </a:solidFill>
              </a:defRPr>
            </a:pPr>
            <a:r>
              <a:rPr sz="1200" b="1" i="0">
                <a:solidFill>
                  <a:srgbClr val="28A7E8"/>
                </a:solidFill>
              </a:rPr>
              <a:t>DESIGN BOUNDARY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13E764-D5E3-40DB-AE30-458A866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Keep the constraint; modernize the adapter.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74FC339-1A97-47F1-9637-4B1FC321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The restricted source remains left of the boundary; governed inventory processing starts after delivery.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FBE21AE-A622-4BC1-B591-DBF1E113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6E41C29-E90B-4EB1-BB63-C631B901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D018D4-944B-4033-A587-CE486BB8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04</a:t>
            </a:r>
          </a:p>
        </p:txBody>
      </p:sp>
      <p:sp>
        <p:nvSpPr>
          <p:cNvPr id="10" name="restricted-zone">
            <a:extLst xmlns:a="http://schemas.openxmlformats.org/drawingml/2006/main">
              <a:ext uri="{FF2B5EF4-FFF2-40B4-BE49-F238E27FC236}">
                <a16:creationId xmlns:a16="http://schemas.microsoft.com/office/drawing/2014/main" id="{ABBFB978-2F2F-436C-80A8-8B5342FC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6576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11" name="restricted-label">
            <a:extLst xmlns:a="http://schemas.openxmlformats.org/drawingml/2006/main">
              <a:ext uri="{FF2B5EF4-FFF2-40B4-BE49-F238E27FC236}">
                <a16:creationId xmlns:a16="http://schemas.microsoft.com/office/drawing/2014/main" id="{FD7B9AF2-E10B-4C41-A9C5-8EE546B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RESTRICTED SOURCE SIDE</a:t>
            </a:r>
          </a:p>
        </p:txBody>
      </p:sp>
      <p:sp>
        <p:nvSpPr>
          <p:cNvPr id="12" name="restricted-cmdb-box">
            <a:extLst xmlns:a="http://schemas.openxmlformats.org/drawingml/2006/main">
              <a:ext uri="{FF2B5EF4-FFF2-40B4-BE49-F238E27FC236}">
                <a16:creationId xmlns:a16="http://schemas.microsoft.com/office/drawing/2014/main" id="{3537027F-BF95-455B-95F6-24741005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2628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13" name="restricted-cmdb-label">
            <a:extLst xmlns:a="http://schemas.openxmlformats.org/drawingml/2006/main">
              <a:ext uri="{FF2B5EF4-FFF2-40B4-BE49-F238E27FC236}">
                <a16:creationId xmlns:a16="http://schemas.microsoft.com/office/drawing/2014/main" id="{02FF273C-FD8C-4CD5-A430-8ECA07FB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CMDB</a:t>
            </a:r>
          </a:p>
        </p:txBody>
      </p:sp>
      <p:sp>
        <p:nvSpPr>
          <p:cNvPr id="14" name="restricted-cmdb-subtitle">
            <a:extLst xmlns:a="http://schemas.openxmlformats.org/drawingml/2006/main">
              <a:ext uri="{FF2B5EF4-FFF2-40B4-BE49-F238E27FC236}">
                <a16:creationId xmlns:a16="http://schemas.microsoft.com/office/drawing/2014/main" id="{615B39AD-929D-4292-AAD9-65E83DBA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29025"/>
            <a:ext cx="2362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no direct query or update</a:t>
            </a:r>
          </a:p>
        </p:txBody>
      </p:sp>
      <p:sp>
        <p:nvSpPr>
          <p:cNvPr id="15" name="restricted-report-box">
            <a:extLst xmlns:a="http://schemas.openxmlformats.org/drawingml/2006/main">
              <a:ext uri="{FF2B5EF4-FFF2-40B4-BE49-F238E27FC236}">
                <a16:creationId xmlns:a16="http://schemas.microsoft.com/office/drawing/2014/main" id="{B42F6009-82E0-46D7-9691-8BD4177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28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16" name="restricted-report-label">
            <a:extLst xmlns:a="http://schemas.openxmlformats.org/drawingml/2006/main">
              <a:ext uri="{FF2B5EF4-FFF2-40B4-BE49-F238E27FC236}">
                <a16:creationId xmlns:a16="http://schemas.microsoft.com/office/drawing/2014/main" id="{12F2B411-911F-4850-9ABC-13AE429B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719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Scheduled report</a:t>
            </a:r>
          </a:p>
        </p:txBody>
      </p:sp>
      <p:sp>
        <p:nvSpPr>
          <p:cNvPr id="17" name="restricted-report-subtitle">
            <a:extLst xmlns:a="http://schemas.openxmlformats.org/drawingml/2006/main">
              <a:ext uri="{FF2B5EF4-FFF2-40B4-BE49-F238E27FC236}">
                <a16:creationId xmlns:a16="http://schemas.microsoft.com/office/drawing/2014/main" id="{AC069264-9FC7-49D6-A872-1292B11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2362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permitted integration</a:t>
            </a:r>
          </a:p>
        </p:txBody>
      </p:sp>
      <p:sp>
        <p:nvSpPr>
          <p:cNvPr id="18" name="restricted-arrow">
            <a:extLst xmlns:a="http://schemas.openxmlformats.org/drawingml/2006/main">
              <a:ext uri="{FF2B5EF4-FFF2-40B4-BE49-F238E27FC236}">
                <a16:creationId xmlns:a16="http://schemas.microsoft.com/office/drawing/2014/main" id="{B8BE2973-863B-4DF2-8DC3-F0F93EE4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052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07C28"/>
            </a:solidFill>
            <a:prstDash val="solid"/>
          </a:ln>
        </p:spPr>
      </p:sp>
      <p:sp>
        <p:nvSpPr>
          <p:cNvPr id="19" name="boundary-arrow">
            <a:extLst xmlns:a="http://schemas.openxmlformats.org/drawingml/2006/main">
              <a:ext uri="{FF2B5EF4-FFF2-40B4-BE49-F238E27FC236}">
                <a16:creationId xmlns:a16="http://schemas.microsoft.com/office/drawing/2014/main" id="{F4BF2EFC-AC1C-41D4-9283-873802B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990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20" name="boundary-label-box">
            <a:extLst xmlns:a="http://schemas.openxmlformats.org/drawingml/2006/main">
              <a:ext uri="{FF2B5EF4-FFF2-40B4-BE49-F238E27FC236}">
                <a16:creationId xmlns:a16="http://schemas.microsoft.com/office/drawing/2014/main" id="{D79A35C3-D34C-48FF-B02D-8D9E320A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2A"/>
          </a:solidFill>
          <a:ln xmlns:a="http://schemas.openxmlformats.org/drawingml/2006/main" w="9525">
            <a:solidFill>
              <a:srgbClr val="173B2A"/>
            </a:solidFill>
            <a:prstDash val="solid"/>
          </a:ln>
        </p:spPr>
      </p:sp>
      <p:sp>
        <p:nvSpPr>
          <p:cNvPr id="21" name="boundary-label-text">
            <a:extLst xmlns:a="http://schemas.openxmlformats.org/drawingml/2006/main">
              <a:ext uri="{FF2B5EF4-FFF2-40B4-BE49-F238E27FC236}">
                <a16:creationId xmlns:a16="http://schemas.microsoft.com/office/drawing/2014/main" id="{2224D58B-B32D-4807-82C9-A371345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62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FILE</a:t>
            </a:r>
          </a:p>
        </p:txBody>
      </p:sp>
      <p:sp>
        <p:nvSpPr>
          <p:cNvPr id="22" name="governed-zone">
            <a:extLst xmlns:a="http://schemas.openxmlformats.org/drawingml/2006/main">
              <a:ext uri="{FF2B5EF4-FFF2-40B4-BE49-F238E27FC236}">
                <a16:creationId xmlns:a16="http://schemas.microsoft.com/office/drawing/2014/main" id="{4AE42DFF-165D-443F-A4F5-91BC08C7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28850"/>
            <a:ext cx="6096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23" name="governed-label">
            <a:extLst xmlns:a="http://schemas.openxmlformats.org/drawingml/2006/main">
              <a:ext uri="{FF2B5EF4-FFF2-40B4-BE49-F238E27FC236}">
                <a16:creationId xmlns:a16="http://schemas.microsoft.com/office/drawing/2014/main" id="{361B62E8-A400-4512-B842-1D126466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3840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8A7E8"/>
                </a:solidFill>
              </a:defRPr>
            </a:pPr>
            <a:r>
              <a:rPr sz="1200" b="1" i="0">
                <a:solidFill>
                  <a:srgbClr val="28A7E8"/>
                </a:solidFill>
              </a:rPr>
              <a:t>AUTOMATION-OWNED PROCESSING</a:t>
            </a:r>
          </a:p>
        </p:txBody>
      </p:sp>
      <p:sp>
        <p:nvSpPr>
          <p:cNvPr id="24" name="land-box">
            <a:extLst xmlns:a="http://schemas.openxmlformats.org/drawingml/2006/main">
              <a:ext uri="{FF2B5EF4-FFF2-40B4-BE49-F238E27FC236}">
                <a16:creationId xmlns:a16="http://schemas.microsoft.com/office/drawing/2014/main" id="{89FE5F19-FF27-41A4-8131-F284219A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0515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25" name="land-label">
            <a:extLst xmlns:a="http://schemas.openxmlformats.org/drawingml/2006/main">
              <a:ext uri="{FF2B5EF4-FFF2-40B4-BE49-F238E27FC236}">
                <a16:creationId xmlns:a16="http://schemas.microsoft.com/office/drawing/2014/main" id="{944F405B-6B40-4372-9332-8B25D10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480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Land once</a:t>
            </a:r>
          </a:p>
        </p:txBody>
      </p:sp>
      <p:sp>
        <p:nvSpPr>
          <p:cNvPr id="26" name="land-subtitle">
            <a:extLst xmlns:a="http://schemas.openxmlformats.org/drawingml/2006/main">
              <a:ext uri="{FF2B5EF4-FFF2-40B4-BE49-F238E27FC236}">
                <a16:creationId xmlns:a16="http://schemas.microsoft.com/office/drawing/2014/main" id="{3FF1A258-0D46-4C46-9409-76AA234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861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immutable raw</a:t>
            </a:r>
          </a:p>
        </p:txBody>
      </p:sp>
      <p:sp>
        <p:nvSpPr>
          <p:cNvPr id="27" name="validate-box">
            <a:extLst xmlns:a="http://schemas.openxmlformats.org/drawingml/2006/main">
              <a:ext uri="{FF2B5EF4-FFF2-40B4-BE49-F238E27FC236}">
                <a16:creationId xmlns:a16="http://schemas.microsoft.com/office/drawing/2014/main" id="{D0A229D2-07F7-4361-AD7B-AF055921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8" name="validate-label">
            <a:extLst xmlns:a="http://schemas.openxmlformats.org/drawingml/2006/main">
              <a:ext uri="{FF2B5EF4-FFF2-40B4-BE49-F238E27FC236}">
                <a16:creationId xmlns:a16="http://schemas.microsoft.com/office/drawing/2014/main" id="{2886089F-375E-4AC1-9D26-7ADA7027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480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Validate</a:t>
            </a:r>
          </a:p>
        </p:txBody>
      </p:sp>
      <p:sp>
        <p:nvSpPr>
          <p:cNvPr id="29" name="validate-subtitle">
            <a:extLst xmlns:a="http://schemas.openxmlformats.org/drawingml/2006/main">
              <a:ext uri="{FF2B5EF4-FFF2-40B4-BE49-F238E27FC236}">
                <a16:creationId xmlns:a16="http://schemas.microsoft.com/office/drawing/2014/main" id="{548701A0-4F12-4BFC-85A9-41A35865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identity + age</a:t>
            </a:r>
          </a:p>
        </p:txBody>
      </p:sp>
      <p:sp>
        <p:nvSpPr>
          <p:cNvPr id="30" name="publish-box">
            <a:extLst xmlns:a="http://schemas.openxmlformats.org/drawingml/2006/main">
              <a:ext uri="{FF2B5EF4-FFF2-40B4-BE49-F238E27FC236}">
                <a16:creationId xmlns:a16="http://schemas.microsoft.com/office/drawing/2014/main" id="{5ED96F43-0D6A-42C5-A5AC-F4FFF28D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31" name="publish-label">
            <a:extLst xmlns:a="http://schemas.openxmlformats.org/drawingml/2006/main">
              <a:ext uri="{FF2B5EF4-FFF2-40B4-BE49-F238E27FC236}">
                <a16:creationId xmlns:a16="http://schemas.microsoft.com/office/drawing/2014/main" id="{2095039F-09DC-4BC1-9B0B-F1B2B892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480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Publish</a:t>
            </a:r>
          </a:p>
        </p:txBody>
      </p:sp>
      <p:sp>
        <p:nvSpPr>
          <p:cNvPr id="32" name="publish-subtitle">
            <a:extLst xmlns:a="http://schemas.openxmlformats.org/drawingml/2006/main">
              <a:ext uri="{FF2B5EF4-FFF2-40B4-BE49-F238E27FC236}">
                <a16:creationId xmlns:a16="http://schemas.microsoft.com/office/drawing/2014/main" id="{50DE4A82-8262-40B4-9D1C-2D1088A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861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AAP projection</a:t>
            </a:r>
          </a:p>
        </p:txBody>
      </p:sp>
      <p:sp>
        <p:nvSpPr>
          <p:cNvPr id="33" name="land-arrow">
            <a:extLst xmlns:a="http://schemas.openxmlformats.org/drawingml/2006/main">
              <a:ext uri="{FF2B5EF4-FFF2-40B4-BE49-F238E27FC236}">
                <a16:creationId xmlns:a16="http://schemas.microsoft.com/office/drawing/2014/main" id="{F7CE9B56-21EA-4D2B-8078-788E5140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34" name="validate-arrow">
            <a:extLst xmlns:a="http://schemas.openxmlformats.org/drawingml/2006/main">
              <a:ext uri="{FF2B5EF4-FFF2-40B4-BE49-F238E27FC236}">
                <a16:creationId xmlns:a16="http://schemas.microsoft.com/office/drawing/2014/main" id="{F7DC76E5-DF3F-4F44-8D38-16FE687A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35" name="boundary-bottom">
            <a:extLst xmlns:a="http://schemas.openxmlformats.org/drawingml/2006/main">
              <a:ext uri="{FF2B5EF4-FFF2-40B4-BE49-F238E27FC236}">
                <a16:creationId xmlns:a16="http://schemas.microsoft.com/office/drawing/2014/main" id="{8E6250F4-9805-424D-AECD-8545CA05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52950"/>
            <a:ext cx="521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7F9FC"/>
                </a:solidFill>
              </a:defRPr>
            </a:pPr>
            <a:r>
              <a:rPr sz="1575" b="1" i="0">
                <a:solidFill>
                  <a:srgbClr val="F7F9FC"/>
                </a:solidFill>
              </a:rPr>
              <a:t>A different future source can replace the report adapter without redefining AAP consumers.</a:t>
            </a:r>
          </a:p>
        </p:txBody>
      </p:sp>
    </p:spTree>
    <p:extLst>
      <p:ext uri="{BB962C8B-B14F-4D97-AF65-F5344CB8AC3E}">
        <p14:creationId xmlns:p14="http://schemas.microsoft.com/office/powerpoint/2010/main" val="1977806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blue">
            <a:extLst xmlns:a="http://schemas.openxmlformats.org/drawingml/2006/main">
              <a:ext uri="{FF2B5EF4-FFF2-40B4-BE49-F238E27FC236}">
                <a16:creationId xmlns:a16="http://schemas.microsoft.com/office/drawing/2014/main" id="{09302B37-1217-424D-B7C4-02AD7C7A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308F13F-0D0E-4622-A3F5-1987E43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E1DBF8A4-993C-4D19-9CBC-1048ED32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821EA9E-4955-4039-AC98-A0E0E4D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INGESTION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1DE5668-23AB-41A4-8E58-00DA119B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Land once; validate before publish.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CFB5C1C-CC30-49AE-93FD-BB745CD0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Raw evidence and current inventory are different artifacts with different failure semantics.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4D6B2C4-AA20-43FC-B118-75C364A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0112C2A-C2F0-4623-9F9B-E6255D2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BEE1DC-1D2D-4F6A-99B0-1B29B02E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05</a:t>
            </a:r>
          </a:p>
        </p:txBody>
      </p:sp>
      <p:sp>
        <p:nvSpPr>
          <p:cNvPr id="10" name="raw-box">
            <a:extLst xmlns:a="http://schemas.openxmlformats.org/drawingml/2006/main">
              <a:ext uri="{FF2B5EF4-FFF2-40B4-BE49-F238E27FC236}">
                <a16:creationId xmlns:a16="http://schemas.microsoft.com/office/drawing/2014/main" id="{56C7C87E-1F1D-4F05-8898-2B3ABEE9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00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1" name="raw-label">
            <a:extLst xmlns:a="http://schemas.openxmlformats.org/drawingml/2006/main">
              <a:ext uri="{FF2B5EF4-FFF2-40B4-BE49-F238E27FC236}">
                <a16:creationId xmlns:a16="http://schemas.microsoft.com/office/drawing/2014/main" id="{87644BEE-992A-4E5D-A79B-5C7BC41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RAW</a:t>
            </a:r>
          </a:p>
        </p:txBody>
      </p:sp>
      <p:sp>
        <p:nvSpPr>
          <p:cNvPr id="12" name="raw-subtitle">
            <a:extLst xmlns:a="http://schemas.openxmlformats.org/drawingml/2006/main">
              <a:ext uri="{FF2B5EF4-FFF2-40B4-BE49-F238E27FC236}">
                <a16:creationId xmlns:a16="http://schemas.microsoft.com/office/drawing/2014/main" id="{8DA00F9B-56FB-4765-B841-6C2093C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immutable source export</a:t>
            </a:r>
          </a:p>
        </p:txBody>
      </p:sp>
      <p:sp>
        <p:nvSpPr>
          <p:cNvPr id="13" name="raw-to-validate">
            <a:extLst xmlns:a="http://schemas.openxmlformats.org/drawingml/2006/main">
              <a:ext uri="{FF2B5EF4-FFF2-40B4-BE49-F238E27FC236}">
                <a16:creationId xmlns:a16="http://schemas.microsoft.com/office/drawing/2014/main" id="{A00124B9-8719-4952-9DF1-2CB3458C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14" name="checks-box">
            <a:extLst xmlns:a="http://schemas.openxmlformats.org/drawingml/2006/main">
              <a:ext uri="{FF2B5EF4-FFF2-40B4-BE49-F238E27FC236}">
                <a16:creationId xmlns:a16="http://schemas.microsoft.com/office/drawing/2014/main" id="{455A8E8A-9066-4ECE-934B-D8B0744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324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15" name="checks-label">
            <a:extLst xmlns:a="http://schemas.openxmlformats.org/drawingml/2006/main">
              <a:ext uri="{FF2B5EF4-FFF2-40B4-BE49-F238E27FC236}">
                <a16:creationId xmlns:a16="http://schemas.microsoft.com/office/drawing/2014/main" id="{B0F62277-6C98-495C-A3D0-9386C9EA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98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CHECKS</a:t>
            </a:r>
          </a:p>
        </p:txBody>
      </p:sp>
      <p:sp>
        <p:nvSpPr>
          <p:cNvPr id="16" name="checks-subtitle">
            <a:extLst xmlns:a="http://schemas.openxmlformats.org/drawingml/2006/main">
              <a:ext uri="{FF2B5EF4-FFF2-40B4-BE49-F238E27FC236}">
                <a16:creationId xmlns:a16="http://schemas.microsoft.com/office/drawing/2014/main" id="{AD386529-FD16-4AF0-91F9-9370A55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48025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schema • identity • age • count</a:t>
            </a:r>
          </a:p>
        </p:txBody>
      </p:sp>
      <p:sp>
        <p:nvSpPr>
          <p:cNvPr id="17" name="checks-to-valid">
            <a:extLst xmlns:a="http://schemas.openxmlformats.org/drawingml/2006/main">
              <a:ext uri="{FF2B5EF4-FFF2-40B4-BE49-F238E27FC236}">
                <a16:creationId xmlns:a16="http://schemas.microsoft.com/office/drawing/2014/main" id="{BC62C671-B6EE-45B5-BB7B-0FAF6532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18" name="checks-to-quarantine">
            <a:extLst xmlns:a="http://schemas.openxmlformats.org/drawingml/2006/main">
              <a:ext uri="{FF2B5EF4-FFF2-40B4-BE49-F238E27FC236}">
                <a16:creationId xmlns:a16="http://schemas.microsoft.com/office/drawing/2014/main" id="{F47BE91C-3356-4337-B0D4-F09E746A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0" cy="4381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07C28"/>
            </a:solidFill>
            <a:prstDash val="solid"/>
          </a:ln>
        </p:spPr>
      </p:sp>
      <p:sp>
        <p:nvSpPr>
          <p:cNvPr id="19" name="validated-box">
            <a:extLst xmlns:a="http://schemas.openxmlformats.org/drawingml/2006/main">
              <a:ext uri="{FF2B5EF4-FFF2-40B4-BE49-F238E27FC236}">
                <a16:creationId xmlns:a16="http://schemas.microsoft.com/office/drawing/2014/main" id="{9DB115DC-12A3-4512-9FA8-44B6C4F2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152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0" name="validated-label">
            <a:extLst xmlns:a="http://schemas.openxmlformats.org/drawingml/2006/main">
              <a:ext uri="{FF2B5EF4-FFF2-40B4-BE49-F238E27FC236}">
                <a16:creationId xmlns:a16="http://schemas.microsoft.com/office/drawing/2014/main" id="{83EDD821-6E00-4E1B-9A4D-146BCC9A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9875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VALIDATED</a:t>
            </a:r>
          </a:p>
        </p:txBody>
      </p:sp>
      <p:sp>
        <p:nvSpPr>
          <p:cNvPr id="21" name="validated-subtitle">
            <a:extLst xmlns:a="http://schemas.openxmlformats.org/drawingml/2006/main">
              <a:ext uri="{FF2B5EF4-FFF2-40B4-BE49-F238E27FC236}">
                <a16:creationId xmlns:a16="http://schemas.microsoft.com/office/drawing/2014/main" id="{0417D41F-3A9C-4698-B096-E18A0F27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normalized snapshot</a:t>
            </a:r>
          </a:p>
        </p:txBody>
      </p:sp>
      <p:sp>
        <p:nvSpPr>
          <p:cNvPr id="22" name="quarantine-box">
            <a:extLst xmlns:a="http://schemas.openxmlformats.org/drawingml/2006/main">
              <a:ext uri="{FF2B5EF4-FFF2-40B4-BE49-F238E27FC236}">
                <a16:creationId xmlns:a16="http://schemas.microsoft.com/office/drawing/2014/main" id="{2AD880C0-68B1-4842-8FD9-DEAD8BBE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19600"/>
            <a:ext cx="2324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23" name="quarantine-label">
            <a:extLst xmlns:a="http://schemas.openxmlformats.org/drawingml/2006/main">
              <a:ext uri="{FF2B5EF4-FFF2-40B4-BE49-F238E27FC236}">
                <a16:creationId xmlns:a16="http://schemas.microsoft.com/office/drawing/2014/main" id="{46231F3D-C383-4015-88D7-A276B032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624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QUARANTINE</a:t>
            </a:r>
          </a:p>
        </p:txBody>
      </p:sp>
      <p:sp>
        <p:nvSpPr>
          <p:cNvPr id="24" name="quarantine-subtitle">
            <a:extLst xmlns:a="http://schemas.openxmlformats.org/drawingml/2006/main">
              <a:ext uri="{FF2B5EF4-FFF2-40B4-BE49-F238E27FC236}">
                <a16:creationId xmlns:a16="http://schemas.microsoft.com/office/drawing/2014/main" id="{EA24884A-CD13-431A-A503-94392F0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0062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bad input + reason</a:t>
            </a:r>
          </a:p>
        </p:txBody>
      </p:sp>
      <p:sp>
        <p:nvSpPr>
          <p:cNvPr id="25" name="valid-to-current">
            <a:extLst xmlns:a="http://schemas.openxmlformats.org/drawingml/2006/main">
              <a:ext uri="{FF2B5EF4-FFF2-40B4-BE49-F238E27FC236}">
                <a16:creationId xmlns:a16="http://schemas.microsoft.com/office/drawing/2014/main" id="{0318E41E-4658-4DE5-8EEC-68610222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67075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26" name="current-box">
            <a:extLst xmlns:a="http://schemas.openxmlformats.org/drawingml/2006/main">
              <a:ext uri="{FF2B5EF4-FFF2-40B4-BE49-F238E27FC236}">
                <a16:creationId xmlns:a16="http://schemas.microsoft.com/office/drawing/2014/main" id="{A6CD0379-394F-4ED2-B141-EEB412C5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2152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27" name="current-label">
            <a:extLst xmlns:a="http://schemas.openxmlformats.org/drawingml/2006/main">
              <a:ext uri="{FF2B5EF4-FFF2-40B4-BE49-F238E27FC236}">
                <a16:creationId xmlns:a16="http://schemas.microsoft.com/office/drawing/2014/main" id="{FD8EC04F-EE46-4352-999B-B699C761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CURRENT</a:t>
            </a:r>
          </a:p>
        </p:txBody>
      </p:sp>
      <p:sp>
        <p:nvSpPr>
          <p:cNvPr id="28" name="current-subtitle">
            <a:extLst xmlns:a="http://schemas.openxmlformats.org/drawingml/2006/main">
              <a:ext uri="{FF2B5EF4-FFF2-40B4-BE49-F238E27FC236}">
                <a16:creationId xmlns:a16="http://schemas.microsoft.com/office/drawing/2014/main" id="{54B5A8E1-23C2-487C-8EB9-B2AC244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48025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last-known-good pointer</a:t>
            </a:r>
          </a:p>
        </p:txBody>
      </p:sp>
      <p:sp>
        <p:nvSpPr>
          <p:cNvPr id="29" name="current-to-aap">
            <a:extLst xmlns:a="http://schemas.openxmlformats.org/drawingml/2006/main">
              <a:ext uri="{FF2B5EF4-FFF2-40B4-BE49-F238E27FC236}">
                <a16:creationId xmlns:a16="http://schemas.microsoft.com/office/drawing/2014/main" id="{BD942D9F-7EBE-40D9-AF6B-42A9E668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81450"/>
            <a:ext cx="0" cy="4381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30" name="sync-box">
            <a:extLst xmlns:a="http://schemas.openxmlformats.org/drawingml/2006/main">
              <a:ext uri="{FF2B5EF4-FFF2-40B4-BE49-F238E27FC236}">
                <a16:creationId xmlns:a16="http://schemas.microsoft.com/office/drawing/2014/main" id="{7320F386-2C2B-449E-B9C9-21FCD6F2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19600"/>
            <a:ext cx="21526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31" name="sync-label">
            <a:extLst xmlns:a="http://schemas.openxmlformats.org/drawingml/2006/main">
              <a:ext uri="{FF2B5EF4-FFF2-40B4-BE49-F238E27FC236}">
                <a16:creationId xmlns:a16="http://schemas.microsoft.com/office/drawing/2014/main" id="{36A92B4E-207A-4841-B854-761148C8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AAP SYNC</a:t>
            </a:r>
          </a:p>
        </p:txBody>
      </p:sp>
      <p:sp>
        <p:nvSpPr>
          <p:cNvPr id="32" name="sync-subtitle">
            <a:extLst xmlns:a="http://schemas.openxmlformats.org/drawingml/2006/main">
              <a:ext uri="{FF2B5EF4-FFF2-40B4-BE49-F238E27FC236}">
                <a16:creationId xmlns:a16="http://schemas.microsoft.com/office/drawing/2014/main" id="{AC9C9A49-AFB6-4C0A-A969-FF59F568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006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controller inventory source</a:t>
            </a:r>
          </a:p>
        </p:txBody>
      </p:sp>
      <p:sp>
        <p:nvSpPr>
          <p:cNvPr id="33" name="replay-box">
            <a:extLst xmlns:a="http://schemas.openxmlformats.org/drawingml/2006/main">
              <a:ext uri="{FF2B5EF4-FFF2-40B4-BE49-F238E27FC236}">
                <a16:creationId xmlns:a16="http://schemas.microsoft.com/office/drawing/2014/main" id="{4AA93A8D-6FE3-403A-822F-E8B514F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24500"/>
            <a:ext cx="640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2A"/>
          </a:solidFill>
          <a:ln xmlns:a="http://schemas.openxmlformats.org/drawingml/2006/main" w="9525">
            <a:solidFill>
              <a:srgbClr val="173B2A"/>
            </a:solidFill>
            <a:prstDash val="solid"/>
          </a:ln>
        </p:spPr>
      </p:sp>
      <p:sp>
        <p:nvSpPr>
          <p:cNvPr id="34" name="replay-text">
            <a:extLst xmlns:a="http://schemas.openxmlformats.org/drawingml/2006/main">
              <a:ext uri="{FF2B5EF4-FFF2-40B4-BE49-F238E27FC236}">
                <a16:creationId xmlns:a16="http://schemas.microsoft.com/office/drawing/2014/main" id="{A10850E2-27AF-42F7-A5A5-817E50F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72125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REPLAY-SAFE BY SOURCE + CHECKSUM + REPORT ID</a:t>
            </a:r>
          </a:p>
        </p:txBody>
      </p:sp>
    </p:spTree>
    <p:extLst>
      <p:ext uri="{BB962C8B-B14F-4D97-AF65-F5344CB8AC3E}">
        <p14:creationId xmlns:p14="http://schemas.microsoft.com/office/powerpoint/2010/main" val="1461721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blue">
            <a:extLst xmlns:a="http://schemas.openxmlformats.org/drawingml/2006/main">
              <a:ext uri="{FF2B5EF4-FFF2-40B4-BE49-F238E27FC236}">
                <a16:creationId xmlns:a16="http://schemas.microsoft.com/office/drawing/2014/main" id="{77DA7B26-20B6-44A3-8A80-3E4A5E99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CD33A85-B283-4E46-AB76-F069F9A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B0756550-BDD1-4605-AA6C-B0951D6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247A6FC-B7B1-4921-9C1C-76E4883E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CONTRACT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024F7B8-B2AC-46F2-9D75-3FB52079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The inventory snapshot makes freshness testable.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119847D-A451-4338-B7D4-9B9514A6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The contract sits between the report adapter and the AAP inventory adapter.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EDFBE35-CE0D-49D8-A178-EBCA7FC1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3D33798-5F79-4AD7-9E80-327C50FF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E39C60-93E6-4D85-BDFC-DEC4FA0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06</a:t>
            </a:r>
          </a:p>
        </p:txBody>
      </p:sp>
      <p:sp>
        <p:nvSpPr>
          <p:cNvPr id="10" name="code-box">
            <a:extLst xmlns:a="http://schemas.openxmlformats.org/drawingml/2006/main">
              <a:ext uri="{FF2B5EF4-FFF2-40B4-BE49-F238E27FC236}">
                <a16:creationId xmlns:a16="http://schemas.microsoft.com/office/drawing/2014/main" id="{A99AAFDD-4694-4792-B05E-B87222D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2387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C111A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0E04A476-5CC3-4D37-96FD-F739380A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7625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snapshot_id: inventory-2026-07-18T140000Z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source: enterprise-cmdb-report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schema_version: 1.0.0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produced_at: 13:45:00Z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received_at: 13:47:12Z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published_at: 13:48:03Z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checksum: sha256:example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accepted: 2397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rejected: 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freshness_seconds: 1083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E2F0"/>
                </a:solidFill>
              </a:defRPr>
            </a:pPr>
            <a:r>
              <a:rPr sz="1500" b="0" i="0">
                <a:solidFill>
                  <a:srgbClr val="D8E2F0"/>
                </a:solidFill>
              </a:rPr>
              <a:t>current: true</a:t>
            </a:r>
          </a:p>
        </p:txBody>
      </p:sp>
      <p:sp>
        <p:nvSpPr>
          <p:cNvPr id="12" name="guard-0-box">
            <a:extLst xmlns:a="http://schemas.openxmlformats.org/drawingml/2006/main">
              <a:ext uri="{FF2B5EF4-FFF2-40B4-BE49-F238E27FC236}">
                <a16:creationId xmlns:a16="http://schemas.microsoft.com/office/drawing/2014/main" id="{FAB28CA5-55B4-4396-A099-99977585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2343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3" name="guard-0-accent">
            <a:extLst xmlns:a="http://schemas.openxmlformats.org/drawingml/2006/main">
              <a:ext uri="{FF2B5EF4-FFF2-40B4-BE49-F238E27FC236}">
                <a16:creationId xmlns:a16="http://schemas.microsoft.com/office/drawing/2014/main" id="{51793EA6-906E-4435-97F9-CC7FDDBC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14" name="guard-0-title">
            <a:extLst xmlns:a="http://schemas.openxmlformats.org/drawingml/2006/main">
              <a:ext uri="{FF2B5EF4-FFF2-40B4-BE49-F238E27FC236}">
                <a16:creationId xmlns:a16="http://schemas.microsoft.com/office/drawing/2014/main" id="{756C65FF-A15C-42AC-818F-C9600199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Identity</a:t>
            </a:r>
          </a:p>
        </p:txBody>
      </p:sp>
      <p:sp>
        <p:nvSpPr>
          <p:cNvPr id="15" name="guard-0-body">
            <a:extLst xmlns:a="http://schemas.openxmlformats.org/drawingml/2006/main">
              <a:ext uri="{FF2B5EF4-FFF2-40B4-BE49-F238E27FC236}">
                <a16:creationId xmlns:a16="http://schemas.microsoft.com/office/drawing/2014/main" id="{D1FCCDC6-FEF8-4692-A993-5DC9A839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9B3C1"/>
                </a:solidFill>
              </a:defRPr>
            </a:pPr>
            <a:r>
              <a:rPr sz="1350" b="0" i="0">
                <a:solidFill>
                  <a:srgbClr val="A9B3C1"/>
                </a:solidFill>
              </a:rPr>
              <a:t>Stable source/provider identity; hostname is not the only key.</a:t>
            </a:r>
          </a:p>
        </p:txBody>
      </p:sp>
      <p:sp>
        <p:nvSpPr>
          <p:cNvPr id="16" name="guard-1-box">
            <a:extLst xmlns:a="http://schemas.openxmlformats.org/drawingml/2006/main">
              <a:ext uri="{FF2B5EF4-FFF2-40B4-BE49-F238E27FC236}">
                <a16:creationId xmlns:a16="http://schemas.microsoft.com/office/drawing/2014/main" id="{3CCF8AAF-5971-4F13-9A3C-6B42CFFD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343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7" name="guard-1-accent">
            <a:extLst xmlns:a="http://schemas.openxmlformats.org/drawingml/2006/main">
              <a:ext uri="{FF2B5EF4-FFF2-40B4-BE49-F238E27FC236}">
                <a16:creationId xmlns:a16="http://schemas.microsoft.com/office/drawing/2014/main" id="{9D1033B8-5907-4729-A814-2731E6AA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18" name="guard-1-title">
            <a:extLst xmlns:a="http://schemas.openxmlformats.org/drawingml/2006/main">
              <a:ext uri="{FF2B5EF4-FFF2-40B4-BE49-F238E27FC236}">
                <a16:creationId xmlns:a16="http://schemas.microsoft.com/office/drawing/2014/main" id="{490C6B22-581C-4828-9055-E2F578D1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Time</a:t>
            </a:r>
          </a:p>
        </p:txBody>
      </p:sp>
      <p:sp>
        <p:nvSpPr>
          <p:cNvPr id="19" name="guard-1-body">
            <a:extLst xmlns:a="http://schemas.openxmlformats.org/drawingml/2006/main">
              <a:ext uri="{FF2B5EF4-FFF2-40B4-BE49-F238E27FC236}">
                <a16:creationId xmlns:a16="http://schemas.microsoft.com/office/drawing/2014/main" id="{00557E42-E24C-4099-A06F-4FD02D03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9B3C1"/>
                </a:solidFill>
              </a:defRPr>
            </a:pPr>
            <a:r>
              <a:rPr sz="1350" b="0" i="0">
                <a:solidFill>
                  <a:srgbClr val="A9B3C1"/>
                </a:solidFill>
              </a:rPr>
              <a:t>Observation, production, receipt, and publication stay distinct.</a:t>
            </a:r>
          </a:p>
        </p:txBody>
      </p:sp>
      <p:sp>
        <p:nvSpPr>
          <p:cNvPr id="20" name="guard-2-box">
            <a:extLst xmlns:a="http://schemas.openxmlformats.org/drawingml/2006/main">
              <a:ext uri="{FF2B5EF4-FFF2-40B4-BE49-F238E27FC236}">
                <a16:creationId xmlns:a16="http://schemas.microsoft.com/office/drawing/2014/main" id="{7D54E5CB-CDAC-4FD3-94E0-FD51591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2343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21" name="guard-2-accent">
            <a:extLst xmlns:a="http://schemas.openxmlformats.org/drawingml/2006/main">
              <a:ext uri="{FF2B5EF4-FFF2-40B4-BE49-F238E27FC236}">
                <a16:creationId xmlns:a16="http://schemas.microsoft.com/office/drawing/2014/main" id="{B5051CA0-1266-46F3-85EA-D6A4990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22" name="guard-2-title">
            <a:extLst xmlns:a="http://schemas.openxmlformats.org/drawingml/2006/main">
              <a:ext uri="{FF2B5EF4-FFF2-40B4-BE49-F238E27FC236}">
                <a16:creationId xmlns:a16="http://schemas.microsoft.com/office/drawing/2014/main" id="{03E7094F-2783-455A-A742-8B4BBF3A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529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Quality</a:t>
            </a:r>
          </a:p>
        </p:txBody>
      </p:sp>
      <p:sp>
        <p:nvSpPr>
          <p:cNvPr id="23" name="guard-2-body">
            <a:extLst xmlns:a="http://schemas.openxmlformats.org/drawingml/2006/main">
              <a:ext uri="{FF2B5EF4-FFF2-40B4-BE49-F238E27FC236}">
                <a16:creationId xmlns:a16="http://schemas.microsoft.com/office/drawing/2014/main" id="{CDCBDCFF-9564-43D4-BE3E-B6623215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0100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9B3C1"/>
                </a:solidFill>
              </a:defRPr>
            </a:pPr>
            <a:r>
              <a:rPr sz="1350" b="0" i="0">
                <a:solidFill>
                  <a:srgbClr val="A9B3C1"/>
                </a:solidFill>
              </a:rPr>
              <a:t>Accepted, rejected, duplicate, and unresolved counts are explicit.</a:t>
            </a:r>
          </a:p>
        </p:txBody>
      </p:sp>
      <p:sp>
        <p:nvSpPr>
          <p:cNvPr id="24" name="guard-3-box">
            <a:extLst xmlns:a="http://schemas.openxmlformats.org/drawingml/2006/main">
              <a:ext uri="{FF2B5EF4-FFF2-40B4-BE49-F238E27FC236}">
                <a16:creationId xmlns:a16="http://schemas.microsoft.com/office/drawing/2014/main" id="{1D67B90C-FCB9-4678-BF21-BF54A241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62400"/>
            <a:ext cx="2343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25" name="guard-3-accent">
            <a:extLst xmlns:a="http://schemas.openxmlformats.org/drawingml/2006/main">
              <a:ext uri="{FF2B5EF4-FFF2-40B4-BE49-F238E27FC236}">
                <a16:creationId xmlns:a16="http://schemas.microsoft.com/office/drawing/2014/main" id="{95F12B8F-2E5A-4F83-A76B-ACA1AF3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624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26" name="guard-3-title">
            <a:extLst xmlns:a="http://schemas.openxmlformats.org/drawingml/2006/main">
              <a:ext uri="{FF2B5EF4-FFF2-40B4-BE49-F238E27FC236}">
                <a16:creationId xmlns:a16="http://schemas.microsoft.com/office/drawing/2014/main" id="{0E0916AD-915B-43DD-BE02-7A935CF4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529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Safety</a:t>
            </a:r>
          </a:p>
        </p:txBody>
      </p:sp>
      <p:sp>
        <p:nvSpPr>
          <p:cNvPr id="27" name="guard-3-body">
            <a:extLst xmlns:a="http://schemas.openxmlformats.org/drawingml/2006/main">
              <a:ext uri="{FF2B5EF4-FFF2-40B4-BE49-F238E27FC236}">
                <a16:creationId xmlns:a16="http://schemas.microsoft.com/office/drawing/2014/main" id="{C1B7F82E-FFE5-4250-A002-4D7BEB07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10100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9B3C1"/>
                </a:solidFill>
              </a:defRPr>
            </a:pPr>
            <a:r>
              <a:rPr sz="1350" b="0" i="0">
                <a:solidFill>
                  <a:srgbClr val="A9B3C1"/>
                </a:solidFill>
              </a:rPr>
              <a:t>A stale or malformed snapshot cannot silently become current.</a:t>
            </a:r>
          </a:p>
        </p:txBody>
      </p:sp>
    </p:spTree>
    <p:extLst>
      <p:ext uri="{BB962C8B-B14F-4D97-AF65-F5344CB8AC3E}">
        <p14:creationId xmlns:p14="http://schemas.microsoft.com/office/powerpoint/2010/main" val="1523851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blue">
            <a:extLst xmlns:a="http://schemas.openxmlformats.org/drawingml/2006/main">
              <a:ext uri="{FF2B5EF4-FFF2-40B4-BE49-F238E27FC236}">
                <a16:creationId xmlns:a16="http://schemas.microsoft.com/office/drawing/2014/main" id="{EB32E270-E4FC-47C4-995C-3A40B445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D6D2348-EA8C-41B0-A4D2-EAFB0C4F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2202183E-A537-4091-B4D0-B3870AA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E6C6893-BEBA-470A-BADF-F4BFE7F0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8A7E8"/>
                </a:solidFill>
              </a:defRPr>
            </a:pPr>
            <a:r>
              <a:rPr sz="1200" b="1" i="0">
                <a:solidFill>
                  <a:srgbClr val="28A7E8"/>
                </a:solidFill>
              </a:rPr>
              <a:t>CONTROLLER INTEGRATION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C0368A-E719-41F3-9094-26980EF0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AAP synchronizes inventory; jobs consume it.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977FF54-1225-48EC-B898-D26B07E5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Inventory freshness is a dependency that can pass or stop the workflow.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CD105FB-8B85-4A37-8422-377AF29B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D599525-D5CF-474E-9B6C-737CE733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E9DDDE-FFA7-4491-8AAE-043F5E2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07</a:t>
            </a:r>
          </a:p>
        </p:txBody>
      </p:sp>
      <p:sp>
        <p:nvSpPr>
          <p:cNvPr id="10" name="projection-box">
            <a:extLst xmlns:a="http://schemas.openxmlformats.org/drawingml/2006/main">
              <a:ext uri="{FF2B5EF4-FFF2-40B4-BE49-F238E27FC236}">
                <a16:creationId xmlns:a16="http://schemas.microsoft.com/office/drawing/2014/main" id="{78901E94-18A7-471D-880D-1F99F7FF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76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1" name="projection-label">
            <a:extLst xmlns:a="http://schemas.openxmlformats.org/drawingml/2006/main">
              <a:ext uri="{FF2B5EF4-FFF2-40B4-BE49-F238E27FC236}">
                <a16:creationId xmlns:a16="http://schemas.microsoft.com/office/drawing/2014/main" id="{8F59D2A3-2C63-4BD7-BE2B-03D9925C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Projection</a:t>
            </a:r>
          </a:p>
        </p:txBody>
      </p:sp>
      <p:sp>
        <p:nvSpPr>
          <p:cNvPr id="12" name="projection-subtitle">
            <a:extLst xmlns:a="http://schemas.openxmlformats.org/drawingml/2006/main">
              <a:ext uri="{FF2B5EF4-FFF2-40B4-BE49-F238E27FC236}">
                <a16:creationId xmlns:a16="http://schemas.microsoft.com/office/drawing/2014/main" id="{77B1C798-9A2C-4D42-9081-E3E0D6FF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validated inventory</a:t>
            </a:r>
          </a:p>
        </p:txBody>
      </p:sp>
      <p:sp>
        <p:nvSpPr>
          <p:cNvPr id="13" name="projection-to-sync">
            <a:extLst xmlns:a="http://schemas.openxmlformats.org/drawingml/2006/main">
              <a:ext uri="{FF2B5EF4-FFF2-40B4-BE49-F238E27FC236}">
                <a16:creationId xmlns:a16="http://schemas.microsoft.com/office/drawing/2014/main" id="{7308B5CD-BFF5-46A8-B275-3771B185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147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14" name="inventory-sync-box">
            <a:extLst xmlns:a="http://schemas.openxmlformats.org/drawingml/2006/main">
              <a:ext uri="{FF2B5EF4-FFF2-40B4-BE49-F238E27FC236}">
                <a16:creationId xmlns:a16="http://schemas.microsoft.com/office/drawing/2014/main" id="{CA43FB4E-1B8F-4EB9-8B3E-2E41BB2F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076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5" name="inventory-sync-label">
            <a:extLst xmlns:a="http://schemas.openxmlformats.org/drawingml/2006/main">
              <a:ext uri="{FF2B5EF4-FFF2-40B4-BE49-F238E27FC236}">
                <a16:creationId xmlns:a16="http://schemas.microsoft.com/office/drawing/2014/main" id="{EFE03F82-B3DC-4641-BB7A-F52C460B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956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Source sync</a:t>
            </a:r>
          </a:p>
        </p:txBody>
      </p:sp>
      <p:sp>
        <p:nvSpPr>
          <p:cNvPr id="16" name="inventory-sync-subtitle">
            <a:extLst xmlns:a="http://schemas.openxmlformats.org/drawingml/2006/main">
              <a:ext uri="{FF2B5EF4-FFF2-40B4-BE49-F238E27FC236}">
                <a16:creationId xmlns:a16="http://schemas.microsoft.com/office/drawing/2014/main" id="{1DAEDEB8-E8BC-414D-826B-5561A16A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37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schedule / update on launch</a:t>
            </a:r>
          </a:p>
        </p:txBody>
      </p:sp>
      <p:sp>
        <p:nvSpPr>
          <p:cNvPr id="17" name="sync-to-gate">
            <a:extLst xmlns:a="http://schemas.openxmlformats.org/drawingml/2006/main">
              <a:ext uri="{FF2B5EF4-FFF2-40B4-BE49-F238E27FC236}">
                <a16:creationId xmlns:a16="http://schemas.microsoft.com/office/drawing/2014/main" id="{2E3467AE-3CBF-477A-918E-77D31C70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1472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18" name="freshness-box">
            <a:extLst xmlns:a="http://schemas.openxmlformats.org/drawingml/2006/main">
              <a:ext uri="{FF2B5EF4-FFF2-40B4-BE49-F238E27FC236}">
                <a16:creationId xmlns:a16="http://schemas.microsoft.com/office/drawing/2014/main" id="{8AACC377-B094-48AC-9460-4E739A3C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19" name="freshness-label">
            <a:extLst xmlns:a="http://schemas.openxmlformats.org/drawingml/2006/main">
              <a:ext uri="{FF2B5EF4-FFF2-40B4-BE49-F238E27FC236}">
                <a16:creationId xmlns:a16="http://schemas.microsoft.com/office/drawing/2014/main" id="{F65767E1-76F0-4EB7-91F8-C178CB4F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956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Freshness gate</a:t>
            </a:r>
          </a:p>
        </p:txBody>
      </p:sp>
      <p:sp>
        <p:nvSpPr>
          <p:cNvPr id="20" name="freshness-subtitle">
            <a:extLst xmlns:a="http://schemas.openxmlformats.org/drawingml/2006/main">
              <a:ext uri="{FF2B5EF4-FFF2-40B4-BE49-F238E27FC236}">
                <a16:creationId xmlns:a16="http://schemas.microsoft.com/office/drawing/2014/main" id="{A696B8EA-9D50-4A4E-A5E1-11836054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337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age + sync result</a:t>
            </a:r>
          </a:p>
        </p:txBody>
      </p:sp>
      <p:sp>
        <p:nvSpPr>
          <p:cNvPr id="21" name="gate-to-groups">
            <a:extLst xmlns:a="http://schemas.openxmlformats.org/drawingml/2006/main">
              <a:ext uri="{FF2B5EF4-FFF2-40B4-BE49-F238E27FC236}">
                <a16:creationId xmlns:a16="http://schemas.microsoft.com/office/drawing/2014/main" id="{229D9D84-A760-483F-86E7-FFBB09D6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1472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22" name="groups-box">
            <a:extLst xmlns:a="http://schemas.openxmlformats.org/drawingml/2006/main">
              <a:ext uri="{FF2B5EF4-FFF2-40B4-BE49-F238E27FC236}">
                <a16:creationId xmlns:a16="http://schemas.microsoft.com/office/drawing/2014/main" id="{B9A04851-3CA7-437D-B7C8-AA889FF6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3" name="groups-label">
            <a:extLst xmlns:a="http://schemas.openxmlformats.org/drawingml/2006/main">
              <a:ext uri="{FF2B5EF4-FFF2-40B4-BE49-F238E27FC236}">
                <a16:creationId xmlns:a16="http://schemas.microsoft.com/office/drawing/2014/main" id="{FDBFF8E4-E953-4B70-B368-ED6AD4B4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95625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Construct groups</a:t>
            </a:r>
          </a:p>
        </p:txBody>
      </p:sp>
      <p:sp>
        <p:nvSpPr>
          <p:cNvPr id="24" name="groups-subtitle">
            <a:extLst xmlns:a="http://schemas.openxmlformats.org/drawingml/2006/main">
              <a:ext uri="{FF2B5EF4-FFF2-40B4-BE49-F238E27FC236}">
                <a16:creationId xmlns:a16="http://schemas.microsoft.com/office/drawing/2014/main" id="{24D19BF6-9066-4460-8494-1DEF36F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337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Windows • Linux • lifecycle</a:t>
            </a:r>
          </a:p>
        </p:txBody>
      </p:sp>
      <p:sp>
        <p:nvSpPr>
          <p:cNvPr id="25" name="groups-to-job">
            <a:extLst xmlns:a="http://schemas.openxmlformats.org/drawingml/2006/main">
              <a:ext uri="{FF2B5EF4-FFF2-40B4-BE49-F238E27FC236}">
                <a16:creationId xmlns:a16="http://schemas.microsoft.com/office/drawing/2014/main" id="{170217AB-B4DA-4183-BEA6-F9447AA0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1472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26" name="job-box">
            <a:extLst xmlns:a="http://schemas.openxmlformats.org/drawingml/2006/main">
              <a:ext uri="{FF2B5EF4-FFF2-40B4-BE49-F238E27FC236}">
                <a16:creationId xmlns:a16="http://schemas.microsoft.com/office/drawing/2014/main" id="{01DBCF13-7B89-4148-BCBF-EBBD4D1D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52750"/>
            <a:ext cx="857250" cy="11239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7" name="job-label">
            <a:extLst xmlns:a="http://schemas.openxmlformats.org/drawingml/2006/main">
              <a:ext uri="{FF2B5EF4-FFF2-40B4-BE49-F238E27FC236}">
                <a16:creationId xmlns:a16="http://schemas.microsoft.com/office/drawing/2014/main" id="{C0EC09A4-2C68-47E6-9129-66D81C6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095625"/>
            <a:ext cx="590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Run job</a:t>
            </a:r>
          </a:p>
        </p:txBody>
      </p:sp>
      <p:sp>
        <p:nvSpPr>
          <p:cNvPr id="28" name="gate-fail">
            <a:extLst xmlns:a="http://schemas.openxmlformats.org/drawingml/2006/main">
              <a:ext uri="{FF2B5EF4-FFF2-40B4-BE49-F238E27FC236}">
                <a16:creationId xmlns:a16="http://schemas.microsoft.com/office/drawing/2014/main" id="{21347498-5FB3-412C-AC4E-E847FE3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0" cy="666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07C28"/>
            </a:solidFill>
            <a:prstDash val="solid"/>
          </a:ln>
        </p:spPr>
      </p:sp>
      <p:sp>
        <p:nvSpPr>
          <p:cNvPr id="29" name="stop-box">
            <a:extLst xmlns:a="http://schemas.openxmlformats.org/drawingml/2006/main">
              <a:ext uri="{FF2B5EF4-FFF2-40B4-BE49-F238E27FC236}">
                <a16:creationId xmlns:a16="http://schemas.microsoft.com/office/drawing/2014/main" id="{FBB9517C-E2B8-42B9-A40A-9D02744A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577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30" name="stop-text">
            <a:extLst xmlns:a="http://schemas.openxmlformats.org/drawingml/2006/main">
              <a:ext uri="{FF2B5EF4-FFF2-40B4-BE49-F238E27FC236}">
                <a16:creationId xmlns:a16="http://schemas.microsoft.com/office/drawing/2014/main" id="{9E8CC185-909B-40A5-8730-66C5A911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48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7F9FC"/>
                </a:solidFill>
              </a:defRPr>
            </a:pPr>
            <a:r>
              <a:rPr sz="1425" b="1" i="0">
                <a:solidFill>
                  <a:srgbClr val="F7F9FC"/>
                </a:solidFill>
              </a:rPr>
              <a:t>STALE / FAILED → STOP + ALERT</a:t>
            </a:r>
          </a:p>
        </p:txBody>
      </p:sp>
      <p:sp>
        <p:nvSpPr>
          <p:cNvPr id="31" name="controller-source">
            <a:extLst xmlns:a="http://schemas.openxmlformats.org/drawingml/2006/main">
              <a:ext uri="{FF2B5EF4-FFF2-40B4-BE49-F238E27FC236}">
                <a16:creationId xmlns:a16="http://schemas.microsoft.com/office/drawing/2014/main" id="{A5452F62-8F25-4DAC-AEC9-204411FA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57184"/>
                </a:solidFill>
              </a:defRPr>
            </a:pPr>
            <a:r>
              <a:rPr sz="1050" b="0" i="0">
                <a:solidFill>
                  <a:srgbClr val="657184"/>
                </a:solidFill>
              </a:rPr>
              <a:t>Source basis: Red Hat AAP inventories and controller best practices; upstream Ansible inventory plugins and caching.</a:t>
            </a:r>
          </a:p>
        </p:txBody>
      </p:sp>
    </p:spTree>
    <p:extLst>
      <p:ext uri="{BB962C8B-B14F-4D97-AF65-F5344CB8AC3E}">
        <p14:creationId xmlns:p14="http://schemas.microsoft.com/office/powerpoint/2010/main" val="240424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blue">
            <a:extLst xmlns:a="http://schemas.openxmlformats.org/drawingml/2006/main">
              <a:ext uri="{FF2B5EF4-FFF2-40B4-BE49-F238E27FC236}">
                <a16:creationId xmlns:a16="http://schemas.microsoft.com/office/drawing/2014/main" id="{E3BA661A-0881-4590-AF51-0A080333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8B82CA3-0C90-429D-9128-EA5B8C65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08830E31-8CFC-4CA1-ACAF-BE0CB0F7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BC7B014-2FAB-4794-94C1-A4FD5E7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EXECUTION OWNERSHIP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E6EE41-F7F3-420C-8022-AC576E7F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Separate ingestion, sync, and automation.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030DD1C-EB04-4A64-B288-726C4833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Each component has one reason to retry and one durable evidence boundary.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E7C6902-9CAA-4267-8E91-7818437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119D548-A0C3-4062-A7AF-503D8EB9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38F8BE3-E3FB-4580-A0C6-D4C46FDC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08</a:t>
            </a:r>
          </a:p>
        </p:txBody>
      </p:sp>
      <p:sp>
        <p:nvSpPr>
          <p:cNvPr id="10" name="owner-0-box">
            <a:extLst xmlns:a="http://schemas.openxmlformats.org/drawingml/2006/main">
              <a:ext uri="{FF2B5EF4-FFF2-40B4-BE49-F238E27FC236}">
                <a16:creationId xmlns:a16="http://schemas.microsoft.com/office/drawing/2014/main" id="{3BA1A9BC-369F-4109-A93B-5EFE9BD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1" name="owner-0-accent">
            <a:extLst xmlns:a="http://schemas.openxmlformats.org/drawingml/2006/main">
              <a:ext uri="{FF2B5EF4-FFF2-40B4-BE49-F238E27FC236}">
                <a16:creationId xmlns:a16="http://schemas.microsoft.com/office/drawing/2014/main" id="{3CF02D26-DB2B-425D-A31E-A3046E1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12" name="owner-0-title">
            <a:extLst xmlns:a="http://schemas.openxmlformats.org/drawingml/2006/main">
              <a:ext uri="{FF2B5EF4-FFF2-40B4-BE49-F238E27FC236}">
                <a16:creationId xmlns:a16="http://schemas.microsoft.com/office/drawing/2014/main" id="{50F05CBE-02B1-4DEE-980B-C9C2EAA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Object store</a:t>
            </a:r>
          </a:p>
        </p:txBody>
      </p:sp>
      <p:sp>
        <p:nvSpPr>
          <p:cNvPr id="13" name="owner-0-body">
            <a:extLst xmlns:a="http://schemas.openxmlformats.org/drawingml/2006/main">
              <a:ext uri="{FF2B5EF4-FFF2-40B4-BE49-F238E27FC236}">
                <a16:creationId xmlns:a16="http://schemas.microsoft.com/office/drawing/2014/main" id="{E4BF3DCC-3608-4719-9944-692D24F2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0574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Retains raw, quarantine,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validated, current,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and evidence artifacts.</a:t>
            </a:r>
          </a:p>
        </p:txBody>
      </p:sp>
      <p:sp>
        <p:nvSpPr>
          <p:cNvPr id="14" name="owner-arrow-0">
            <a:extLst xmlns:a="http://schemas.openxmlformats.org/drawingml/2006/main">
              <a:ext uri="{FF2B5EF4-FFF2-40B4-BE49-F238E27FC236}">
                <a16:creationId xmlns:a16="http://schemas.microsoft.com/office/drawing/2014/main" id="{73670E05-3466-48F1-B6F6-558E9FA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15" name="owner-1-box">
            <a:extLst xmlns:a="http://schemas.openxmlformats.org/drawingml/2006/main">
              <a:ext uri="{FF2B5EF4-FFF2-40B4-BE49-F238E27FC236}">
                <a16:creationId xmlns:a16="http://schemas.microsoft.com/office/drawing/2014/main" id="{1FC8E969-4E2D-4BC8-B294-297B6189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6" name="owner-1-accent">
            <a:extLst xmlns:a="http://schemas.openxmlformats.org/drawingml/2006/main">
              <a:ext uri="{FF2B5EF4-FFF2-40B4-BE49-F238E27FC236}">
                <a16:creationId xmlns:a16="http://schemas.microsoft.com/office/drawing/2014/main" id="{F2671B8F-73B2-4907-A0CD-DC0DDB08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17" name="owner-1-title">
            <a:extLst xmlns:a="http://schemas.openxmlformats.org/drawingml/2006/main">
              <a:ext uri="{FF2B5EF4-FFF2-40B4-BE49-F238E27FC236}">
                <a16:creationId xmlns:a16="http://schemas.microsoft.com/office/drawing/2014/main" id="{F06E3F30-5A3B-4F50-9C21-05A98477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Ingestion worker</a:t>
            </a:r>
          </a:p>
        </p:txBody>
      </p:sp>
      <p:sp>
        <p:nvSpPr>
          <p:cNvPr id="18" name="owner-1-body">
            <a:extLst xmlns:a="http://schemas.openxmlformats.org/drawingml/2006/main">
              <a:ext uri="{FF2B5EF4-FFF2-40B4-BE49-F238E27FC236}">
                <a16:creationId xmlns:a16="http://schemas.microsoft.com/office/drawing/2014/main" id="{F76977F4-7D95-4D2E-A3B2-E800507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20574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Detects delivery.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Validates and normalizes.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Publishes atomically.</a:t>
            </a:r>
          </a:p>
        </p:txBody>
      </p:sp>
      <p:sp>
        <p:nvSpPr>
          <p:cNvPr id="19" name="owner-arrow-1">
            <a:extLst xmlns:a="http://schemas.openxmlformats.org/drawingml/2006/main">
              <a:ext uri="{FF2B5EF4-FFF2-40B4-BE49-F238E27FC236}">
                <a16:creationId xmlns:a16="http://schemas.microsoft.com/office/drawing/2014/main" id="{23DD6FE1-39B6-4809-8B9C-72B54EB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766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20" name="owner-2-box">
            <a:extLst xmlns:a="http://schemas.openxmlformats.org/drawingml/2006/main">
              <a:ext uri="{FF2B5EF4-FFF2-40B4-BE49-F238E27FC236}">
                <a16:creationId xmlns:a16="http://schemas.microsoft.com/office/drawing/2014/main" id="{9F50EA8E-2269-4E78-A18E-53C1EFB6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21" name="owner-2-accent">
            <a:extLst xmlns:a="http://schemas.openxmlformats.org/drawingml/2006/main">
              <a:ext uri="{FF2B5EF4-FFF2-40B4-BE49-F238E27FC236}">
                <a16:creationId xmlns:a16="http://schemas.microsoft.com/office/drawing/2014/main" id="{1BFE9DBB-4A1B-4051-A92A-33A67DB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22" name="owner-2-title">
            <a:extLst xmlns:a="http://schemas.openxmlformats.org/drawingml/2006/main">
              <a:ext uri="{FF2B5EF4-FFF2-40B4-BE49-F238E27FC236}">
                <a16:creationId xmlns:a16="http://schemas.microsoft.com/office/drawing/2014/main" id="{5317E29F-C7BF-45E8-8D4F-740BDF62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AAP controller</a:t>
            </a:r>
          </a:p>
        </p:txBody>
      </p:sp>
      <p:sp>
        <p:nvSpPr>
          <p:cNvPr id="23" name="owner-2-body">
            <a:extLst xmlns:a="http://schemas.openxmlformats.org/drawingml/2006/main">
              <a:ext uri="{FF2B5EF4-FFF2-40B4-BE49-F238E27FC236}">
                <a16:creationId xmlns:a16="http://schemas.microsoft.com/office/drawing/2014/main" id="{46ECE53A-A1B2-48F3-94EC-E01F0C4A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20574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Synchronizes inventory.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Applies freshness gate.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Records job history.</a:t>
            </a:r>
          </a:p>
        </p:txBody>
      </p:sp>
      <p:sp>
        <p:nvSpPr>
          <p:cNvPr id="24" name="owner-arrow-2">
            <a:extLst xmlns:a="http://schemas.openxmlformats.org/drawingml/2006/main">
              <a:ext uri="{FF2B5EF4-FFF2-40B4-BE49-F238E27FC236}">
                <a16:creationId xmlns:a16="http://schemas.microsoft.com/office/drawing/2014/main" id="{3420485B-25F6-4145-9AD1-F81CE246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766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25" name="owner-3-box">
            <a:extLst xmlns:a="http://schemas.openxmlformats.org/drawingml/2006/main">
              <a:ext uri="{FF2B5EF4-FFF2-40B4-BE49-F238E27FC236}">
                <a16:creationId xmlns:a16="http://schemas.microsoft.com/office/drawing/2014/main" id="{000A4481-AE6A-4134-9D23-78C9A001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26" name="owner-3-accent">
            <a:extLst xmlns:a="http://schemas.openxmlformats.org/drawingml/2006/main">
              <a:ext uri="{FF2B5EF4-FFF2-40B4-BE49-F238E27FC236}">
                <a16:creationId xmlns:a16="http://schemas.microsoft.com/office/drawing/2014/main" id="{473F70D1-8498-4654-9C8B-4C78BFBB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7" name="owner-3-title">
            <a:extLst xmlns:a="http://schemas.openxmlformats.org/drawingml/2006/main">
              <a:ext uri="{FF2B5EF4-FFF2-40B4-BE49-F238E27FC236}">
                <a16:creationId xmlns:a16="http://schemas.microsoft.com/office/drawing/2014/main" id="{BFA87A8A-817D-4A41-A954-788BF4D5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Automation jobs</a:t>
            </a:r>
          </a:p>
        </p:txBody>
      </p:sp>
      <p:sp>
        <p:nvSpPr>
          <p:cNvPr id="28" name="owner-3-body">
            <a:extLst xmlns:a="http://schemas.openxmlformats.org/drawingml/2006/main">
              <a:ext uri="{FF2B5EF4-FFF2-40B4-BE49-F238E27FC236}">
                <a16:creationId xmlns:a16="http://schemas.microsoft.com/office/drawing/2014/main" id="{03640F95-1081-4BD9-8211-D6178F4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20574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Consume inventory.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Run focused work.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Never parse reports.</a:t>
            </a:r>
          </a:p>
        </p:txBody>
      </p:sp>
      <p:sp>
        <p:nvSpPr>
          <p:cNvPr id="29" name="localhost-rule">
            <a:extLst xmlns:a="http://schemas.openxmlformats.org/drawingml/2006/main">
              <a:ext uri="{FF2B5EF4-FFF2-40B4-BE49-F238E27FC236}">
                <a16:creationId xmlns:a16="http://schemas.microsoft.com/office/drawing/2014/main" id="{AEB065A5-C86D-46AD-81A8-EB15B0B3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84201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30" name="localhost-rule-text">
            <a:extLst xmlns:a="http://schemas.openxmlformats.org/drawingml/2006/main">
              <a:ext uri="{FF2B5EF4-FFF2-40B4-BE49-F238E27FC236}">
                <a16:creationId xmlns:a16="http://schemas.microsoft.com/office/drawing/2014/main" id="{26ED3E11-7F97-407A-A101-98147585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86400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7F9FC"/>
                </a:solidFill>
              </a:defRPr>
            </a:pPr>
            <a:r>
              <a:rPr sz="1500" b="1" i="0">
                <a:solidFill>
                  <a:srgbClr val="F7F9FC"/>
                </a:solidFill>
              </a:rPr>
              <a:t>Local execution is valid for a bounded task in an EE—not as a launcher for persistent shadow state.</a:t>
            </a:r>
          </a:p>
        </p:txBody>
      </p:sp>
    </p:spTree>
    <p:extLst>
      <p:ext uri="{BB962C8B-B14F-4D97-AF65-F5344CB8AC3E}">
        <p14:creationId xmlns:p14="http://schemas.microsoft.com/office/powerpoint/2010/main" val="375522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blue">
            <a:extLst xmlns:a="http://schemas.openxmlformats.org/drawingml/2006/main">
              <a:ext uri="{FF2B5EF4-FFF2-40B4-BE49-F238E27FC236}">
                <a16:creationId xmlns:a16="http://schemas.microsoft.com/office/drawing/2014/main" id="{67E99A0B-A817-4CB1-A36F-458995F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F71D3CF2-22E1-4D5F-B66A-EA433F0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CAC8B0D4-3F24-4840-93EF-96F409E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2C7AE4B-9E53-47B4-A1C1-E1EE614E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IDEAL CMDB BOUNDARY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4F482D-637F-42CB-A941-0EDAB0DC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Use source datasets and reconciliation.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4AC32FC-983B-4F2C-AE56-9A75C71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Never write the production dataset directly; keep attribute ownership explicit.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3ABCFE9-00D1-4AF0-88DB-EE705869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FA8942E-2763-48D7-A7BE-7F954A38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E8029A-0942-468B-9847-A907AF23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09</a:t>
            </a:r>
          </a:p>
        </p:txBody>
      </p:sp>
      <p:sp>
        <p:nvSpPr>
          <p:cNvPr id="10" name="auto-dataset-box">
            <a:extLst xmlns:a="http://schemas.openxmlformats.org/drawingml/2006/main">
              <a:ext uri="{FF2B5EF4-FFF2-40B4-BE49-F238E27FC236}">
                <a16:creationId xmlns:a16="http://schemas.microsoft.com/office/drawing/2014/main" id="{FC759D0A-CDC2-45E3-9AA8-8FED200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11" name="auto-dataset-label">
            <a:extLst xmlns:a="http://schemas.openxmlformats.org/drawingml/2006/main">
              <a:ext uri="{FF2B5EF4-FFF2-40B4-BE49-F238E27FC236}">
                <a16:creationId xmlns:a16="http://schemas.microsoft.com/office/drawing/2014/main" id="{B6434445-1D64-4A81-92E0-9A427E7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Automation dataset</a:t>
            </a:r>
          </a:p>
        </p:txBody>
      </p:sp>
      <p:sp>
        <p:nvSpPr>
          <p:cNvPr id="12" name="auto-dataset-subtitle">
            <a:extLst xmlns:a="http://schemas.openxmlformats.org/drawingml/2006/main">
              <a:ext uri="{FF2B5EF4-FFF2-40B4-BE49-F238E27FC236}">
                <a16:creationId xmlns:a16="http://schemas.microsoft.com/office/drawing/2014/main" id="{9F13FB9F-566E-4BF1-B91F-142D529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intent + handoff evidence</a:t>
            </a:r>
          </a:p>
        </p:txBody>
      </p:sp>
      <p:sp>
        <p:nvSpPr>
          <p:cNvPr id="13" name="disc-dataset-box">
            <a:extLst xmlns:a="http://schemas.openxmlformats.org/drawingml/2006/main">
              <a:ext uri="{FF2B5EF4-FFF2-40B4-BE49-F238E27FC236}">
                <a16:creationId xmlns:a16="http://schemas.microsoft.com/office/drawing/2014/main" id="{77637CE0-3B4F-4F81-A53D-A91C4B2D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4" name="disc-dataset-label">
            <a:extLst xmlns:a="http://schemas.openxmlformats.org/drawingml/2006/main">
              <a:ext uri="{FF2B5EF4-FFF2-40B4-BE49-F238E27FC236}">
                <a16:creationId xmlns:a16="http://schemas.microsoft.com/office/drawing/2014/main" id="{8C933DBA-33A0-43DB-93E9-8868A8E7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Discovery dataset</a:t>
            </a:r>
          </a:p>
        </p:txBody>
      </p:sp>
      <p:sp>
        <p:nvSpPr>
          <p:cNvPr id="15" name="disc-dataset-subtitle">
            <a:extLst xmlns:a="http://schemas.openxmlformats.org/drawingml/2006/main">
              <a:ext uri="{FF2B5EF4-FFF2-40B4-BE49-F238E27FC236}">
                <a16:creationId xmlns:a16="http://schemas.microsoft.com/office/drawing/2014/main" id="{102E00CA-5635-44B9-95B1-81FBECC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2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runtime observations</a:t>
            </a:r>
          </a:p>
        </p:txBody>
      </p:sp>
      <p:sp>
        <p:nvSpPr>
          <p:cNvPr id="16" name="auto-id">
            <a:extLst xmlns:a="http://schemas.openxmlformats.org/drawingml/2006/main">
              <a:ext uri="{FF2B5EF4-FFF2-40B4-BE49-F238E27FC236}">
                <a16:creationId xmlns:a16="http://schemas.microsoft.com/office/drawing/2014/main" id="{096A7DFA-3360-4E08-A603-E05B295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07C28"/>
            </a:solidFill>
            <a:prstDash val="solid"/>
          </a:ln>
        </p:spPr>
      </p:sp>
      <p:sp>
        <p:nvSpPr>
          <p:cNvPr id="17" name="disc-id">
            <a:extLst xmlns:a="http://schemas.openxmlformats.org/drawingml/2006/main">
              <a:ext uri="{FF2B5EF4-FFF2-40B4-BE49-F238E27FC236}">
                <a16:creationId xmlns:a16="http://schemas.microsoft.com/office/drawing/2014/main" id="{9261C44C-BF9B-4DD7-BD57-254DFB6D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18" name="identify-box">
            <a:extLst xmlns:a="http://schemas.openxmlformats.org/drawingml/2006/main">
              <a:ext uri="{FF2B5EF4-FFF2-40B4-BE49-F238E27FC236}">
                <a16:creationId xmlns:a16="http://schemas.microsoft.com/office/drawing/2014/main" id="{621A22E9-97DF-42F0-AE44-5E57CEE0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1809750" cy="29908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19" name="identify-label">
            <a:extLst xmlns:a="http://schemas.openxmlformats.org/drawingml/2006/main">
              <a:ext uri="{FF2B5EF4-FFF2-40B4-BE49-F238E27FC236}">
                <a16:creationId xmlns:a16="http://schemas.microsoft.com/office/drawing/2014/main" id="{15CDB926-78E4-4E31-8854-4D42EF1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03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Identify</a:t>
            </a:r>
          </a:p>
        </p:txBody>
      </p:sp>
      <p:sp>
        <p:nvSpPr>
          <p:cNvPr id="20" name="identify-subtitle">
            <a:extLst xmlns:a="http://schemas.openxmlformats.org/drawingml/2006/main">
              <a:ext uri="{FF2B5EF4-FFF2-40B4-BE49-F238E27FC236}">
                <a16:creationId xmlns:a16="http://schemas.microsoft.com/office/drawing/2014/main" id="{75E33474-2445-4071-8561-9A93F3A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1543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match the CI</a:t>
            </a:r>
          </a:p>
        </p:txBody>
      </p:sp>
      <p:sp>
        <p:nvSpPr>
          <p:cNvPr id="21" name="identify-merge">
            <a:extLst xmlns:a="http://schemas.openxmlformats.org/drawingml/2006/main">
              <a:ext uri="{FF2B5EF4-FFF2-40B4-BE49-F238E27FC236}">
                <a16:creationId xmlns:a16="http://schemas.microsoft.com/office/drawing/2014/main" id="{BFF23ED6-252C-4DF6-B5CB-F31AD14C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22" name="merge-box">
            <a:extLst xmlns:a="http://schemas.openxmlformats.org/drawingml/2006/main">
              <a:ext uri="{FF2B5EF4-FFF2-40B4-BE49-F238E27FC236}">
                <a16:creationId xmlns:a16="http://schemas.microsoft.com/office/drawing/2014/main" id="{0C7D8CEA-D52B-4AC1-8D73-296E145A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3" name="merge-label">
            <a:extLst xmlns:a="http://schemas.openxmlformats.org/drawingml/2006/main">
              <a:ext uri="{FF2B5EF4-FFF2-40B4-BE49-F238E27FC236}">
                <a16:creationId xmlns:a16="http://schemas.microsoft.com/office/drawing/2014/main" id="{EE7FA6CD-AD58-4030-B43B-7B7589E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Reconcile + merge</a:t>
            </a:r>
          </a:p>
        </p:txBody>
      </p:sp>
      <p:sp>
        <p:nvSpPr>
          <p:cNvPr id="24" name="merge-subtitle">
            <a:extLst xmlns:a="http://schemas.openxmlformats.org/drawingml/2006/main">
              <a:ext uri="{FF2B5EF4-FFF2-40B4-BE49-F238E27FC236}">
                <a16:creationId xmlns:a16="http://schemas.microsoft.com/office/drawing/2014/main" id="{DAE8A76B-2191-4817-8E35-A07D1DF8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source / attribute precedence</a:t>
            </a:r>
          </a:p>
        </p:txBody>
      </p:sp>
      <p:sp>
        <p:nvSpPr>
          <p:cNvPr id="25" name="merge-prod">
            <a:extLst xmlns:a="http://schemas.openxmlformats.org/drawingml/2006/main">
              <a:ext uri="{FF2B5EF4-FFF2-40B4-BE49-F238E27FC236}">
                <a16:creationId xmlns:a16="http://schemas.microsoft.com/office/drawing/2014/main" id="{83C9C14F-5530-4493-A5D4-55A4CD77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52875"/>
            <a:ext cx="5524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26" name="prod-ci-box">
            <a:extLst xmlns:a="http://schemas.openxmlformats.org/drawingml/2006/main">
              <a:ext uri="{FF2B5EF4-FFF2-40B4-BE49-F238E27FC236}">
                <a16:creationId xmlns:a16="http://schemas.microsoft.com/office/drawing/2014/main" id="{CD6591CC-8B24-4701-BD4F-C29C13E5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19475"/>
            <a:ext cx="196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7" name="prod-ci-label">
            <a:extLst xmlns:a="http://schemas.openxmlformats.org/drawingml/2006/main">
              <a:ext uri="{FF2B5EF4-FFF2-40B4-BE49-F238E27FC236}">
                <a16:creationId xmlns:a16="http://schemas.microsoft.com/office/drawing/2014/main" id="{3B943118-51EE-4F8C-911B-23B7C3F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Production CI</a:t>
            </a:r>
          </a:p>
        </p:txBody>
      </p:sp>
      <p:sp>
        <p:nvSpPr>
          <p:cNvPr id="28" name="prod-ci-subtitle">
            <a:extLst xmlns:a="http://schemas.openxmlformats.org/drawingml/2006/main">
              <a:ext uri="{FF2B5EF4-FFF2-40B4-BE49-F238E27FC236}">
                <a16:creationId xmlns:a16="http://schemas.microsoft.com/office/drawing/2014/main" id="{12F0031A-26CB-401F-ABCA-B344433E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governed result</a:t>
            </a:r>
          </a:p>
        </p:txBody>
      </p:sp>
      <p:sp>
        <p:nvSpPr>
          <p:cNvPr id="29" name="authority-box">
            <a:extLst xmlns:a="http://schemas.openxmlformats.org/drawingml/2006/main">
              <a:ext uri="{FF2B5EF4-FFF2-40B4-BE49-F238E27FC236}">
                <a16:creationId xmlns:a16="http://schemas.microsoft.com/office/drawing/2014/main" id="{D2EDA12C-039B-46BF-B60B-FE879A0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5219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30" name="authority-text">
            <a:extLst xmlns:a="http://schemas.openxmlformats.org/drawingml/2006/main">
              <a:ext uri="{FF2B5EF4-FFF2-40B4-BE49-F238E27FC236}">
                <a16:creationId xmlns:a16="http://schemas.microsoft.com/office/drawing/2014/main" id="{F5024D0B-9779-4E45-8556-E5C6052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Automation: request • intended identity • completion • handoff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Discovery: current hardware • software • runtime facts</a:t>
            </a:r>
          </a:p>
        </p:txBody>
      </p:sp>
      <p:sp>
        <p:nvSpPr>
          <p:cNvPr id="31" name="cmdb-source">
            <a:extLst xmlns:a="http://schemas.openxmlformats.org/drawingml/2006/main">
              <a:ext uri="{FF2B5EF4-FFF2-40B4-BE49-F238E27FC236}">
                <a16:creationId xmlns:a16="http://schemas.microsoft.com/office/drawing/2014/main" id="{5B4D128A-C443-4715-BADA-7F745C7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57184"/>
                </a:solidFill>
              </a:defRPr>
            </a:pPr>
            <a:r>
              <a:rPr sz="1050" b="0" i="0">
                <a:solidFill>
                  <a:srgbClr val="657184"/>
                </a:solidFill>
              </a:rPr>
              <a:t>Source basis: BMC Helix CMDB dataset, identification, and reconciliation guidance.</a:t>
            </a:r>
          </a:p>
        </p:txBody>
      </p:sp>
    </p:spTree>
    <p:extLst>
      <p:ext uri="{BB962C8B-B14F-4D97-AF65-F5344CB8AC3E}">
        <p14:creationId xmlns:p14="http://schemas.microsoft.com/office/powerpoint/2010/main" val="1737756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blue">
            <a:extLst xmlns:a="http://schemas.openxmlformats.org/drawingml/2006/main">
              <a:ext uri="{FF2B5EF4-FFF2-40B4-BE49-F238E27FC236}">
                <a16:creationId xmlns:a16="http://schemas.microsoft.com/office/drawing/2014/main" id="{643C00A9-9877-410F-986F-CCF0D55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D9FC1CF-4378-481C-8123-B8AC4F52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7FD7A7FA-DF95-4D03-8E22-99BD5F14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9602CDE-E4CE-44E7-B1BF-8771983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POC ACCEPTANCE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661B1C-D723-4C9A-A915-35228F2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Prove failure behavior before optimizing throughput.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DEE27EF-0538-4952-9420-730ACCF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A deterministic harness should make the inventory boundary safe to adopt.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C741805-91AB-4819-91C3-26D8C355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014DA93-41E5-4E95-A7D4-D690D988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 • ENGINEERING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B56D0B-1443-4002-9445-DDA350C8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10</a:t>
            </a:r>
          </a:p>
        </p:txBody>
      </p:sp>
      <p:sp>
        <p:nvSpPr>
          <p:cNvPr id="10" name="test-0-box">
            <a:extLst xmlns:a="http://schemas.openxmlformats.org/drawingml/2006/main">
              <a:ext uri="{FF2B5EF4-FFF2-40B4-BE49-F238E27FC236}">
                <a16:creationId xmlns:a16="http://schemas.microsoft.com/office/drawing/2014/main" id="{B4AC569B-CC44-4F68-A2D4-45629C64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429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1" name="test-0-accent">
            <a:extLst xmlns:a="http://schemas.openxmlformats.org/drawingml/2006/main">
              <a:ext uri="{FF2B5EF4-FFF2-40B4-BE49-F238E27FC236}">
                <a16:creationId xmlns:a16="http://schemas.microsoft.com/office/drawing/2014/main" id="{50297383-5981-4E8E-9C62-E836462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12" name="test-0-title">
            <a:extLst xmlns:a="http://schemas.openxmlformats.org/drawingml/2006/main">
              <a:ext uri="{FF2B5EF4-FFF2-40B4-BE49-F238E27FC236}">
                <a16:creationId xmlns:a16="http://schemas.microsoft.com/office/drawing/2014/main" id="{AF2EF3FA-BC12-4798-883F-4544A1D0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Duplicate delivery</a:t>
            </a:r>
          </a:p>
        </p:txBody>
      </p:sp>
      <p:sp>
        <p:nvSpPr>
          <p:cNvPr id="13" name="test-0-body">
            <a:extLst xmlns:a="http://schemas.openxmlformats.org/drawingml/2006/main">
              <a:ext uri="{FF2B5EF4-FFF2-40B4-BE49-F238E27FC236}">
                <a16:creationId xmlns:a16="http://schemas.microsoft.com/office/drawing/2014/main" id="{C6F90712-E12B-4298-8CCF-45B35C6C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No republish; existing ingestion acknowledged.</a:t>
            </a:r>
          </a:p>
        </p:txBody>
      </p:sp>
      <p:sp>
        <p:nvSpPr>
          <p:cNvPr id="14" name="test-1-box">
            <a:extLst xmlns:a="http://schemas.openxmlformats.org/drawingml/2006/main">
              <a:ext uri="{FF2B5EF4-FFF2-40B4-BE49-F238E27FC236}">
                <a16:creationId xmlns:a16="http://schemas.microsoft.com/office/drawing/2014/main" id="{9FF739C4-39A7-445B-AF55-4A102E33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429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5" name="test-1-accent">
            <a:extLst xmlns:a="http://schemas.openxmlformats.org/drawingml/2006/main">
              <a:ext uri="{FF2B5EF4-FFF2-40B4-BE49-F238E27FC236}">
                <a16:creationId xmlns:a16="http://schemas.microsoft.com/office/drawing/2014/main" id="{177A9AFC-502C-4960-852A-7B3A6C3F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16" name="test-1-title">
            <a:extLst xmlns:a="http://schemas.openxmlformats.org/drawingml/2006/main">
              <a:ext uri="{FF2B5EF4-FFF2-40B4-BE49-F238E27FC236}">
                <a16:creationId xmlns:a16="http://schemas.microsoft.com/office/drawing/2014/main" id="{95B04C40-AE19-4DF5-B2E8-9B95DFBF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Partial transfer</a:t>
            </a:r>
          </a:p>
        </p:txBody>
      </p:sp>
      <p:sp>
        <p:nvSpPr>
          <p:cNvPr id="17" name="test-1-body">
            <a:extLst xmlns:a="http://schemas.openxmlformats.org/drawingml/2006/main">
              <a:ext uri="{FF2B5EF4-FFF2-40B4-BE49-F238E27FC236}">
                <a16:creationId xmlns:a16="http://schemas.microsoft.com/office/drawing/2014/main" id="{DFF41AF5-06A7-46E2-842C-A1130F8C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No ingestion until completion is proven.</a:t>
            </a:r>
          </a:p>
        </p:txBody>
      </p:sp>
      <p:sp>
        <p:nvSpPr>
          <p:cNvPr id="18" name="test-2-box">
            <a:extLst xmlns:a="http://schemas.openxmlformats.org/drawingml/2006/main">
              <a:ext uri="{FF2B5EF4-FFF2-40B4-BE49-F238E27FC236}">
                <a16:creationId xmlns:a16="http://schemas.microsoft.com/office/drawing/2014/main" id="{9B21E734-0121-4D41-ABBB-D03C10B9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429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9" name="test-2-accent">
            <a:extLst xmlns:a="http://schemas.openxmlformats.org/drawingml/2006/main">
              <a:ext uri="{FF2B5EF4-FFF2-40B4-BE49-F238E27FC236}">
                <a16:creationId xmlns:a16="http://schemas.microsoft.com/office/drawing/2014/main" id="{079803E0-71FA-4378-A5DC-B8F4108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20" name="test-2-title">
            <a:extLst xmlns:a="http://schemas.openxmlformats.org/drawingml/2006/main">
              <a:ext uri="{FF2B5EF4-FFF2-40B4-BE49-F238E27FC236}">
                <a16:creationId xmlns:a16="http://schemas.microsoft.com/office/drawing/2014/main" id="{05A1A42D-9165-401F-819C-B736460A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Schema change</a:t>
            </a:r>
          </a:p>
        </p:txBody>
      </p:sp>
      <p:sp>
        <p:nvSpPr>
          <p:cNvPr id="21" name="test-2-body">
            <a:extLst xmlns:a="http://schemas.openxmlformats.org/drawingml/2006/main">
              <a:ext uri="{FF2B5EF4-FFF2-40B4-BE49-F238E27FC236}">
                <a16:creationId xmlns:a16="http://schemas.microsoft.com/office/drawing/2014/main" id="{B792F74E-1C92-43A2-AFD5-C3DCB760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Quarantine; keep last-known-good.</a:t>
            </a:r>
          </a:p>
        </p:txBody>
      </p:sp>
      <p:sp>
        <p:nvSpPr>
          <p:cNvPr id="22" name="test-3-box">
            <a:extLst xmlns:a="http://schemas.openxmlformats.org/drawingml/2006/main">
              <a:ext uri="{FF2B5EF4-FFF2-40B4-BE49-F238E27FC236}">
                <a16:creationId xmlns:a16="http://schemas.microsoft.com/office/drawing/2014/main" id="{24173283-013F-4EC8-A5A9-081DA09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429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23" name="test-3-accent">
            <a:extLst xmlns:a="http://schemas.openxmlformats.org/drawingml/2006/main">
              <a:ext uri="{FF2B5EF4-FFF2-40B4-BE49-F238E27FC236}">
                <a16:creationId xmlns:a16="http://schemas.microsoft.com/office/drawing/2014/main" id="{3DBC96CF-C892-42FA-9607-BEC2A79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24" name="test-3-title">
            <a:extLst xmlns:a="http://schemas.openxmlformats.org/drawingml/2006/main">
              <a:ext uri="{FF2B5EF4-FFF2-40B4-BE49-F238E27FC236}">
                <a16:creationId xmlns:a16="http://schemas.microsoft.com/office/drawing/2014/main" id="{5772A311-7F6C-4D96-B6BA-5F70C272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Stale report</a:t>
            </a:r>
          </a:p>
        </p:txBody>
      </p:sp>
      <p:sp>
        <p:nvSpPr>
          <p:cNvPr id="25" name="test-3-body">
            <a:extLst xmlns:a="http://schemas.openxmlformats.org/drawingml/2006/main">
              <a:ext uri="{FF2B5EF4-FFF2-40B4-BE49-F238E27FC236}">
                <a16:creationId xmlns:a16="http://schemas.microsoft.com/office/drawing/2014/main" id="{AB715D69-5B56-4083-88C0-1C2EB247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Stop dependent jobs or require exception.</a:t>
            </a:r>
          </a:p>
        </p:txBody>
      </p:sp>
      <p:sp>
        <p:nvSpPr>
          <p:cNvPr id="26" name="test-4-box">
            <a:extLst xmlns:a="http://schemas.openxmlformats.org/drawingml/2006/main">
              <a:ext uri="{FF2B5EF4-FFF2-40B4-BE49-F238E27FC236}">
                <a16:creationId xmlns:a16="http://schemas.microsoft.com/office/drawing/2014/main" id="{0C54CD35-5A75-4074-8541-A858CF5D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3429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27" name="test-4-accent">
            <a:extLst xmlns:a="http://schemas.openxmlformats.org/drawingml/2006/main">
              <a:ext uri="{FF2B5EF4-FFF2-40B4-BE49-F238E27FC236}">
                <a16:creationId xmlns:a16="http://schemas.microsoft.com/office/drawing/2014/main" id="{08652B75-B596-4020-B38C-21BBDF6D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solidFill>
              <a:srgbClr val="F45B69"/>
            </a:solidFill>
            <a:prstDash val="solid"/>
          </a:ln>
        </p:spPr>
      </p:sp>
      <p:sp>
        <p:nvSpPr>
          <p:cNvPr id="28" name="test-4-title">
            <a:extLst xmlns:a="http://schemas.openxmlformats.org/drawingml/2006/main">
              <a:ext uri="{FF2B5EF4-FFF2-40B4-BE49-F238E27FC236}">
                <a16:creationId xmlns:a16="http://schemas.microsoft.com/office/drawing/2014/main" id="{470FEDA8-818E-491C-AE5A-048D5B8D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767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Identity collision</a:t>
            </a:r>
          </a:p>
        </p:txBody>
      </p:sp>
      <p:sp>
        <p:nvSpPr>
          <p:cNvPr id="29" name="test-4-body">
            <a:extLst xmlns:a="http://schemas.openxmlformats.org/drawingml/2006/main">
              <a:ext uri="{FF2B5EF4-FFF2-40B4-BE49-F238E27FC236}">
                <a16:creationId xmlns:a16="http://schemas.microsoft.com/office/drawing/2014/main" id="{EEF45B25-39E1-4053-BFAF-D73DE57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339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Reject affected records; publish counts.</a:t>
            </a:r>
          </a:p>
        </p:txBody>
      </p:sp>
      <p:sp>
        <p:nvSpPr>
          <p:cNvPr id="30" name="test-5-box">
            <a:extLst xmlns:a="http://schemas.openxmlformats.org/drawingml/2006/main">
              <a:ext uri="{FF2B5EF4-FFF2-40B4-BE49-F238E27FC236}">
                <a16:creationId xmlns:a16="http://schemas.microsoft.com/office/drawing/2014/main" id="{01EDB569-65BB-44E0-8078-F6B443C7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429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31" name="test-5-accent">
            <a:extLst xmlns:a="http://schemas.openxmlformats.org/drawingml/2006/main">
              <a:ext uri="{FF2B5EF4-FFF2-40B4-BE49-F238E27FC236}">
                <a16:creationId xmlns:a16="http://schemas.microsoft.com/office/drawing/2014/main" id="{C913D8AA-7AFF-4B06-AA9E-44B7E670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solidFill>
              <a:srgbClr val="F45B69"/>
            </a:solidFill>
            <a:prstDash val="solid"/>
          </a:ln>
        </p:spPr>
      </p:sp>
      <p:sp>
        <p:nvSpPr>
          <p:cNvPr id="32" name="test-5-title">
            <a:extLst xmlns:a="http://schemas.openxmlformats.org/drawingml/2006/main">
              <a:ext uri="{FF2B5EF4-FFF2-40B4-BE49-F238E27FC236}">
                <a16:creationId xmlns:a16="http://schemas.microsoft.com/office/drawing/2014/main" id="{8000E530-0DCC-4212-9B0A-31585C7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AAP sync failure</a:t>
            </a:r>
          </a:p>
        </p:txBody>
      </p:sp>
      <p:sp>
        <p:nvSpPr>
          <p:cNvPr id="33" name="test-5-body">
            <a:extLst xmlns:a="http://schemas.openxmlformats.org/drawingml/2006/main">
              <a:ext uri="{FF2B5EF4-FFF2-40B4-BE49-F238E27FC236}">
                <a16:creationId xmlns:a16="http://schemas.microsoft.com/office/drawing/2014/main" id="{38C07195-65D4-4DB4-B182-E6CE486E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Do not run work that assumes fresh membership.</a:t>
            </a:r>
          </a:p>
        </p:txBody>
      </p:sp>
      <p:sp>
        <p:nvSpPr>
          <p:cNvPr id="34" name="poc-next">
            <a:extLst xmlns:a="http://schemas.openxmlformats.org/drawingml/2006/main">
              <a:ext uri="{FF2B5EF4-FFF2-40B4-BE49-F238E27FC236}">
                <a16:creationId xmlns:a16="http://schemas.microsoft.com/office/drawing/2014/main" id="{4400B677-67D7-4A8A-AB52-A96BA555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38800"/>
            <a:ext cx="7315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B2A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35" name="poc-next-text">
            <a:extLst xmlns:a="http://schemas.openxmlformats.org/drawingml/2006/main">
              <a:ext uri="{FF2B5EF4-FFF2-40B4-BE49-F238E27FC236}">
                <a16:creationId xmlns:a16="http://schemas.microsoft.com/office/drawing/2014/main" id="{188F7385-FFFC-47E3-B103-B3D0C02A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53100"/>
            <a:ext cx="701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7F9FC"/>
                </a:solidFill>
              </a:defRPr>
            </a:pPr>
            <a:r>
              <a:rPr sz="1425" b="1" i="0">
                <a:solidFill>
                  <a:srgbClr val="F7F9FC"/>
                </a:solidFill>
              </a:rPr>
              <a:t>Next: synthetic CSV → local object store → validated AAP inventory projection.</a:t>
            </a:r>
          </a:p>
        </p:txBody>
      </p:sp>
    </p:spTree>
    <p:extLst>
      <p:ext uri="{BB962C8B-B14F-4D97-AF65-F5344CB8AC3E}">
        <p14:creationId xmlns:p14="http://schemas.microsoft.com/office/powerpoint/2010/main" val="2111069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2026-07-18T13:35:09.5350000Z</dcterms:created>
  <dcterms:modified xsi:type="dcterms:W3CDTF">2026-07-18T13:35:09.5350000Z</dcterms:modified>
</coreProperties>
</file>