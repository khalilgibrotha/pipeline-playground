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644bfd6284db3" /><Relationship Type="http://schemas.openxmlformats.org/officeDocument/2006/relationships/extended-properties" Target="/docProps/app.xml" Id="R6a636fc7aab74b6c" /><Relationship Type="http://schemas.openxmlformats.org/officeDocument/2006/relationships/officeDocument" Target="/ppt/presentation.xml" Id="R98e67c2d0c4b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39834b1a504497"/>
  </p:sldMasterIdLst>
  <p:notesMasterIdLst>
    <p:notesMasterId xmlns:r="http://schemas.openxmlformats.org/officeDocument/2006/relationships" r:id="Ra905ceea304b4fc0"/>
  </p:notesMasterIdLst>
  <p:sldIdLst>
    <p:sldId xmlns:r="http://schemas.openxmlformats.org/officeDocument/2006/relationships" id="256" r:id="R7d4e648094b54149"/>
    <p:sldId xmlns:r="http://schemas.openxmlformats.org/officeDocument/2006/relationships" id="257" r:id="R4e614602eaec47f9"/>
    <p:sldId xmlns:r="http://schemas.openxmlformats.org/officeDocument/2006/relationships" id="258" r:id="R6dc4607387284d92"/>
    <p:sldId xmlns:r="http://schemas.openxmlformats.org/officeDocument/2006/relationships" id="259" r:id="Red48cc0bf63c4d9b"/>
    <p:sldId xmlns:r="http://schemas.openxmlformats.org/officeDocument/2006/relationships" id="260" r:id="R711aa253044d47c8"/>
    <p:sldId xmlns:r="http://schemas.openxmlformats.org/officeDocument/2006/relationships" id="261" r:id="R94dc47a34a384070"/>
    <p:sldId xmlns:r="http://schemas.openxmlformats.org/officeDocument/2006/relationships" id="262" r:id="Rba8609ff57b34ebc"/>
    <p:sldId xmlns:r="http://schemas.openxmlformats.org/officeDocument/2006/relationships" id="263" r:id="R231684f988e24d02"/>
    <p:sldId xmlns:r="http://schemas.openxmlformats.org/officeDocument/2006/relationships" id="264" r:id="Rc4709df55f5841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6f510d6cd4c01" /><Relationship Type="http://schemas.openxmlformats.org/officeDocument/2006/relationships/slideMaster" Target="/ppt/slideMasters/slideMaster1.xml" Id="Rf939834b1a504497" /><Relationship Type="http://schemas.openxmlformats.org/officeDocument/2006/relationships/notesMaster" Target="/ppt/notesMasters/notesMaster1.xml" Id="Ra905ceea304b4fc0" /><Relationship Type="http://schemas.openxmlformats.org/officeDocument/2006/relationships/presProps" Target="/ppt/presProps.xml" Id="R435de7d0e3364730" /><Relationship Type="http://schemas.openxmlformats.org/officeDocument/2006/relationships/tableStyles" Target="/ppt/tableStyles.xml" Id="R39d6007a1a2542f0" /><Relationship Type="http://schemas.openxmlformats.org/officeDocument/2006/relationships/slide" Target="/ppt/slides/slide1.xml" Id="R7d4e648094b54149" /><Relationship Type="http://schemas.openxmlformats.org/officeDocument/2006/relationships/slide" Target="/ppt/slides/slide2.xml" Id="R4e614602eaec47f9" /><Relationship Type="http://schemas.openxmlformats.org/officeDocument/2006/relationships/slide" Target="/ppt/slides/slide3.xml" Id="R6dc4607387284d92" /><Relationship Type="http://schemas.openxmlformats.org/officeDocument/2006/relationships/slide" Target="/ppt/slides/slide4.xml" Id="Red48cc0bf63c4d9b" /><Relationship Type="http://schemas.openxmlformats.org/officeDocument/2006/relationships/slide" Target="/ppt/slides/slide5.xml" Id="R711aa253044d47c8" /><Relationship Type="http://schemas.openxmlformats.org/officeDocument/2006/relationships/slide" Target="/ppt/slides/slide6.xml" Id="R94dc47a34a384070" /><Relationship Type="http://schemas.openxmlformats.org/officeDocument/2006/relationships/slide" Target="/ppt/slides/slide7.xml" Id="Rba8609ff57b34ebc" /><Relationship Type="http://schemas.openxmlformats.org/officeDocument/2006/relationships/slide" Target="/ppt/slides/slide8.xml" Id="R231684f988e24d02" /><Relationship Type="http://schemas.openxmlformats.org/officeDocument/2006/relationships/slide" Target="/ppt/slides/slide9.xml" Id="Rc4709df55f58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2a265edaf545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e4d6361c0d4929" /><Relationship Type="http://schemas.openxmlformats.org/officeDocument/2006/relationships/notesMaster" Target="/ppt/notesMasters/notesMaster1.xml" Id="R282aa0bd620d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7983c48434b57" /><Relationship Type="http://schemas.openxmlformats.org/officeDocument/2006/relationships/notesMaster" Target="/ppt/notesMasters/notesMaster1.xml" Id="Re06c3564f489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04396360ad4ffb" /><Relationship Type="http://schemas.openxmlformats.org/officeDocument/2006/relationships/notesMaster" Target="/ppt/notesMasters/notesMaster1.xml" Id="R9e99ee163d3f46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1b30395fe4b50" /><Relationship Type="http://schemas.openxmlformats.org/officeDocument/2006/relationships/notesMaster" Target="/ppt/notesMasters/notesMaster1.xml" Id="R45704744ec5c43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383890ce8b441a" /><Relationship Type="http://schemas.openxmlformats.org/officeDocument/2006/relationships/notesMaster" Target="/ppt/notesMasters/notesMaster1.xml" Id="R0337a853f2dd4a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1213142e7d462d" /><Relationship Type="http://schemas.openxmlformats.org/officeDocument/2006/relationships/notesMaster" Target="/ppt/notesMasters/notesMaster1.xml" Id="R4afbd390f90a42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71bfe64a9d4a36" /><Relationship Type="http://schemas.openxmlformats.org/officeDocument/2006/relationships/notesMaster" Target="/ppt/notesMasters/notesMaster1.xml" Id="Rdcc6397dcc9640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c483f6c0de497c" /><Relationship Type="http://schemas.openxmlformats.org/officeDocument/2006/relationships/notesMaster" Target="/ppt/notesMasters/notesMaster1.xml" Id="R888a73ff8ac048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52cb3ea70f4656" /><Relationship Type="http://schemas.openxmlformats.org/officeDocument/2006/relationships/notesMaster" Target="/ppt/notesMasters/notesMaster1.xml" Id="R7a5666bf1b57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4a45bb3e5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e4734de31c4e81" /><Relationship Type="http://schemas.openxmlformats.org/officeDocument/2006/relationships/slideLayout" Target="/ppt/slideLayouts/slideLayout1.xml" Id="Rf99e51935141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9e51935141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2724142954631" /><Relationship Type="http://schemas.openxmlformats.org/officeDocument/2006/relationships/notesSlide" Target="/ppt/notesSlides/notesSlide1.xml" Id="Ra846451e5e0041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36cada8634c0f" /><Relationship Type="http://schemas.openxmlformats.org/officeDocument/2006/relationships/notesSlide" Target="/ppt/notesSlides/notesSlide2.xml" Id="Rb2c7895339db48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061460d7d4549" /><Relationship Type="http://schemas.openxmlformats.org/officeDocument/2006/relationships/notesSlide" Target="/ppt/notesSlides/notesSlide3.xml" Id="R02e6c85caa9d41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a31341c1a4ec4" /><Relationship Type="http://schemas.openxmlformats.org/officeDocument/2006/relationships/notesSlide" Target="/ppt/notesSlides/notesSlide4.xml" Id="Rf22ac6bbf6c74b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ce36d0784bca" /><Relationship Type="http://schemas.openxmlformats.org/officeDocument/2006/relationships/notesSlide" Target="/ppt/notesSlides/notesSlide5.xml" Id="R83056287081f43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4afb116ac40ef" /><Relationship Type="http://schemas.openxmlformats.org/officeDocument/2006/relationships/notesSlide" Target="/ppt/notesSlides/notesSlide6.xml" Id="R40f608704ff443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9a1fd44454266" /><Relationship Type="http://schemas.openxmlformats.org/officeDocument/2006/relationships/notesSlide" Target="/ppt/notesSlides/notesSlide7.xml" Id="R1a7d8e68b3a743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014899c334f2e" /><Relationship Type="http://schemas.openxmlformats.org/officeDocument/2006/relationships/notesSlide" Target="/ppt/notesSlides/notesSlide8.xml" Id="R1ddf1148ce2a44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f1aeb6cb54d17" /><Relationship Type="http://schemas.openxmlformats.org/officeDocument/2006/relationships/notesSlide" Target="/ppt/notesSlides/notesSlide9.xml" Id="R6fa6223713664b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3ECD2-BA74-4BEE-BAD6-9ED5224D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671A0-E521-44BD-A389-4A0838C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8BF82-7149-4D1F-9713-C8BCC8E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SERVER BUILD AUTOMATION MODERNIZATION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91D25-9173-4799-8499-120427C2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Engineering</a:t>
            </a:r>
          </a:p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C98B3-7A37-42E1-B53E-CAAE4A1C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3C0"/>
                </a:solidFill>
              </a:defRPr>
            </a:pPr>
            <a:r>
              <a:rPr sz="1725" b="0">
                <a:solidFill>
                  <a:srgbClr val="AAB3C0"/>
                </a:solidFill>
              </a:rPr>
              <a:t>Contracts, manifests, Ansible roles, AAP workflow boundaries, and local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912C9-2313-48B0-880B-0B82239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3333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CB054-9676-47A4-8503-C5C503AB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42AD0-0184-43C7-A668-97F795A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WALKTHROUGH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26257-B863-4A49-8CCC-889AF21B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195CA-BCFC-4CF9-B0D9-FC608DB3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897EC-C3AF-491D-99AA-D7CE4AC4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21C31-F975-4530-80C2-9476069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contract + mappings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9F708-E002-4E1A-BCC0-C6B4453B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B2234-A4EB-477D-B4DA-862D85C2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 revisions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83199-C7F4-469C-BFBF-F5D578DC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31B54-E4DD-4502-8D39-3FC6E601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readiness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CD341-8EEA-4199-9427-BAACBC4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00"/>
                </a:solidFill>
              </a:defRPr>
            </a:pPr>
            <a:r>
              <a:rPr sz="900" b="1">
                <a:solidFill>
                  <a:srgbClr val="FF7A00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DA4BD-C75A-438C-857F-C475E197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Molecule + Podman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C6954-DCE2-4029-8081-315D151D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0F158-552C-4A69-BA81-34B0CE6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AAP promotion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56E03-6D3E-4CF5-940B-AECE4BE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ENGINEERING BRIEF</a:t>
            </a:r>
          </a:p>
        </p:txBody>
      </p:sp>
    </p:spTree>
    <p:extLst>
      <p:ext uri="{BB962C8B-B14F-4D97-AF65-F5344CB8AC3E}">
        <p14:creationId xmlns:p14="http://schemas.microsoft.com/office/powerpoint/2010/main" val="1390538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2DAE1-A090-4F5F-8FE1-3766616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50A1-78F6-4E57-99C8-B513C6F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REPOSITORY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9EACB-BF4C-4839-B3E4-75A6B69E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A2D79-1B9C-4C0A-8976-B338652D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D142E-8ACD-46AA-A767-F978A94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Four layers, explicit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4E460-DE99-4957-A864-36B7C70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151DD-8A13-4118-9A09-7350C4B4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Most of the POC is provider-neutral; unavailable systems stay behind adapters.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83701-1BBD-424D-8814-92FEF115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9810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757BD-E08E-45C8-A796-14223220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CONTRACT CATALOG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38983-2922-48EE-8FEE-3C8374F7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schemas • ownership • mappings •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45264-A293-4DAF-A20D-7D29C870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93535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39A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7927D-F92A-469C-B623-8709962B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LIFECYCLE 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F9C3C-8C40-4926-9659-782049B7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create • assess • update • generate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03D54-934D-41B3-ADA1-00EBB02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88963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4FD1A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E06C0-E875-4A22-91C4-CC2FDE6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D1A1"/>
                </a:solidFill>
              </a:defRPr>
            </a:pPr>
            <a:r>
              <a:rPr sz="1125" b="1">
                <a:solidFill>
                  <a:srgbClr val="4FD1A1"/>
                </a:solidFill>
              </a:rPr>
              <a:t>PROVIDER ADAPTERS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C5011-146F-4FAF-88DF-EFE6D611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VMware • Infoblox • S3 • CMDB discovery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ABF70-790F-46EF-B06D-6AAC559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38700"/>
            <a:ext cx="84391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7A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61CB8-F398-484F-9DC5-700C8C15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72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RUNTIME +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26B5A-F960-4668-B2CB-949CEE0C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execution environment • Molecule • events •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207F7-DDB1-4D42-9DB7-B8C788A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Common lifecycle above; platform-specific implementation below.</a:t>
            </a:r>
          </a:p>
        </p:txBody>
      </p:sp>
    </p:spTree>
    <p:extLst>
      <p:ext uri="{BB962C8B-B14F-4D97-AF65-F5344CB8AC3E}">
        <p14:creationId xmlns:p14="http://schemas.microsoft.com/office/powerpoint/2010/main" val="1289474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9B0D0-0C1B-40A2-9698-C07153E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E9D6F-709B-41F2-8AC6-83DE0712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ARTIFACT CREATION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E2DD4-5CA7-47C7-8A7D-EF5EC354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81D96-658F-4CA1-85F6-96DD369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E0A4E-AEE1-4573-B690-2CBAB69A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Approved event → manifest revision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7ADF7-4E3C-4EE6-8C33-65C84AB9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71EC0-0AF4-4133-82D1-6F86D7BB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Creation requires only enough data to establish identity and provenance.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5F417-8C45-415A-910C-2934B583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571750" cy="19431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C472E-6FA1-4A2B-BF4D-7AA728D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1943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89324-16EB-4DD9-A008-E3A155F0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824B3-BDC2-44BD-96A4-E0279FF2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209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request_id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approval reference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platform profile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supplied 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161C7-59F4-4E97-81B1-5BD5F4F9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667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D6651-B4CA-4D14-A074-E2B49728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66675" cy="11430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623E2-FD4B-4B0D-84E0-53C09AD8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manifest_create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84F80-8189-4D50-A30A-BC937FE7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814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Validate • map • write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986BF-A42C-4DB5-A5A1-EDAAE040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2571750" cy="194310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71EF0-DE76-4227-A8CD-E767180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66675" cy="1943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96001-43FC-40A8-B12A-3BBA77C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MANIFEST / REV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A4646-D39E-4C4C-AFA3-360698B6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2209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approved intent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provenance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current phase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known blockers</a:t>
            </a:r>
          </a:p>
        </p:txBody>
      </p: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57550" y="36766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29500" y="367665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7B9AF-65DA-4CD0-A8D2-E6F402F2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AB3C0"/>
                </a:solidFill>
              </a:defRPr>
            </a:pPr>
            <a:r>
              <a:rPr sz="1050" b="1">
                <a:solidFill>
                  <a:srgbClr val="AAB3C0"/>
                </a:solidFill>
              </a:rPr>
              <a:t>contract.yaml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0A836-811A-4750-B0F9-2264783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AB3C0"/>
                </a:solidFill>
              </a:defRPr>
            </a:pPr>
            <a:r>
              <a:rPr sz="1050" b="1">
                <a:solidFill>
                  <a:srgbClr val="AAB3C0"/>
                </a:solidFill>
              </a:rPr>
              <a:t>mappings.yaml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A911E-1C7E-422C-9502-CBE8B0C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B559D-D7ED-437C-9F0A-140FE54A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105A1-4BAE-4D17-91B5-F58CD61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7048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CC2CE-6B17-427F-897A-5F591C83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Idempotency key: request ID + approval reference</a:t>
            </a:r>
          </a:p>
        </p:txBody>
      </p:sp>
    </p:spTree>
    <p:extLst>
      <p:ext uri="{BB962C8B-B14F-4D97-AF65-F5344CB8AC3E}">
        <p14:creationId xmlns:p14="http://schemas.microsoft.com/office/powerpoint/2010/main" val="1843323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817D7-1D54-44D7-A6FF-E3DCE38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4C3B9-DE2B-4AC0-951E-C36119E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ECC20-3BDA-4C35-9877-7BEE160C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CD483-597E-4483-B60B-E4A854E8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449F9-E061-4A55-8BFF-A728EF6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One evaluator; phase-specific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3762E-9422-4067-AE4D-6D26361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145CF-2BB7-427A-8C13-8E97EE7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same readiness role reports every missing value and its accountable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1C3C1-8660-44B3-ABD0-33B8085D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53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24F3E-B17A-4F4B-91EF-D363DAA2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F0B2D-59C8-478E-9AB9-3F85A2C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WINDOWS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1C1D3-96B2-4A3D-9182-6191C2C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network_ready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E8F57-C8A1-4D33-A2C5-7079410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gateway</a:t>
            </a:r>
          </a:p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DNS servers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D8C68-E9D4-4DCE-99BC-863A812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owner  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E6D01-B0C8-4E3E-8CE5-93ED2E1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4953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B7ED6-D7CF-48D2-AE73-CEB4A18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4615F-324B-4426-B972-157AB25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LINUX EXAMPLE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47035-E727-4DAD-BB7D-61B31D10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operations_ready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982A7-44BF-45AC-A09F-CC26E1D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support group</a:t>
            </a:r>
          </a:p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monitoring profile</a:t>
            </a:r>
          </a:p>
          <a:p xmlns:a="http://schemas.openxmlformats.org/drawingml/2006/main">
            <a:pPr algn="l">
              <a:defRPr sz="1500" b="0">
                <a:solidFill>
                  <a:srgbClr val="AAB3C0"/>
                </a:solidFill>
              </a:defRPr>
            </a:pPr>
            <a:r>
              <a:rPr sz="1500" b="0">
                <a:solidFill>
                  <a:srgbClr val="AAB3C0"/>
                </a:solidFill>
              </a:rPr>
              <a:t>missing backup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97A6D-F28F-41C2-9ECB-E2F95D27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9FF"/>
                </a:solidFill>
              </a:defRPr>
            </a:pPr>
            <a:r>
              <a:rPr sz="1050" b="1">
                <a:solidFill>
                  <a:srgbClr val="39A9FF"/>
                </a:solidFill>
              </a:rPr>
              <a:t>owner 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8BDA3-0788-472A-AACF-DCBEFD4D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8FA"/>
                </a:solidFill>
              </a:defRPr>
            </a:pPr>
            <a:r>
              <a:rPr sz="1575" b="1">
                <a:solidFill>
                  <a:srgbClr val="F7F8FA"/>
                </a:solidFill>
              </a:rPr>
              <a:t>Blocked is an expected state—not a failed long-running AAP job.</a:t>
            </a:r>
          </a:p>
        </p:txBody>
      </p:sp>
    </p:spTree>
    <p:extLst>
      <p:ext uri="{BB962C8B-B14F-4D97-AF65-F5344CB8AC3E}">
        <p14:creationId xmlns:p14="http://schemas.microsoft.com/office/powerpoint/2010/main" val="1951815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27070-3AF6-485F-B68C-24027F67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3753A-3E18-4F07-8F8B-D837AB3E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LIFECYCLE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C7F13-C8EE-42E8-8A96-838A3294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478EE-9893-471C-8B00-63BFF2E2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84785-C179-4C29-96F4-094CB95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Every transition leaves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966D0-92E4-43BA-8F4B-EC26DC6E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3980A-4F84-4AB9-A560-05245C89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updater protects the current revision and makes replay behavior explicit.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71B7E-0EBF-4A57-A391-B15E3CF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095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0CCB2-C7BB-4F88-BC6B-ECABA1C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3CE12-B331-438E-81FE-7826928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REVISION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82AB7-DD5D-42AC-9969-6C5585BE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phase: network_ready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A6B01-487B-4200-AC49-798C5E8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2381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0CDA-9000-4E9D-AACB-059546A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F75AB-56AF-4186-9058-F6DE44F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lifecycle_update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FE9B6-446B-4028-B3B4-435FC93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expected rev • event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E554A-7C1C-4B14-8609-92D5804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20955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0A7E4-AE7A-4E11-B833-B0E7CDB1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91248-88F4-486F-8E4B-A46A2A7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REVISION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42331-41A8-4CE1-BE0C-18849D55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phase: os_configured</a:t>
            </a:r>
          </a:p>
        </p:txBody>
      </p: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81300" y="34194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34100" y="34194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6F382-86B7-4E76-AD16-7760B41E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8097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06D82-56BA-45AD-8DBE-1BB85B9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66675" cy="10477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8E9F4-1C62-4482-97C6-6081D9A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APPEND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9C2F8-177D-4FB1-A78D-358F661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who • why • when</a:t>
            </a:r>
          </a:p>
        </p:txBody>
      </p: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01150" y="34194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EE0FD-708E-4989-8F69-02748C3C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FF5D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CE716-3B1A-4D83-96CE-4CC2F439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D66"/>
                </a:solidFill>
              </a:defRPr>
            </a:pPr>
            <a:r>
              <a:rPr sz="900" b="1">
                <a:solidFill>
                  <a:srgbClr val="FF5D66"/>
                </a:solidFill>
              </a:rPr>
              <a:t>STALE REVISION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3EF57F-1392-4A18-9542-2A82174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4B7B7-0A8B-497B-AEDD-0C5D89D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39A9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9022F-21BF-4A04-95F5-736F917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9FF"/>
                </a:solidFill>
              </a:defRPr>
            </a:pPr>
            <a:r>
              <a:rPr sz="900" b="1">
                <a:solidFill>
                  <a:srgbClr val="39A9FF"/>
                </a:solidFill>
              </a:rPr>
              <a:t>REPLAYED 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C5A36-40EF-492F-82DE-1E223D3F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no change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D627C-166D-4904-95FC-46898D7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47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4FD1A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72635-CC8A-413C-BAF6-EF36D51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D1A1"/>
                </a:solidFill>
              </a:defRPr>
            </a:pPr>
            <a:r>
              <a:rPr sz="900" b="1">
                <a:solidFill>
                  <a:srgbClr val="4FD1A1"/>
                </a:solidFill>
              </a:rPr>
              <a:t>VALID UPDATE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DB9D47-080E-4F35-864A-211A861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new revision</a:t>
            </a:r>
          </a:p>
        </p:txBody>
      </p:sp>
    </p:spTree>
    <p:extLst>
      <p:ext uri="{BB962C8B-B14F-4D97-AF65-F5344CB8AC3E}">
        <p14:creationId xmlns:p14="http://schemas.microsoft.com/office/powerpoint/2010/main" val="1395650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6DCDF7-737F-4EF8-A7FA-D4F3009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28D3D-4DF4-44BC-8255-15C2D204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AAP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1744B-50BC-4C24-9C45-5D73F27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A8C7A-9ADC-403D-96B2-51ECCDFA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DEF29-87EB-48C1-910E-B8AF2165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Controller coordinates jobs; artifacts carry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8BF00-9125-4C22-9588-C3787087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19036-BBFA-42B4-AD5F-E3C8BCC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Suggested workflow nodes for one build phase.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41E56-D75D-417F-A1EB-5A557C3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9AD70-A516-496F-ABE8-5760B9A0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0A5B2-2928-4786-A69F-981B0D2D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Load manifest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E800F-E349-483A-8000-30DEB76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request ID + expected 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079E2-4CD9-4CF2-934F-0C3C424E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5DA23-1845-45BF-8D07-BBEB9F4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6F8AA-01DC-4C35-B239-F910B8A9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Assess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675FC-0887-4774-A6E0-344C1151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set_stats: ready / 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5DFD4-94C8-421A-9EB2-3C7F3F4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81ECA-742D-41D8-B170-C2F28821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464B2-4B6C-4A4A-BD8B-BA0E9066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Execute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0E105-6AA0-4A92-A30F-FB6BAB24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adapter for current 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6BE24-6757-4468-B564-6C7051A3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1924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CC8AD-D446-44AF-9FE2-BD389489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66675" cy="819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48640-8B00-4DDC-8BB5-E507D46B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Persist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4B1C3-AEF5-4A06-823C-7C27F59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revision + event + evidence</a:t>
            </a:r>
          </a:p>
        </p:txBody>
      </p:sp>
      <p:cxnSp>
        <p:nvCxnSpPr>
          <p:cNvPr id="6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98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9720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34250" y="31146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62AE3-58FB-4F31-9118-3A03242A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19240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B80EA-7030-451A-953D-8F35B453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66675" cy="800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B2EB5-70AE-4346-AD9E-BB324B4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Record 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1CCA5-9B76-4637-8578-8C541CEB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successful, controlled exit</a:t>
            </a:r>
          </a:p>
        </p:txBody>
      </p:sp>
      <p:cxnSp>
        <p:nvCxnSpPr>
          <p:cNvPr id="70" name=""/>
          <p:cNvCxnSpPr>
            <a:stCxn xmlns:a="http://schemas.openxmlformats.org/drawingml/2006/main" id="1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010025" y="35242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79AC1-A476-4219-80D2-AF24B92E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19240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D9C962-3DF2-4881-A804-805BAA8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66675" cy="8001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0C720-DD79-41BF-89B6-95484AE4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JT  Reconcile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3A6F63-709A-44EA-84A6-9892C567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06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observed state / timeout</a:t>
            </a:r>
          </a:p>
        </p:txBody>
      </p:sp>
      <p:cxnSp>
        <p:nvCxnSpPr>
          <p:cNvPr id="75" name=""/>
          <p:cNvCxnSpPr>
            <a:stCxn xmlns:a="http://schemas.openxmlformats.org/drawingml/2006/main" id="2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34425" y="35242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136D99-64C1-4159-AA9A-18986D76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586"/>
                </a:solidFill>
              </a:defRPr>
            </a:pPr>
            <a:r>
              <a:rPr sz="900" b="1">
                <a:solidFill>
                  <a:srgbClr val="697586"/>
                </a:solidFill>
              </a:rPr>
              <a:t>TRIGGERS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5016E9-A5FD-4B1C-8FCD-378FF5B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9900"/>
            <a:ext cx="114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API launch</a:t>
            </a:r>
          </a:p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EDA webhook</a:t>
            </a:r>
          </a:p>
          <a:p xmlns:a="http://schemas.openxmlformats.org/drawingml/2006/main">
            <a:pPr algn="l">
              <a:defRPr sz="1200" b="1">
                <a:solidFill>
                  <a:srgbClr val="F7F8FA"/>
                </a:solidFill>
              </a:defRPr>
            </a:pPr>
            <a:r>
              <a:rPr sz="1200" b="1">
                <a:solidFill>
                  <a:srgbClr val="F7F8FA"/>
                </a:solidFill>
              </a:rPr>
              <a:t>schedule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CB0129-53B8-473D-81AE-199EF60F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Use workflow success/failure/always paths for orchestration—not as the system of record.</a:t>
            </a:r>
          </a:p>
        </p:txBody>
      </p:sp>
    </p:spTree>
    <p:extLst>
      <p:ext uri="{BB962C8B-B14F-4D97-AF65-F5344CB8AC3E}">
        <p14:creationId xmlns:p14="http://schemas.microsoft.com/office/powerpoint/2010/main" val="320729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FC44C-94C5-424E-B5A7-6318165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4E8F6-84E9-4708-B2C6-F9DAF71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QUALITY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8AA27-1FE5-48FD-8177-F3D45AE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95557-CB2B-4FC1-8F44-F8BF343B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350C1-7641-479D-9FC1-D95CBFCA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Promote the same content through repeatable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7AB6B-CA25-4665-A039-A025E600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AE92-ADBF-4BD2-A219-06E4136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Execution environments align local, CI, and AAP dependencies.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28637-06BD-467E-A2EA-C035583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2DA00-1A12-4D3E-B884-824ADA2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76CDF-42EE-4074-8AE8-5ECDA53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913A9-4C5D-42B3-91B5-7D967FEA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YAML + fixture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7455E-2736-4437-A8BD-C136669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5012A-5F20-4947-9D83-69D9051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C63E5-40EC-42A3-B242-F172FB9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269A0-C2D0-4A79-8228-B05E1A7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Molecule converge + 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BC146-2461-40D0-9E86-ED987A8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7BE78-2D5D-4E76-BB15-53F7151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FBCD9-2D28-42D5-9EE8-7F250AF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E2B7B-2571-4DC1-A560-8D619F2C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Podman execution environment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911D4-2736-4E5F-A6C6-FB5E46F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24A9C-5F15-4845-9A58-EFDA21CB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128A1-74C9-4137-89DD-DC5B9B93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19287-981B-404B-B8CF-A73083C1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same checks on every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E8ACE-8CFF-453B-A64D-CCAC889B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752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03145-B1D4-484C-ADCE-30B680F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DBB66-31B7-4A8E-A8E3-7C3DC2A9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F0CD4-7E6B-45A6-9BF8-2D1A6641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non-production workflow</a:t>
            </a:r>
          </a:p>
        </p:txBody>
      </p: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384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720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056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839200" y="3543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2762B-D1B5-4FBA-8744-13B6FE96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87249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0F6197-0024-4B0A-B9ED-75D704E9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803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Disposable VMware, Windows, and Linux targets remain the next level of integration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401432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8505B-33F3-40DF-97CE-08CC4FFC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B2730-BF5B-4487-BCD1-604372BE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TEST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C9EE6-4FF6-45F2-B9E0-4FC1607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DF93E-9B05-4B80-BFED-D36B8CB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24304-7952-4ABC-977F-92A71B09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POC proves behavior—not a finished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26B2F-B3FB-49C9-AD26-31E4F33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8B27B-EADE-4C11-A20C-41D1BB08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Each layer has a different test responsibility.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99ACC-DBA5-464C-BB07-A1F38E8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A48AE-8DB3-4D97-81DB-B6D2C92A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DF77E-719E-4A46-A9EE-70866D30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Lifecycle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C014-6FD8-438B-9881-FC75B0DF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Playbooks prove manifest creation, blocked-to-ready transitions, stale-revision rejection, and replay safety.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D1EF2-D5CC-4059-B112-F85FDDD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6E522-0C47-4D67-A0A7-87740EF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1E29E-E009-4E02-92D8-25DEE968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Molecule role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E013E-C5A1-4006-9308-FE0DD35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Each role runs in a controlled execution environment, converges, verifies its artifacts, repeats idempotently, and exercises expected failures.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DD02E-4AB6-4391-A532-79ABC126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D120C-170C-4B2E-801B-74EFD43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090D"/>
                </a:solidFill>
              </a:defRPr>
            </a:pPr>
            <a:r>
              <a:rPr sz="1950" b="1">
                <a:solidFill>
                  <a:srgbClr val="07090D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74580-75F7-4351-8FFC-8DA3B656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AAP workflow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99DAD-4EE1-4B28-8A56-C4CBE3A1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Non-production AAP will prove job-template branching, credential boundaries, and phase orchestration.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802BE-E75F-400B-BCA2-7CE1C6C7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00700"/>
            <a:ext cx="9677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853A3-BBF7-458C-8C47-F2C0AD3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34050"/>
            <a:ext cx="906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AB3C0"/>
                </a:solidFill>
              </a:defRPr>
            </a:pPr>
            <a:r>
              <a:rPr sz="1275" b="1">
                <a:solidFill>
                  <a:srgbClr val="AAB3C0"/>
                </a:solidFill>
              </a:rPr>
              <a:t>Molecule does not simulate AAP. It proves a role’s contract before that role is promoted into an AAP workflow.</a:t>
            </a:r>
          </a:p>
        </p:txBody>
      </p:sp>
    </p:spTree>
    <p:extLst>
      <p:ext uri="{BB962C8B-B14F-4D97-AF65-F5344CB8AC3E}">
        <p14:creationId xmlns:p14="http://schemas.microsoft.com/office/powerpoint/2010/main" val="1099255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1BB45-ED3E-4588-9B97-41169E5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D60D9-3D3E-44E8-A798-116F0F8E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NEXT INCREMENT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43E93-1624-42AC-8CC1-45C208DB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A26CD-DB2A-4151-A2AB-07116A6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B906-DCC1-4330-BA82-BA0C1339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Prove durable artifacts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43441-6BB6-4C1F-B8FB-E4D756D0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BA7EF-33C6-43EB-84A5-88C07752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An S3-compatible adapter is the smallest valuable bridge from local semantics to shared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C8BA2-5B11-4433-BD84-BDC3ED8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7845F-B3CB-44E2-AA03-F419BACD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BAC27-5C46-45A0-BD9D-7EF5C72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LOCAL FILE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A4518-D301-4287-8818-9719FBEC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Proven lifecycle semantics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and deterministic key layout.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FA20C-BA13-4C83-89CD-34A4AFA8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76A82-ADD2-4C0D-B198-9F6991F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01FCF-1BF1-4621-B1B0-6E5B5A9F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S3-COMPATIBLE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FBBCC-16BC-4335-AF0F-02C1BA2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Versioning • conditional write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retrieval • retention •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5C319-1F70-4AEF-A5B5-6FDCAEFC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6670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3CE96-A75E-4139-A129-4241453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66675" cy="1295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A88F1-7CCC-41DB-A4CA-FE5515D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NON-PROD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607B6-614F-4E64-84BC-F865CC3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VMware or Infoblox</a:t>
            </a:r>
          </a:p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behind the same interface.</a:t>
            </a:r>
          </a:p>
        </p:txBody>
      </p: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52800" y="35623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29500" y="35623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4A46C-3185-4DB1-B719-5C831889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3A0E2-6C19-46AD-BF58-E931F06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single-writer / concurrency strategy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9DE91-D99E-421D-AFFC-59C8065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5E19C-2F09-4E7B-B389-0D2B646A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certificate and credential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B8C65-1972-4307-965A-75FFF32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B82CD8-4E74-4578-858E-BBC1480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metadata and sensitive-data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FDD76-80AF-48B9-8E00-6D0ADF5A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48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3C942-2DAE-49B5-BA38-816DC9CC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blocked-build query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880202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2026-07-18T03:14:56.0610000Z</dcterms:created>
  <dcterms:modified xsi:type="dcterms:W3CDTF">2026-07-18T03:14:56.0610000Z</dcterms:modified>
</coreProperties>
</file>